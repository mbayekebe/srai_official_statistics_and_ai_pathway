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OS-A03. We will study how professional obligations govern AI-assisted official statistics. The required product is a professional judgement memorandum. As an accountable statistician, you must establish the authority, check evidence, protect confidential information, and decide whether a proposed output may proceed. The opening case concerns a statistical release: even fluent wording cannot replace tested evidence or authorized approval. Public trust depends on the institution being able to explain both its methods and its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The accountable statistician. Distinguish mandate from role and task. A model may flag a value or draft a sentence. The official who signs the release retains responsibility for the source, the check and the correction route. The first visible point states: A tool can perform a task without acquiring institutional authority. The second point adds: Name the official who can review, override and stop release.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Normative architecture. Treat international principles as a foundation and cite the applicable national law or institutional rule when claiming a legal obligation. Record the exact clause and version. The notebook leaves such clauses unverified intentionally. The first visible point states: Use authoritative local law and policy for operative requirements. The second point adds: UN principles and professional ethics inform interpretation.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Ethical reasoning and compliance. First exclude any option that breaks a binding rule. For the remaining options, explain why one offers a proportionate way to serve the statistical purpose, including consequences of delay. The first visible point states: A compliant action may still require a defensible professional choice. The second point adds: Record rules, tensions, evidence and limits of discretion.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Impartiality in purpose and method. Investigate whether the same evidence and method would have produced the same headline under different political or managerial preferences. An estimate can be numerically correct yet framed selectively. The first visible point states: Protect evidence selection and classifications from preferred narratives. The second point adds: Check whose interests or access the framing favors.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Professional independence. Record who requested a change, what they requested and who has authority to resolve it. A publication deadline is a practical constraint, but it does not itself change the statistical evidence. The first visible point states: Management urgency cannot transfer statistical release authority. The second point adds: Document pressure, dissent and escalation to the right role.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Confidentiality and statistical secrecy. A rare location combined with occupation and event can identify a person after names are removed. Follow the protected information through derivation and output, not just the input file. The first visible point states: Information can identify a unit through combinations and context. The second point adds: Classify purpose, access, permitted use and inferential disclosure.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Confidentiality in AI environments. Approval must cover the whole system: input, prompt, model endpoint, retrieval index, logs, backup and human support access. A public service can retain a prompt even when it promises not to train on it. The first visible point states: Inspect prompts, logs, retrieval indexes, retention and support access. The second point adds: Withhold protected data until every path is approved.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Transparency and explainability. Public users need enough information to understand the statistic and its limits. Internal reviewers need a deeper decision trail. Neither audience needs confidential unit records in a public explanation. The first visible point states: Explain sources, revisions, uncertainty and material AI assistance. The second point adds: Protect confidential details while exposing methodological limits.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10. Quality as an obligation. Quality depends on intended use. Check subgroup performance and uncertainty, then account for human verification and repairs before saying automation saved time. A critical quality failure overrides an attractive average. The first visible point states: Specify fitness for use and subgroup tolerances before testing. The second point adds: Net time includes generation, verification and rework.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11. Accountability and oversight. Meaningful oversight means that the reviewer can inspect evidence, reject a recommendation and stop a release. A nominal signature after automation has already acted does not meet that standard. The first visible point states: A human reviewer needs evidence and actual stopping authority. The second point adds: Retain a proportionate decision trail and correction route.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12. Fairness and accessibility. Small groups may have weak performance evidence and face the greatest consequence of error. Report that uncertainty; route difficult cases to expert review while improving the benchmark. The first visible point states: Average performance can conceal consequential group error. The second point adds: Assess representation, access, uncertainty and contestability.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13. Conflicts among obligations. Confidentiality and authority are gates, not quantities traded against convenience. Once they pass, the team can compare a limited pilot, delay, provisional release and redesign under documented residual risk. The first visible point states: Test authority and confidentiality gates before balancing benefits. The second point adds: Compare delay, narrow use and redesign among feasible options.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14. Obligations across the lifecycle. A decision made during questionnaire design can change coverage months later. Track authority and quality as data move through acquisition, collection, processing, analysis and dissemination. The first visible point states: Planning and collection choices shape the final statistical product. The second point adds: Retain evidence through processing, release and correction.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15. Scenario analysis method. Build the case record in order: the decision requested, verified facts, authority, stakeholders, options, gates and consequences. The sequence helps reveal when a persuasive draft skipped a necessary premise. The first visible point states: Start with purpose, authority, facts and affected people. The second point adds: Compare options, mandatory gates and residual consequences.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16. Evidence and obligation ledger. For each material assertion, locate an identifiable source and mark it verified, disputed or missing. A policy placeholder is not a source. A reviewer must be able to reproduce the judgement trail. The first visible point states: Separate verified facts from assumptions and local policy claims. The second point adds: Trace sources, contradictions and reviewer decisions.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17. The AI task specification. Provide only permitted synthetic or approved inputs. Ask the assistant to surface omissions and competing interpretations, while explicitly forbidding invented citations and final approval. The first visible point states: Request issue extraction, counterarguments and draft structure. The second point adds: Exclude protected inputs and forbid invented authority.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18. Adversarial challenge. Challenge every consequential conclusion. In the publication case, compare intervals and inspect the frame break. In the confidential case, test whether the proposed service is actually authorized. The first visible point states: Test persuasive output for omissions, bias and false legal claims. The second point adds: Independent source checks decide what may be retained.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19. The judgement memorandum. The memorandum should make the chosen disposition intelligible to the decision owner. Conditions need owners, deadlines and evidence of completion; an unresolved issue needs a review or escalation route. The first visible point states: Document decision, evidence, options, safeguards and review. The second point adds: The accountable official chooses a disposition and signs.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20. Case one: publication pressure. The change from 12.1 to 12.4 percent is insufficient evidence for a certain deterioration claim when uncertainty overlaps and comparability changed. Stop the draft headline and verify approved wording. The first visible point states: A small quarterly change and frame break cannot support a certain headline. The second point adds: Stop the misleading release and correct the evidence trail.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21. Case two: confidential records. Free-text mortality descriptions may still expose people. Keep them out of an unapproved external service. Develop the instruction with synthetic examples and seek secure processing approval. The first visible point states: Removing names from narratives does not clear external processing. The second point adds: Reject an unapproved upload and test synthetic examples safely.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22. Assessment and workplace transfer. For assessment, learners face a new case with missing authority, competing quality evidence and a persuasive AI draft. Their product is a defended memorandum and a controlled workplace procedure. The first visible point states: Deliver a defended memorandum and controlled reuse procedure. The second point adds: Localize authority, approved tools and incident routes before use. Use this reasoning in the professional judgement memorandum, recording the source and the official responsible for the decision.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r>
              <a:t>Welcome to Professional Obligations</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Public trust depends on legitimate purpose and accountable evidence.</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Fluent output can still misstate the public record.</a:t>
            </a:r>
          </a:p>
        </p:txBody>
      </p:sp>
      <p:sp>
        <p:nvSpPr>
          <p:cNvPr id="6" name="Oval 5"/>
          <p:cNvSpPr/>
          <p:nvPr/>
        </p:nvSpPr>
        <p:spPr>
          <a:xfrm>
            <a:off x="8321040" y="1828800"/>
            <a:ext cx="1600200" cy="1600200"/>
          </a:xfrm>
          <a:prstGeom prst="ellipse">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2350008"/>
            <a:ext cx="1508760" cy="475488"/>
          </a:xfrm>
          <a:prstGeom prst="rect">
            <a:avLst/>
          </a:prstGeom>
          <a:noFill/>
        </p:spPr>
        <p:txBody>
          <a:bodyPr wrap="square">
            <a:spAutoFit/>
          </a:bodyPr>
          <a:lstStyle/>
          <a:p>
            <a:pPr>
              <a:defRPr sz="1400" b="1">
                <a:solidFill>
                  <a:srgbClr val="0A1D33"/>
                </a:solidFill>
                <a:latin typeface="Aptos"/>
              </a:defRPr>
            </a:pPr>
            <a:r>
              <a:t>Authority</a:t>
            </a:r>
          </a:p>
        </p:txBody>
      </p:sp>
      <p:sp>
        <p:nvSpPr>
          <p:cNvPr id="8" name="Oval 7"/>
          <p:cNvSpPr/>
          <p:nvPr/>
        </p:nvSpPr>
        <p:spPr>
          <a:xfrm>
            <a:off x="8915400" y="2788920"/>
            <a:ext cx="1600200" cy="1600200"/>
          </a:xfrm>
          <a:prstGeom prst="ellipse">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3310128"/>
            <a:ext cx="1508760" cy="475488"/>
          </a:xfrm>
          <a:prstGeom prst="rect">
            <a:avLst/>
          </a:prstGeom>
          <a:noFill/>
        </p:spPr>
        <p:txBody>
          <a:bodyPr wrap="square">
            <a:spAutoFit/>
          </a:bodyPr>
          <a:lstStyle/>
          <a:p>
            <a:pPr>
              <a:defRPr sz="1400" b="1">
                <a:solidFill>
                  <a:srgbClr val="0A1D33"/>
                </a:solidFill>
                <a:latin typeface="Aptos"/>
              </a:defRPr>
            </a:pPr>
            <a:r>
              <a:t>Evidence</a:t>
            </a:r>
          </a:p>
        </p:txBody>
      </p:sp>
      <p:sp>
        <p:nvSpPr>
          <p:cNvPr id="10" name="Oval 9"/>
          <p:cNvSpPr/>
          <p:nvPr/>
        </p:nvSpPr>
        <p:spPr>
          <a:xfrm>
            <a:off x="9509760" y="3749039"/>
            <a:ext cx="1600200" cy="1600200"/>
          </a:xfrm>
          <a:prstGeom prst="ellipse">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55480" y="4270248"/>
            <a:ext cx="1508760" cy="475488"/>
          </a:xfrm>
          <a:prstGeom prst="rect">
            <a:avLst/>
          </a:prstGeom>
          <a:noFill/>
        </p:spPr>
        <p:txBody>
          <a:bodyPr wrap="square">
            <a:spAutoFit/>
          </a:bodyPr>
          <a:lstStyle/>
          <a:p>
            <a:pPr>
              <a:defRPr sz="1400" b="1">
                <a:solidFill>
                  <a:srgbClr val="0A1D33"/>
                </a:solidFill>
                <a:latin typeface="Aptos"/>
              </a:defRPr>
            </a:pPr>
            <a:r>
              <a:t>Decision</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01</a:t>
            </a:r>
          </a:p>
        </p:txBody>
      </p:sp>
      <p:sp>
        <p:nvSpPr>
          <p:cNvPr id="13" name="Rectangle 12"/>
          <p:cNvSpPr/>
          <p:nvPr/>
        </p:nvSpPr>
        <p:spPr>
          <a:xfrm>
            <a:off x="7936992" y="1490472"/>
            <a:ext cx="3803904" cy="4187952"/>
          </a:xfrm>
          <a:prstGeom prst="rect">
            <a:avLst/>
          </a:prstGeom>
          <a:solidFill>
            <a:srgbClr val="189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1_publication_review.png"/>
          <p:cNvPicPr>
            <a:picLocks noChangeAspect="1"/>
          </p:cNvPicPr>
          <p:nvPr/>
        </p:nvPicPr>
        <p:blipFill>
          <a:blip r:embed="rId3"/>
          <a:stretch>
            <a:fillRect/>
          </a:stretch>
        </p:blipFill>
        <p:spPr>
          <a:xfrm>
            <a:off x="7982712" y="1536192"/>
            <a:ext cx="3712463" cy="40965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The accountable statistician</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A tool can perform a task without acquiring institutional authority.</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Name the official who can review, override and stop release.</a:t>
            </a:r>
          </a:p>
        </p:txBody>
      </p:sp>
      <p:sp>
        <p:nvSpPr>
          <p:cNvPr id="6" name="Chevron 5"/>
          <p:cNvSpPr/>
          <p:nvPr/>
        </p:nvSpPr>
        <p:spPr>
          <a:xfrm>
            <a:off x="8138160" y="1645920"/>
            <a:ext cx="2834640" cy="777240"/>
          </a:xfrm>
          <a:prstGeom prst="chevr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819656"/>
            <a:ext cx="1920240" cy="457200"/>
          </a:xfrm>
          <a:prstGeom prst="rect">
            <a:avLst/>
          </a:prstGeom>
          <a:noFill/>
        </p:spPr>
        <p:txBody>
          <a:bodyPr wrap="square">
            <a:spAutoFit/>
          </a:bodyPr>
          <a:lstStyle/>
          <a:p>
            <a:pPr>
              <a:defRPr sz="1700" b="1">
                <a:solidFill>
                  <a:srgbClr val="0A1D33"/>
                </a:solidFill>
                <a:latin typeface="Aptos"/>
              </a:defRPr>
            </a:pPr>
            <a:r>
              <a:t>Purpose</a:t>
            </a:r>
          </a:p>
        </p:txBody>
      </p:sp>
      <p:sp>
        <p:nvSpPr>
          <p:cNvPr id="8" name="Chevron 7"/>
          <p:cNvSpPr/>
          <p:nvPr/>
        </p:nvSpPr>
        <p:spPr>
          <a:xfrm>
            <a:off x="8138160" y="2926080"/>
            <a:ext cx="2834640" cy="777240"/>
          </a:xfrm>
          <a:prstGeom prst="chevr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3099815"/>
            <a:ext cx="1920240" cy="457200"/>
          </a:xfrm>
          <a:prstGeom prst="rect">
            <a:avLst/>
          </a:prstGeom>
          <a:noFill/>
        </p:spPr>
        <p:txBody>
          <a:bodyPr wrap="square">
            <a:spAutoFit/>
          </a:bodyPr>
          <a:lstStyle/>
          <a:p>
            <a:pPr>
              <a:defRPr sz="1700" b="1">
                <a:solidFill>
                  <a:srgbClr val="0A1D33"/>
                </a:solidFill>
                <a:latin typeface="Aptos"/>
              </a:defRPr>
            </a:pPr>
            <a:r>
              <a:t>Check</a:t>
            </a:r>
          </a:p>
        </p:txBody>
      </p:sp>
      <p:sp>
        <p:nvSpPr>
          <p:cNvPr id="10" name="Chevron 9"/>
          <p:cNvSpPr/>
          <p:nvPr/>
        </p:nvSpPr>
        <p:spPr>
          <a:xfrm>
            <a:off x="8138160" y="4206240"/>
            <a:ext cx="2834640" cy="777240"/>
          </a:xfrm>
          <a:prstGeom prst="chevr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4379976"/>
            <a:ext cx="1920240" cy="457200"/>
          </a:xfrm>
          <a:prstGeom prst="rect">
            <a:avLst/>
          </a:prstGeom>
          <a:noFill/>
        </p:spPr>
        <p:txBody>
          <a:bodyPr wrap="square">
            <a:spAutoFit/>
          </a:bodyPr>
          <a:lstStyle/>
          <a:p>
            <a:pPr>
              <a:defRPr sz="1700" b="1">
                <a:solidFill>
                  <a:srgbClr val="0A1D33"/>
                </a:solidFill>
                <a:latin typeface="Aptos"/>
              </a:defRPr>
            </a:pPr>
            <a:r>
              <a:t>Review</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Normative architecture</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Use authoritative local law and policy for operative requirements.</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UN principles and professional ethics inform interpretation.</a:t>
            </a:r>
          </a:p>
        </p:txBody>
      </p:sp>
      <p:sp>
        <p:nvSpPr>
          <p:cNvPr id="6" name="Hexagon 5"/>
          <p:cNvSpPr/>
          <p:nvPr/>
        </p:nvSpPr>
        <p:spPr>
          <a:xfrm>
            <a:off x="8321040" y="1417320"/>
            <a:ext cx="2103120" cy="1069848"/>
          </a:xfrm>
          <a:prstGeom prst="hexag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728216"/>
            <a:ext cx="1645920" cy="457200"/>
          </a:xfrm>
          <a:prstGeom prst="rect">
            <a:avLst/>
          </a:prstGeom>
          <a:noFill/>
        </p:spPr>
        <p:txBody>
          <a:bodyPr wrap="square">
            <a:spAutoFit/>
          </a:bodyPr>
          <a:lstStyle/>
          <a:p>
            <a:pPr>
              <a:defRPr sz="1600" b="1">
                <a:solidFill>
                  <a:srgbClr val="0A1D33"/>
                </a:solidFill>
                <a:latin typeface="Aptos"/>
              </a:defRPr>
            </a:pPr>
            <a:r>
              <a:t>Source</a:t>
            </a:r>
          </a:p>
        </p:txBody>
      </p:sp>
      <p:sp>
        <p:nvSpPr>
          <p:cNvPr id="8" name="Hexagon 7"/>
          <p:cNvSpPr/>
          <p:nvPr/>
        </p:nvSpPr>
        <p:spPr>
          <a:xfrm>
            <a:off x="8641080" y="2670048"/>
            <a:ext cx="2103120" cy="1069848"/>
          </a:xfrm>
          <a:prstGeom prst="hexag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7967" y="2980944"/>
            <a:ext cx="1645920" cy="457200"/>
          </a:xfrm>
          <a:prstGeom prst="rect">
            <a:avLst/>
          </a:prstGeom>
          <a:noFill/>
        </p:spPr>
        <p:txBody>
          <a:bodyPr wrap="square">
            <a:spAutoFit/>
          </a:bodyPr>
          <a:lstStyle/>
          <a:p>
            <a:pPr>
              <a:defRPr sz="1600" b="1">
                <a:solidFill>
                  <a:srgbClr val="0A1D33"/>
                </a:solidFill>
                <a:latin typeface="Aptos"/>
              </a:defRPr>
            </a:pPr>
            <a:r>
              <a:t>Risk</a:t>
            </a:r>
          </a:p>
        </p:txBody>
      </p:sp>
      <p:sp>
        <p:nvSpPr>
          <p:cNvPr id="10" name="Hexagon 9"/>
          <p:cNvSpPr/>
          <p:nvPr/>
        </p:nvSpPr>
        <p:spPr>
          <a:xfrm>
            <a:off x="8961119" y="3922776"/>
            <a:ext cx="2103120" cy="1069848"/>
          </a:xfrm>
          <a:prstGeom prst="hexag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08007" y="4233672"/>
            <a:ext cx="1645920" cy="457200"/>
          </a:xfrm>
          <a:prstGeom prst="rect">
            <a:avLst/>
          </a:prstGeom>
          <a:noFill/>
        </p:spPr>
        <p:txBody>
          <a:bodyPr wrap="square">
            <a:spAutoFit/>
          </a:bodyPr>
          <a:lstStyle/>
          <a:p>
            <a:pPr>
              <a:defRPr sz="1600" b="1">
                <a:solidFill>
                  <a:srgbClr val="0A1D33"/>
                </a:solidFill>
                <a:latin typeface="Aptos"/>
              </a:defRPr>
            </a:pPr>
            <a:r>
              <a:t>Control</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Ethical reasoning and compliance</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A compliant action may still require a defensible professional choice.</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Record rules, tensions, evidence and limits of discretion.</a:t>
            </a:r>
          </a:p>
        </p:txBody>
      </p:sp>
      <p:sp>
        <p:nvSpPr>
          <p:cNvPr id="6" name="Oval 5"/>
          <p:cNvSpPr/>
          <p:nvPr/>
        </p:nvSpPr>
        <p:spPr>
          <a:xfrm>
            <a:off x="8321040" y="1828800"/>
            <a:ext cx="1600200" cy="1600200"/>
          </a:xfrm>
          <a:prstGeom prst="ellipse">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2350008"/>
            <a:ext cx="1508760" cy="475488"/>
          </a:xfrm>
          <a:prstGeom prst="rect">
            <a:avLst/>
          </a:prstGeom>
          <a:noFill/>
        </p:spPr>
        <p:txBody>
          <a:bodyPr wrap="square">
            <a:spAutoFit/>
          </a:bodyPr>
          <a:lstStyle/>
          <a:p>
            <a:pPr>
              <a:defRPr sz="1400" b="1">
                <a:solidFill>
                  <a:srgbClr val="0A1D33"/>
                </a:solidFill>
                <a:latin typeface="Aptos"/>
              </a:defRPr>
            </a:pPr>
            <a:r>
              <a:t>Authority</a:t>
            </a:r>
          </a:p>
        </p:txBody>
      </p:sp>
      <p:sp>
        <p:nvSpPr>
          <p:cNvPr id="8" name="Oval 7"/>
          <p:cNvSpPr/>
          <p:nvPr/>
        </p:nvSpPr>
        <p:spPr>
          <a:xfrm>
            <a:off x="8915400" y="2788920"/>
            <a:ext cx="1600200" cy="1600200"/>
          </a:xfrm>
          <a:prstGeom prst="ellipse">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3310128"/>
            <a:ext cx="1508760" cy="475488"/>
          </a:xfrm>
          <a:prstGeom prst="rect">
            <a:avLst/>
          </a:prstGeom>
          <a:noFill/>
        </p:spPr>
        <p:txBody>
          <a:bodyPr wrap="square">
            <a:spAutoFit/>
          </a:bodyPr>
          <a:lstStyle/>
          <a:p>
            <a:pPr>
              <a:defRPr sz="1400" b="1">
                <a:solidFill>
                  <a:srgbClr val="0A1D33"/>
                </a:solidFill>
                <a:latin typeface="Aptos"/>
              </a:defRPr>
            </a:pPr>
            <a:r>
              <a:t>Evidence</a:t>
            </a:r>
          </a:p>
        </p:txBody>
      </p:sp>
      <p:sp>
        <p:nvSpPr>
          <p:cNvPr id="10" name="Oval 9"/>
          <p:cNvSpPr/>
          <p:nvPr/>
        </p:nvSpPr>
        <p:spPr>
          <a:xfrm>
            <a:off x="9509760" y="3749039"/>
            <a:ext cx="1600200" cy="1600200"/>
          </a:xfrm>
          <a:prstGeom prst="ellipse">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55480" y="4270248"/>
            <a:ext cx="1508760" cy="475488"/>
          </a:xfrm>
          <a:prstGeom prst="rect">
            <a:avLst/>
          </a:prstGeom>
          <a:noFill/>
        </p:spPr>
        <p:txBody>
          <a:bodyPr wrap="square">
            <a:spAutoFit/>
          </a:bodyPr>
          <a:lstStyle/>
          <a:p>
            <a:pPr>
              <a:defRPr sz="1400" b="1">
                <a:solidFill>
                  <a:srgbClr val="0A1D33"/>
                </a:solidFill>
                <a:latin typeface="Aptos"/>
              </a:defRPr>
            </a:pPr>
            <a:r>
              <a:t>Decision</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Impartiality in purpose and method</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Protect evidence selection and classifications from preferred narratives.</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Check whose interests or access the framing favors.</a:t>
            </a:r>
          </a:p>
        </p:txBody>
      </p:sp>
      <p:sp>
        <p:nvSpPr>
          <p:cNvPr id="6" name="Chevron 5"/>
          <p:cNvSpPr/>
          <p:nvPr/>
        </p:nvSpPr>
        <p:spPr>
          <a:xfrm>
            <a:off x="8138160" y="1645920"/>
            <a:ext cx="2834640" cy="777240"/>
          </a:xfrm>
          <a:prstGeom prst="chevr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819656"/>
            <a:ext cx="1920240" cy="457200"/>
          </a:xfrm>
          <a:prstGeom prst="rect">
            <a:avLst/>
          </a:prstGeom>
          <a:noFill/>
        </p:spPr>
        <p:txBody>
          <a:bodyPr wrap="square">
            <a:spAutoFit/>
          </a:bodyPr>
          <a:lstStyle/>
          <a:p>
            <a:pPr>
              <a:defRPr sz="1700" b="1">
                <a:solidFill>
                  <a:srgbClr val="0A1D33"/>
                </a:solidFill>
                <a:latin typeface="Aptos"/>
              </a:defRPr>
            </a:pPr>
            <a:r>
              <a:t>Purpose</a:t>
            </a:r>
          </a:p>
        </p:txBody>
      </p:sp>
      <p:sp>
        <p:nvSpPr>
          <p:cNvPr id="8" name="Chevron 7"/>
          <p:cNvSpPr/>
          <p:nvPr/>
        </p:nvSpPr>
        <p:spPr>
          <a:xfrm>
            <a:off x="8138160" y="2926080"/>
            <a:ext cx="2834640" cy="777240"/>
          </a:xfrm>
          <a:prstGeom prst="chevr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3099815"/>
            <a:ext cx="1920240" cy="457200"/>
          </a:xfrm>
          <a:prstGeom prst="rect">
            <a:avLst/>
          </a:prstGeom>
          <a:noFill/>
        </p:spPr>
        <p:txBody>
          <a:bodyPr wrap="square">
            <a:spAutoFit/>
          </a:bodyPr>
          <a:lstStyle/>
          <a:p>
            <a:pPr>
              <a:defRPr sz="1700" b="1">
                <a:solidFill>
                  <a:srgbClr val="0A1D33"/>
                </a:solidFill>
                <a:latin typeface="Aptos"/>
              </a:defRPr>
            </a:pPr>
            <a:r>
              <a:t>Check</a:t>
            </a:r>
          </a:p>
        </p:txBody>
      </p:sp>
      <p:sp>
        <p:nvSpPr>
          <p:cNvPr id="10" name="Chevron 9"/>
          <p:cNvSpPr/>
          <p:nvPr/>
        </p:nvSpPr>
        <p:spPr>
          <a:xfrm>
            <a:off x="8138160" y="4206240"/>
            <a:ext cx="2834640" cy="777240"/>
          </a:xfrm>
          <a:prstGeom prst="chevr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4379976"/>
            <a:ext cx="1920240" cy="457200"/>
          </a:xfrm>
          <a:prstGeom prst="rect">
            <a:avLst/>
          </a:prstGeom>
          <a:noFill/>
        </p:spPr>
        <p:txBody>
          <a:bodyPr wrap="square">
            <a:spAutoFit/>
          </a:bodyPr>
          <a:lstStyle/>
          <a:p>
            <a:pPr>
              <a:defRPr sz="1700" b="1">
                <a:solidFill>
                  <a:srgbClr val="0A1D33"/>
                </a:solidFill>
                <a:latin typeface="Aptos"/>
              </a:defRPr>
            </a:pPr>
            <a:r>
              <a:t>Review</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Professional independence</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Management urgency cannot transfer statistical release authority.</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Document pressure, dissent and escalation to the right role.</a:t>
            </a:r>
          </a:p>
        </p:txBody>
      </p:sp>
      <p:sp>
        <p:nvSpPr>
          <p:cNvPr id="6" name="Hexagon 5"/>
          <p:cNvSpPr/>
          <p:nvPr/>
        </p:nvSpPr>
        <p:spPr>
          <a:xfrm>
            <a:off x="8321040" y="1417320"/>
            <a:ext cx="2103120" cy="1069848"/>
          </a:xfrm>
          <a:prstGeom prst="hexag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728216"/>
            <a:ext cx="1645920" cy="457200"/>
          </a:xfrm>
          <a:prstGeom prst="rect">
            <a:avLst/>
          </a:prstGeom>
          <a:noFill/>
        </p:spPr>
        <p:txBody>
          <a:bodyPr wrap="square">
            <a:spAutoFit/>
          </a:bodyPr>
          <a:lstStyle/>
          <a:p>
            <a:pPr>
              <a:defRPr sz="1600" b="1">
                <a:solidFill>
                  <a:srgbClr val="0A1D33"/>
                </a:solidFill>
                <a:latin typeface="Aptos"/>
              </a:defRPr>
            </a:pPr>
            <a:r>
              <a:t>Source</a:t>
            </a:r>
          </a:p>
        </p:txBody>
      </p:sp>
      <p:sp>
        <p:nvSpPr>
          <p:cNvPr id="8" name="Hexagon 7"/>
          <p:cNvSpPr/>
          <p:nvPr/>
        </p:nvSpPr>
        <p:spPr>
          <a:xfrm>
            <a:off x="8641080" y="2670048"/>
            <a:ext cx="2103120" cy="1069848"/>
          </a:xfrm>
          <a:prstGeom prst="hexag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7967" y="2980944"/>
            <a:ext cx="1645920" cy="457200"/>
          </a:xfrm>
          <a:prstGeom prst="rect">
            <a:avLst/>
          </a:prstGeom>
          <a:noFill/>
        </p:spPr>
        <p:txBody>
          <a:bodyPr wrap="square">
            <a:spAutoFit/>
          </a:bodyPr>
          <a:lstStyle/>
          <a:p>
            <a:pPr>
              <a:defRPr sz="1600" b="1">
                <a:solidFill>
                  <a:srgbClr val="0A1D33"/>
                </a:solidFill>
                <a:latin typeface="Aptos"/>
              </a:defRPr>
            </a:pPr>
            <a:r>
              <a:t>Risk</a:t>
            </a:r>
          </a:p>
        </p:txBody>
      </p:sp>
      <p:sp>
        <p:nvSpPr>
          <p:cNvPr id="10" name="Hexagon 9"/>
          <p:cNvSpPr/>
          <p:nvPr/>
        </p:nvSpPr>
        <p:spPr>
          <a:xfrm>
            <a:off x="8961119" y="3922776"/>
            <a:ext cx="2103120" cy="1069848"/>
          </a:xfrm>
          <a:prstGeom prst="hexag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08007" y="4233672"/>
            <a:ext cx="1645920" cy="457200"/>
          </a:xfrm>
          <a:prstGeom prst="rect">
            <a:avLst/>
          </a:prstGeom>
          <a:noFill/>
        </p:spPr>
        <p:txBody>
          <a:bodyPr wrap="square">
            <a:spAutoFit/>
          </a:bodyPr>
          <a:lstStyle/>
          <a:p>
            <a:pPr>
              <a:defRPr sz="1600" b="1">
                <a:solidFill>
                  <a:srgbClr val="0A1D33"/>
                </a:solidFill>
                <a:latin typeface="Aptos"/>
              </a:defRPr>
            </a:pPr>
            <a:r>
              <a:t>Control</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Confidentiality and statistical secrecy</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Information can identify a unit through combinations and context.</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Classify purpose, access, permitted use and inferential disclosure.</a:t>
            </a:r>
          </a:p>
        </p:txBody>
      </p:sp>
      <p:sp>
        <p:nvSpPr>
          <p:cNvPr id="6" name="Oval 5"/>
          <p:cNvSpPr/>
          <p:nvPr/>
        </p:nvSpPr>
        <p:spPr>
          <a:xfrm>
            <a:off x="8321040" y="1828800"/>
            <a:ext cx="1600200" cy="1600200"/>
          </a:xfrm>
          <a:prstGeom prst="ellipse">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2350008"/>
            <a:ext cx="1508760" cy="475488"/>
          </a:xfrm>
          <a:prstGeom prst="rect">
            <a:avLst/>
          </a:prstGeom>
          <a:noFill/>
        </p:spPr>
        <p:txBody>
          <a:bodyPr wrap="square">
            <a:spAutoFit/>
          </a:bodyPr>
          <a:lstStyle/>
          <a:p>
            <a:pPr>
              <a:defRPr sz="1400" b="1">
                <a:solidFill>
                  <a:srgbClr val="0A1D33"/>
                </a:solidFill>
                <a:latin typeface="Aptos"/>
              </a:defRPr>
            </a:pPr>
            <a:r>
              <a:t>Authority</a:t>
            </a:r>
          </a:p>
        </p:txBody>
      </p:sp>
      <p:sp>
        <p:nvSpPr>
          <p:cNvPr id="8" name="Oval 7"/>
          <p:cNvSpPr/>
          <p:nvPr/>
        </p:nvSpPr>
        <p:spPr>
          <a:xfrm>
            <a:off x="8915400" y="2788920"/>
            <a:ext cx="1600200" cy="1600200"/>
          </a:xfrm>
          <a:prstGeom prst="ellipse">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3310128"/>
            <a:ext cx="1508760" cy="475488"/>
          </a:xfrm>
          <a:prstGeom prst="rect">
            <a:avLst/>
          </a:prstGeom>
          <a:noFill/>
        </p:spPr>
        <p:txBody>
          <a:bodyPr wrap="square">
            <a:spAutoFit/>
          </a:bodyPr>
          <a:lstStyle/>
          <a:p>
            <a:pPr>
              <a:defRPr sz="1400" b="1">
                <a:solidFill>
                  <a:srgbClr val="0A1D33"/>
                </a:solidFill>
                <a:latin typeface="Aptos"/>
              </a:defRPr>
            </a:pPr>
            <a:r>
              <a:t>Evidence</a:t>
            </a:r>
          </a:p>
        </p:txBody>
      </p:sp>
      <p:sp>
        <p:nvSpPr>
          <p:cNvPr id="10" name="Oval 9"/>
          <p:cNvSpPr/>
          <p:nvPr/>
        </p:nvSpPr>
        <p:spPr>
          <a:xfrm>
            <a:off x="9509760" y="3749039"/>
            <a:ext cx="1600200" cy="1600200"/>
          </a:xfrm>
          <a:prstGeom prst="ellipse">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55480" y="4270248"/>
            <a:ext cx="1508760" cy="475488"/>
          </a:xfrm>
          <a:prstGeom prst="rect">
            <a:avLst/>
          </a:prstGeom>
          <a:noFill/>
        </p:spPr>
        <p:txBody>
          <a:bodyPr wrap="square">
            <a:spAutoFit/>
          </a:bodyPr>
          <a:lstStyle/>
          <a:p>
            <a:pPr>
              <a:defRPr sz="1400" b="1">
                <a:solidFill>
                  <a:srgbClr val="0A1D33"/>
                </a:solidFill>
                <a:latin typeface="Aptos"/>
              </a:defRPr>
            </a:pPr>
            <a:r>
              <a:t>Decision</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Confidentiality in AI environments</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Inspect prompts, logs, retrieval indexes, retention and support access.</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Withhold protected data until every path is approved.</a:t>
            </a:r>
          </a:p>
        </p:txBody>
      </p:sp>
      <p:sp>
        <p:nvSpPr>
          <p:cNvPr id="6" name="Chevron 5"/>
          <p:cNvSpPr/>
          <p:nvPr/>
        </p:nvSpPr>
        <p:spPr>
          <a:xfrm>
            <a:off x="8138160" y="1645920"/>
            <a:ext cx="2834640" cy="777240"/>
          </a:xfrm>
          <a:prstGeom prst="chevr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819656"/>
            <a:ext cx="1920240" cy="457200"/>
          </a:xfrm>
          <a:prstGeom prst="rect">
            <a:avLst/>
          </a:prstGeom>
          <a:noFill/>
        </p:spPr>
        <p:txBody>
          <a:bodyPr wrap="square">
            <a:spAutoFit/>
          </a:bodyPr>
          <a:lstStyle/>
          <a:p>
            <a:pPr>
              <a:defRPr sz="1700" b="1">
                <a:solidFill>
                  <a:srgbClr val="0A1D33"/>
                </a:solidFill>
                <a:latin typeface="Aptos"/>
              </a:defRPr>
            </a:pPr>
            <a:r>
              <a:t>Purpose</a:t>
            </a:r>
          </a:p>
        </p:txBody>
      </p:sp>
      <p:sp>
        <p:nvSpPr>
          <p:cNvPr id="8" name="Chevron 7"/>
          <p:cNvSpPr/>
          <p:nvPr/>
        </p:nvSpPr>
        <p:spPr>
          <a:xfrm>
            <a:off x="8138160" y="2926080"/>
            <a:ext cx="2834640" cy="777240"/>
          </a:xfrm>
          <a:prstGeom prst="chevr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3099815"/>
            <a:ext cx="1920240" cy="457200"/>
          </a:xfrm>
          <a:prstGeom prst="rect">
            <a:avLst/>
          </a:prstGeom>
          <a:noFill/>
        </p:spPr>
        <p:txBody>
          <a:bodyPr wrap="square">
            <a:spAutoFit/>
          </a:bodyPr>
          <a:lstStyle/>
          <a:p>
            <a:pPr>
              <a:defRPr sz="1700" b="1">
                <a:solidFill>
                  <a:srgbClr val="0A1D33"/>
                </a:solidFill>
                <a:latin typeface="Aptos"/>
              </a:defRPr>
            </a:pPr>
            <a:r>
              <a:t>Check</a:t>
            </a:r>
          </a:p>
        </p:txBody>
      </p:sp>
      <p:sp>
        <p:nvSpPr>
          <p:cNvPr id="10" name="Chevron 9"/>
          <p:cNvSpPr/>
          <p:nvPr/>
        </p:nvSpPr>
        <p:spPr>
          <a:xfrm>
            <a:off x="8138160" y="4206240"/>
            <a:ext cx="2834640" cy="777240"/>
          </a:xfrm>
          <a:prstGeom prst="chevr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4379976"/>
            <a:ext cx="1920240" cy="457200"/>
          </a:xfrm>
          <a:prstGeom prst="rect">
            <a:avLst/>
          </a:prstGeom>
          <a:noFill/>
        </p:spPr>
        <p:txBody>
          <a:bodyPr wrap="square">
            <a:spAutoFit/>
          </a:bodyPr>
          <a:lstStyle/>
          <a:p>
            <a:pPr>
              <a:defRPr sz="1700" b="1">
                <a:solidFill>
                  <a:srgbClr val="0A1D33"/>
                </a:solidFill>
                <a:latin typeface="Aptos"/>
              </a:defRPr>
            </a:pPr>
            <a:r>
              <a:t>Review</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08</a:t>
            </a:r>
          </a:p>
        </p:txBody>
      </p:sp>
      <p:sp>
        <p:nvSpPr>
          <p:cNvPr id="13" name="Rectangle 12"/>
          <p:cNvSpPr/>
          <p:nvPr/>
        </p:nvSpPr>
        <p:spPr>
          <a:xfrm>
            <a:off x="7936992" y="1490472"/>
            <a:ext cx="3803904" cy="4187952"/>
          </a:xfrm>
          <a:prstGeom prst="rect">
            <a:avLst/>
          </a:prstGeom>
          <a:solidFill>
            <a:srgbClr val="189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2_confidentiality.png"/>
          <p:cNvPicPr>
            <a:picLocks noChangeAspect="1"/>
          </p:cNvPicPr>
          <p:nvPr/>
        </p:nvPicPr>
        <p:blipFill>
          <a:blip r:embed="rId3"/>
          <a:stretch>
            <a:fillRect/>
          </a:stretch>
        </p:blipFill>
        <p:spPr>
          <a:xfrm>
            <a:off x="7982712" y="1536192"/>
            <a:ext cx="3712463" cy="409651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Transparency and explainability</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Explain sources, revisions, uncertainty and material AI assistance.</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Protect confidential details while exposing methodological limits.</a:t>
            </a:r>
          </a:p>
        </p:txBody>
      </p:sp>
      <p:sp>
        <p:nvSpPr>
          <p:cNvPr id="6" name="Hexagon 5"/>
          <p:cNvSpPr/>
          <p:nvPr/>
        </p:nvSpPr>
        <p:spPr>
          <a:xfrm>
            <a:off x="8321040" y="1417320"/>
            <a:ext cx="2103120" cy="1069848"/>
          </a:xfrm>
          <a:prstGeom prst="hexag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728216"/>
            <a:ext cx="1645920" cy="457200"/>
          </a:xfrm>
          <a:prstGeom prst="rect">
            <a:avLst/>
          </a:prstGeom>
          <a:noFill/>
        </p:spPr>
        <p:txBody>
          <a:bodyPr wrap="square">
            <a:spAutoFit/>
          </a:bodyPr>
          <a:lstStyle/>
          <a:p>
            <a:pPr>
              <a:defRPr sz="1600" b="1">
                <a:solidFill>
                  <a:srgbClr val="0A1D33"/>
                </a:solidFill>
                <a:latin typeface="Aptos"/>
              </a:defRPr>
            </a:pPr>
            <a:r>
              <a:t>Source</a:t>
            </a:r>
          </a:p>
        </p:txBody>
      </p:sp>
      <p:sp>
        <p:nvSpPr>
          <p:cNvPr id="8" name="Hexagon 7"/>
          <p:cNvSpPr/>
          <p:nvPr/>
        </p:nvSpPr>
        <p:spPr>
          <a:xfrm>
            <a:off x="8641080" y="2670048"/>
            <a:ext cx="2103120" cy="1069848"/>
          </a:xfrm>
          <a:prstGeom prst="hexag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7967" y="2980944"/>
            <a:ext cx="1645920" cy="457200"/>
          </a:xfrm>
          <a:prstGeom prst="rect">
            <a:avLst/>
          </a:prstGeom>
          <a:noFill/>
        </p:spPr>
        <p:txBody>
          <a:bodyPr wrap="square">
            <a:spAutoFit/>
          </a:bodyPr>
          <a:lstStyle/>
          <a:p>
            <a:pPr>
              <a:defRPr sz="1600" b="1">
                <a:solidFill>
                  <a:srgbClr val="0A1D33"/>
                </a:solidFill>
                <a:latin typeface="Aptos"/>
              </a:defRPr>
            </a:pPr>
            <a:r>
              <a:t>Risk</a:t>
            </a:r>
          </a:p>
        </p:txBody>
      </p:sp>
      <p:sp>
        <p:nvSpPr>
          <p:cNvPr id="10" name="Hexagon 9"/>
          <p:cNvSpPr/>
          <p:nvPr/>
        </p:nvSpPr>
        <p:spPr>
          <a:xfrm>
            <a:off x="8961119" y="3922776"/>
            <a:ext cx="2103120" cy="1069848"/>
          </a:xfrm>
          <a:prstGeom prst="hexag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08007" y="4233672"/>
            <a:ext cx="1645920" cy="457200"/>
          </a:xfrm>
          <a:prstGeom prst="rect">
            <a:avLst/>
          </a:prstGeom>
          <a:noFill/>
        </p:spPr>
        <p:txBody>
          <a:bodyPr wrap="square">
            <a:spAutoFit/>
          </a:bodyPr>
          <a:lstStyle/>
          <a:p>
            <a:pPr>
              <a:defRPr sz="1600" b="1">
                <a:solidFill>
                  <a:srgbClr val="0A1D33"/>
                </a:solidFill>
                <a:latin typeface="Aptos"/>
              </a:defRPr>
            </a:pPr>
            <a:r>
              <a:t>Control</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Quality as an obligation</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Specify fitness for use and subgroup tolerances before testing.</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Net time includes generation, verification and rework.</a:t>
            </a:r>
          </a:p>
        </p:txBody>
      </p:sp>
      <p:sp>
        <p:nvSpPr>
          <p:cNvPr id="6" name="Oval 5"/>
          <p:cNvSpPr/>
          <p:nvPr/>
        </p:nvSpPr>
        <p:spPr>
          <a:xfrm>
            <a:off x="8321040" y="1828800"/>
            <a:ext cx="1600200" cy="1600200"/>
          </a:xfrm>
          <a:prstGeom prst="ellipse">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2350008"/>
            <a:ext cx="1508760" cy="475488"/>
          </a:xfrm>
          <a:prstGeom prst="rect">
            <a:avLst/>
          </a:prstGeom>
          <a:noFill/>
        </p:spPr>
        <p:txBody>
          <a:bodyPr wrap="square">
            <a:spAutoFit/>
          </a:bodyPr>
          <a:lstStyle/>
          <a:p>
            <a:pPr>
              <a:defRPr sz="1400" b="1">
                <a:solidFill>
                  <a:srgbClr val="0A1D33"/>
                </a:solidFill>
                <a:latin typeface="Aptos"/>
              </a:defRPr>
            </a:pPr>
            <a:r>
              <a:t>Authority</a:t>
            </a:r>
          </a:p>
        </p:txBody>
      </p:sp>
      <p:sp>
        <p:nvSpPr>
          <p:cNvPr id="8" name="Oval 7"/>
          <p:cNvSpPr/>
          <p:nvPr/>
        </p:nvSpPr>
        <p:spPr>
          <a:xfrm>
            <a:off x="8915400" y="2788920"/>
            <a:ext cx="1600200" cy="1600200"/>
          </a:xfrm>
          <a:prstGeom prst="ellipse">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3310128"/>
            <a:ext cx="1508760" cy="475488"/>
          </a:xfrm>
          <a:prstGeom prst="rect">
            <a:avLst/>
          </a:prstGeom>
          <a:noFill/>
        </p:spPr>
        <p:txBody>
          <a:bodyPr wrap="square">
            <a:spAutoFit/>
          </a:bodyPr>
          <a:lstStyle/>
          <a:p>
            <a:pPr>
              <a:defRPr sz="1400" b="1">
                <a:solidFill>
                  <a:srgbClr val="0A1D33"/>
                </a:solidFill>
                <a:latin typeface="Aptos"/>
              </a:defRPr>
            </a:pPr>
            <a:r>
              <a:t>Evidence</a:t>
            </a:r>
          </a:p>
        </p:txBody>
      </p:sp>
      <p:sp>
        <p:nvSpPr>
          <p:cNvPr id="10" name="Oval 9"/>
          <p:cNvSpPr/>
          <p:nvPr/>
        </p:nvSpPr>
        <p:spPr>
          <a:xfrm>
            <a:off x="9509760" y="3749039"/>
            <a:ext cx="1600200" cy="1600200"/>
          </a:xfrm>
          <a:prstGeom prst="ellipse">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55480" y="4270248"/>
            <a:ext cx="1508760" cy="475488"/>
          </a:xfrm>
          <a:prstGeom prst="rect">
            <a:avLst/>
          </a:prstGeom>
          <a:noFill/>
        </p:spPr>
        <p:txBody>
          <a:bodyPr wrap="square">
            <a:spAutoFit/>
          </a:bodyPr>
          <a:lstStyle/>
          <a:p>
            <a:pPr>
              <a:defRPr sz="1400" b="1">
                <a:solidFill>
                  <a:srgbClr val="0A1D33"/>
                </a:solidFill>
                <a:latin typeface="Aptos"/>
              </a:defRPr>
            </a:pPr>
            <a:r>
              <a:t>Decision</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Accountability and oversight</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A human reviewer needs evidence and actual stopping authority.</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Retain a proportionate decision trail and correction route.</a:t>
            </a:r>
          </a:p>
        </p:txBody>
      </p:sp>
      <p:sp>
        <p:nvSpPr>
          <p:cNvPr id="6" name="Chevron 5"/>
          <p:cNvSpPr/>
          <p:nvPr/>
        </p:nvSpPr>
        <p:spPr>
          <a:xfrm>
            <a:off x="8138160" y="1645920"/>
            <a:ext cx="2834640" cy="777240"/>
          </a:xfrm>
          <a:prstGeom prst="chevr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819656"/>
            <a:ext cx="1920240" cy="457200"/>
          </a:xfrm>
          <a:prstGeom prst="rect">
            <a:avLst/>
          </a:prstGeom>
          <a:noFill/>
        </p:spPr>
        <p:txBody>
          <a:bodyPr wrap="square">
            <a:spAutoFit/>
          </a:bodyPr>
          <a:lstStyle/>
          <a:p>
            <a:pPr>
              <a:defRPr sz="1700" b="1">
                <a:solidFill>
                  <a:srgbClr val="0A1D33"/>
                </a:solidFill>
                <a:latin typeface="Aptos"/>
              </a:defRPr>
            </a:pPr>
            <a:r>
              <a:t>Purpose</a:t>
            </a:r>
          </a:p>
        </p:txBody>
      </p:sp>
      <p:sp>
        <p:nvSpPr>
          <p:cNvPr id="8" name="Chevron 7"/>
          <p:cNvSpPr/>
          <p:nvPr/>
        </p:nvSpPr>
        <p:spPr>
          <a:xfrm>
            <a:off x="8138160" y="2926080"/>
            <a:ext cx="2834640" cy="777240"/>
          </a:xfrm>
          <a:prstGeom prst="chevr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3099815"/>
            <a:ext cx="1920240" cy="457200"/>
          </a:xfrm>
          <a:prstGeom prst="rect">
            <a:avLst/>
          </a:prstGeom>
          <a:noFill/>
        </p:spPr>
        <p:txBody>
          <a:bodyPr wrap="square">
            <a:spAutoFit/>
          </a:bodyPr>
          <a:lstStyle/>
          <a:p>
            <a:pPr>
              <a:defRPr sz="1700" b="1">
                <a:solidFill>
                  <a:srgbClr val="0A1D33"/>
                </a:solidFill>
                <a:latin typeface="Aptos"/>
              </a:defRPr>
            </a:pPr>
            <a:r>
              <a:t>Check</a:t>
            </a:r>
          </a:p>
        </p:txBody>
      </p:sp>
      <p:sp>
        <p:nvSpPr>
          <p:cNvPr id="10" name="Chevron 9"/>
          <p:cNvSpPr/>
          <p:nvPr/>
        </p:nvSpPr>
        <p:spPr>
          <a:xfrm>
            <a:off x="8138160" y="4206240"/>
            <a:ext cx="2834640" cy="777240"/>
          </a:xfrm>
          <a:prstGeom prst="chevr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4379976"/>
            <a:ext cx="1920240" cy="457200"/>
          </a:xfrm>
          <a:prstGeom prst="rect">
            <a:avLst/>
          </a:prstGeom>
          <a:noFill/>
        </p:spPr>
        <p:txBody>
          <a:bodyPr wrap="square">
            <a:spAutoFit/>
          </a:bodyPr>
          <a:lstStyle/>
          <a:p>
            <a:pPr>
              <a:defRPr sz="1700" b="1">
                <a:solidFill>
                  <a:srgbClr val="0A1D33"/>
                </a:solidFill>
                <a:latin typeface="Aptos"/>
              </a:defRPr>
            </a:pPr>
            <a:r>
              <a:t>Review</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Fairness and accessibility</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Average performance can conceal consequential group error.</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Assess representation, access, uncertainty and contestability.</a:t>
            </a:r>
          </a:p>
        </p:txBody>
      </p:sp>
      <p:sp>
        <p:nvSpPr>
          <p:cNvPr id="6" name="Hexagon 5"/>
          <p:cNvSpPr/>
          <p:nvPr/>
        </p:nvSpPr>
        <p:spPr>
          <a:xfrm>
            <a:off x="8321040" y="1417320"/>
            <a:ext cx="2103120" cy="1069848"/>
          </a:xfrm>
          <a:prstGeom prst="hexag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728216"/>
            <a:ext cx="1645920" cy="457200"/>
          </a:xfrm>
          <a:prstGeom prst="rect">
            <a:avLst/>
          </a:prstGeom>
          <a:noFill/>
        </p:spPr>
        <p:txBody>
          <a:bodyPr wrap="square">
            <a:spAutoFit/>
          </a:bodyPr>
          <a:lstStyle/>
          <a:p>
            <a:pPr>
              <a:defRPr sz="1600" b="1">
                <a:solidFill>
                  <a:srgbClr val="0A1D33"/>
                </a:solidFill>
                <a:latin typeface="Aptos"/>
              </a:defRPr>
            </a:pPr>
            <a:r>
              <a:t>Source</a:t>
            </a:r>
          </a:p>
        </p:txBody>
      </p:sp>
      <p:sp>
        <p:nvSpPr>
          <p:cNvPr id="8" name="Hexagon 7"/>
          <p:cNvSpPr/>
          <p:nvPr/>
        </p:nvSpPr>
        <p:spPr>
          <a:xfrm>
            <a:off x="8641080" y="2670048"/>
            <a:ext cx="2103120" cy="1069848"/>
          </a:xfrm>
          <a:prstGeom prst="hexag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7967" y="2980944"/>
            <a:ext cx="1645920" cy="457200"/>
          </a:xfrm>
          <a:prstGeom prst="rect">
            <a:avLst/>
          </a:prstGeom>
          <a:noFill/>
        </p:spPr>
        <p:txBody>
          <a:bodyPr wrap="square">
            <a:spAutoFit/>
          </a:bodyPr>
          <a:lstStyle/>
          <a:p>
            <a:pPr>
              <a:defRPr sz="1600" b="1">
                <a:solidFill>
                  <a:srgbClr val="0A1D33"/>
                </a:solidFill>
                <a:latin typeface="Aptos"/>
              </a:defRPr>
            </a:pPr>
            <a:r>
              <a:t>Risk</a:t>
            </a:r>
          </a:p>
        </p:txBody>
      </p:sp>
      <p:sp>
        <p:nvSpPr>
          <p:cNvPr id="10" name="Hexagon 9"/>
          <p:cNvSpPr/>
          <p:nvPr/>
        </p:nvSpPr>
        <p:spPr>
          <a:xfrm>
            <a:off x="8961119" y="3922776"/>
            <a:ext cx="2103120" cy="1069848"/>
          </a:xfrm>
          <a:prstGeom prst="hexag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08007" y="4233672"/>
            <a:ext cx="1645920" cy="457200"/>
          </a:xfrm>
          <a:prstGeom prst="rect">
            <a:avLst/>
          </a:prstGeom>
          <a:noFill/>
        </p:spPr>
        <p:txBody>
          <a:bodyPr wrap="square">
            <a:spAutoFit/>
          </a:bodyPr>
          <a:lstStyle/>
          <a:p>
            <a:pPr>
              <a:defRPr sz="1600" b="1">
                <a:solidFill>
                  <a:srgbClr val="0A1D33"/>
                </a:solidFill>
                <a:latin typeface="Aptos"/>
              </a:defRPr>
            </a:pPr>
            <a:r>
              <a:t>Control</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Conflicts among obligations</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Test authority and confidentiality gates before balancing benefits.</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Compare delay, narrow use and redesign among feasible options.</a:t>
            </a:r>
          </a:p>
        </p:txBody>
      </p:sp>
      <p:sp>
        <p:nvSpPr>
          <p:cNvPr id="6" name="Oval 5"/>
          <p:cNvSpPr/>
          <p:nvPr/>
        </p:nvSpPr>
        <p:spPr>
          <a:xfrm>
            <a:off x="8321040" y="1828800"/>
            <a:ext cx="1600200" cy="1600200"/>
          </a:xfrm>
          <a:prstGeom prst="ellipse">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2350008"/>
            <a:ext cx="1508760" cy="475488"/>
          </a:xfrm>
          <a:prstGeom prst="rect">
            <a:avLst/>
          </a:prstGeom>
          <a:noFill/>
        </p:spPr>
        <p:txBody>
          <a:bodyPr wrap="square">
            <a:spAutoFit/>
          </a:bodyPr>
          <a:lstStyle/>
          <a:p>
            <a:pPr>
              <a:defRPr sz="1400" b="1">
                <a:solidFill>
                  <a:srgbClr val="0A1D33"/>
                </a:solidFill>
                <a:latin typeface="Aptos"/>
              </a:defRPr>
            </a:pPr>
            <a:r>
              <a:t>Authority</a:t>
            </a:r>
          </a:p>
        </p:txBody>
      </p:sp>
      <p:sp>
        <p:nvSpPr>
          <p:cNvPr id="8" name="Oval 7"/>
          <p:cNvSpPr/>
          <p:nvPr/>
        </p:nvSpPr>
        <p:spPr>
          <a:xfrm>
            <a:off x="8915400" y="2788920"/>
            <a:ext cx="1600200" cy="1600200"/>
          </a:xfrm>
          <a:prstGeom prst="ellipse">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3310128"/>
            <a:ext cx="1508760" cy="475488"/>
          </a:xfrm>
          <a:prstGeom prst="rect">
            <a:avLst/>
          </a:prstGeom>
          <a:noFill/>
        </p:spPr>
        <p:txBody>
          <a:bodyPr wrap="square">
            <a:spAutoFit/>
          </a:bodyPr>
          <a:lstStyle/>
          <a:p>
            <a:pPr>
              <a:defRPr sz="1400" b="1">
                <a:solidFill>
                  <a:srgbClr val="0A1D33"/>
                </a:solidFill>
                <a:latin typeface="Aptos"/>
              </a:defRPr>
            </a:pPr>
            <a:r>
              <a:t>Evidence</a:t>
            </a:r>
          </a:p>
        </p:txBody>
      </p:sp>
      <p:sp>
        <p:nvSpPr>
          <p:cNvPr id="10" name="Oval 9"/>
          <p:cNvSpPr/>
          <p:nvPr/>
        </p:nvSpPr>
        <p:spPr>
          <a:xfrm>
            <a:off x="9509760" y="3749039"/>
            <a:ext cx="1600200" cy="1600200"/>
          </a:xfrm>
          <a:prstGeom prst="ellipse">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55480" y="4270248"/>
            <a:ext cx="1508760" cy="475488"/>
          </a:xfrm>
          <a:prstGeom prst="rect">
            <a:avLst/>
          </a:prstGeom>
          <a:noFill/>
        </p:spPr>
        <p:txBody>
          <a:bodyPr wrap="square">
            <a:spAutoFit/>
          </a:bodyPr>
          <a:lstStyle/>
          <a:p>
            <a:pPr>
              <a:defRPr sz="1400" b="1">
                <a:solidFill>
                  <a:srgbClr val="0A1D33"/>
                </a:solidFill>
                <a:latin typeface="Aptos"/>
              </a:defRPr>
            </a:pPr>
            <a:r>
              <a:t>Decision</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Obligations across the lifecycle</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Planning and collection choices shape the final statistical product.</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Retain evidence through processing, release and correction.</a:t>
            </a:r>
          </a:p>
        </p:txBody>
      </p:sp>
      <p:sp>
        <p:nvSpPr>
          <p:cNvPr id="6" name="Chevron 5"/>
          <p:cNvSpPr/>
          <p:nvPr/>
        </p:nvSpPr>
        <p:spPr>
          <a:xfrm>
            <a:off x="8138160" y="1645920"/>
            <a:ext cx="2834640" cy="777240"/>
          </a:xfrm>
          <a:prstGeom prst="chevr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819656"/>
            <a:ext cx="1920240" cy="457200"/>
          </a:xfrm>
          <a:prstGeom prst="rect">
            <a:avLst/>
          </a:prstGeom>
          <a:noFill/>
        </p:spPr>
        <p:txBody>
          <a:bodyPr wrap="square">
            <a:spAutoFit/>
          </a:bodyPr>
          <a:lstStyle/>
          <a:p>
            <a:pPr>
              <a:defRPr sz="1700" b="1">
                <a:solidFill>
                  <a:srgbClr val="0A1D33"/>
                </a:solidFill>
                <a:latin typeface="Aptos"/>
              </a:defRPr>
            </a:pPr>
            <a:r>
              <a:t>Purpose</a:t>
            </a:r>
          </a:p>
        </p:txBody>
      </p:sp>
      <p:sp>
        <p:nvSpPr>
          <p:cNvPr id="8" name="Chevron 7"/>
          <p:cNvSpPr/>
          <p:nvPr/>
        </p:nvSpPr>
        <p:spPr>
          <a:xfrm>
            <a:off x="8138160" y="2926080"/>
            <a:ext cx="2834640" cy="777240"/>
          </a:xfrm>
          <a:prstGeom prst="chevr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3099815"/>
            <a:ext cx="1920240" cy="457200"/>
          </a:xfrm>
          <a:prstGeom prst="rect">
            <a:avLst/>
          </a:prstGeom>
          <a:noFill/>
        </p:spPr>
        <p:txBody>
          <a:bodyPr wrap="square">
            <a:spAutoFit/>
          </a:bodyPr>
          <a:lstStyle/>
          <a:p>
            <a:pPr>
              <a:defRPr sz="1700" b="1">
                <a:solidFill>
                  <a:srgbClr val="0A1D33"/>
                </a:solidFill>
                <a:latin typeface="Aptos"/>
              </a:defRPr>
            </a:pPr>
            <a:r>
              <a:t>Check</a:t>
            </a:r>
          </a:p>
        </p:txBody>
      </p:sp>
      <p:sp>
        <p:nvSpPr>
          <p:cNvPr id="10" name="Chevron 9"/>
          <p:cNvSpPr/>
          <p:nvPr/>
        </p:nvSpPr>
        <p:spPr>
          <a:xfrm>
            <a:off x="8138160" y="4206240"/>
            <a:ext cx="2834640" cy="777240"/>
          </a:xfrm>
          <a:prstGeom prst="chevr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4379976"/>
            <a:ext cx="1920240" cy="457200"/>
          </a:xfrm>
          <a:prstGeom prst="rect">
            <a:avLst/>
          </a:prstGeom>
          <a:noFill/>
        </p:spPr>
        <p:txBody>
          <a:bodyPr wrap="square">
            <a:spAutoFit/>
          </a:bodyPr>
          <a:lstStyle/>
          <a:p>
            <a:pPr>
              <a:defRPr sz="1700" b="1">
                <a:solidFill>
                  <a:srgbClr val="0A1D33"/>
                </a:solidFill>
                <a:latin typeface="Aptos"/>
              </a:defRPr>
            </a:pPr>
            <a:r>
              <a:t>Review</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Scenario analysis method</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Start with purpose, authority, facts and affected people.</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Compare options, mandatory gates and residual consequences.</a:t>
            </a:r>
          </a:p>
        </p:txBody>
      </p:sp>
      <p:sp>
        <p:nvSpPr>
          <p:cNvPr id="6" name="Hexagon 5"/>
          <p:cNvSpPr/>
          <p:nvPr/>
        </p:nvSpPr>
        <p:spPr>
          <a:xfrm>
            <a:off x="8321040" y="1417320"/>
            <a:ext cx="2103120" cy="1069848"/>
          </a:xfrm>
          <a:prstGeom prst="hexag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728216"/>
            <a:ext cx="1645920" cy="457200"/>
          </a:xfrm>
          <a:prstGeom prst="rect">
            <a:avLst/>
          </a:prstGeom>
          <a:noFill/>
        </p:spPr>
        <p:txBody>
          <a:bodyPr wrap="square">
            <a:spAutoFit/>
          </a:bodyPr>
          <a:lstStyle/>
          <a:p>
            <a:pPr>
              <a:defRPr sz="1600" b="1">
                <a:solidFill>
                  <a:srgbClr val="0A1D33"/>
                </a:solidFill>
                <a:latin typeface="Aptos"/>
              </a:defRPr>
            </a:pPr>
            <a:r>
              <a:t>Source</a:t>
            </a:r>
          </a:p>
        </p:txBody>
      </p:sp>
      <p:sp>
        <p:nvSpPr>
          <p:cNvPr id="8" name="Hexagon 7"/>
          <p:cNvSpPr/>
          <p:nvPr/>
        </p:nvSpPr>
        <p:spPr>
          <a:xfrm>
            <a:off x="8641080" y="2670048"/>
            <a:ext cx="2103120" cy="1069848"/>
          </a:xfrm>
          <a:prstGeom prst="hexag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7967" y="2980944"/>
            <a:ext cx="1645920" cy="457200"/>
          </a:xfrm>
          <a:prstGeom prst="rect">
            <a:avLst/>
          </a:prstGeom>
          <a:noFill/>
        </p:spPr>
        <p:txBody>
          <a:bodyPr wrap="square">
            <a:spAutoFit/>
          </a:bodyPr>
          <a:lstStyle/>
          <a:p>
            <a:pPr>
              <a:defRPr sz="1600" b="1">
                <a:solidFill>
                  <a:srgbClr val="0A1D33"/>
                </a:solidFill>
                <a:latin typeface="Aptos"/>
              </a:defRPr>
            </a:pPr>
            <a:r>
              <a:t>Risk</a:t>
            </a:r>
          </a:p>
        </p:txBody>
      </p:sp>
      <p:sp>
        <p:nvSpPr>
          <p:cNvPr id="10" name="Hexagon 9"/>
          <p:cNvSpPr/>
          <p:nvPr/>
        </p:nvSpPr>
        <p:spPr>
          <a:xfrm>
            <a:off x="8961119" y="3922776"/>
            <a:ext cx="2103120" cy="1069848"/>
          </a:xfrm>
          <a:prstGeom prst="hexag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08007" y="4233672"/>
            <a:ext cx="1645920" cy="457200"/>
          </a:xfrm>
          <a:prstGeom prst="rect">
            <a:avLst/>
          </a:prstGeom>
          <a:noFill/>
        </p:spPr>
        <p:txBody>
          <a:bodyPr wrap="square">
            <a:spAutoFit/>
          </a:bodyPr>
          <a:lstStyle/>
          <a:p>
            <a:pPr>
              <a:defRPr sz="1600" b="1">
                <a:solidFill>
                  <a:srgbClr val="0A1D33"/>
                </a:solidFill>
                <a:latin typeface="Aptos"/>
              </a:defRPr>
            </a:pPr>
            <a:r>
              <a:t>Control</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Evidence and obligation ledger</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Separate verified facts from assumptions and local policy claims.</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Trace sources, contradictions and reviewer decisions.</a:t>
            </a:r>
          </a:p>
        </p:txBody>
      </p:sp>
      <p:sp>
        <p:nvSpPr>
          <p:cNvPr id="6" name="Oval 5"/>
          <p:cNvSpPr/>
          <p:nvPr/>
        </p:nvSpPr>
        <p:spPr>
          <a:xfrm>
            <a:off x="8321040" y="1828800"/>
            <a:ext cx="1600200" cy="1600200"/>
          </a:xfrm>
          <a:prstGeom prst="ellipse">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2350008"/>
            <a:ext cx="1508760" cy="475488"/>
          </a:xfrm>
          <a:prstGeom prst="rect">
            <a:avLst/>
          </a:prstGeom>
          <a:noFill/>
        </p:spPr>
        <p:txBody>
          <a:bodyPr wrap="square">
            <a:spAutoFit/>
          </a:bodyPr>
          <a:lstStyle/>
          <a:p>
            <a:pPr>
              <a:defRPr sz="1400" b="1">
                <a:solidFill>
                  <a:srgbClr val="0A1D33"/>
                </a:solidFill>
                <a:latin typeface="Aptos"/>
              </a:defRPr>
            </a:pPr>
            <a:r>
              <a:t>Authority</a:t>
            </a:r>
          </a:p>
        </p:txBody>
      </p:sp>
      <p:sp>
        <p:nvSpPr>
          <p:cNvPr id="8" name="Oval 7"/>
          <p:cNvSpPr/>
          <p:nvPr/>
        </p:nvSpPr>
        <p:spPr>
          <a:xfrm>
            <a:off x="8915400" y="2788920"/>
            <a:ext cx="1600200" cy="1600200"/>
          </a:xfrm>
          <a:prstGeom prst="ellipse">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3310128"/>
            <a:ext cx="1508760" cy="475488"/>
          </a:xfrm>
          <a:prstGeom prst="rect">
            <a:avLst/>
          </a:prstGeom>
          <a:noFill/>
        </p:spPr>
        <p:txBody>
          <a:bodyPr wrap="square">
            <a:spAutoFit/>
          </a:bodyPr>
          <a:lstStyle/>
          <a:p>
            <a:pPr>
              <a:defRPr sz="1400" b="1">
                <a:solidFill>
                  <a:srgbClr val="0A1D33"/>
                </a:solidFill>
                <a:latin typeface="Aptos"/>
              </a:defRPr>
            </a:pPr>
            <a:r>
              <a:t>Evidence</a:t>
            </a:r>
          </a:p>
        </p:txBody>
      </p:sp>
      <p:sp>
        <p:nvSpPr>
          <p:cNvPr id="10" name="Oval 9"/>
          <p:cNvSpPr/>
          <p:nvPr/>
        </p:nvSpPr>
        <p:spPr>
          <a:xfrm>
            <a:off x="9509760" y="3749039"/>
            <a:ext cx="1600200" cy="1600200"/>
          </a:xfrm>
          <a:prstGeom prst="ellipse">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55480" y="4270248"/>
            <a:ext cx="1508760" cy="475488"/>
          </a:xfrm>
          <a:prstGeom prst="rect">
            <a:avLst/>
          </a:prstGeom>
          <a:noFill/>
        </p:spPr>
        <p:txBody>
          <a:bodyPr wrap="square">
            <a:spAutoFit/>
          </a:bodyPr>
          <a:lstStyle/>
          <a:p>
            <a:pPr>
              <a:defRPr sz="1400" b="1">
                <a:solidFill>
                  <a:srgbClr val="0A1D33"/>
                </a:solidFill>
                <a:latin typeface="Aptos"/>
              </a:defRPr>
            </a:pPr>
            <a:r>
              <a:t>Decision</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The AI task specification</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Request issue extraction, counterarguments and draft structure.</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Exclude protected inputs and forbid invented authority.</a:t>
            </a:r>
          </a:p>
        </p:txBody>
      </p:sp>
      <p:sp>
        <p:nvSpPr>
          <p:cNvPr id="6" name="Chevron 5"/>
          <p:cNvSpPr/>
          <p:nvPr/>
        </p:nvSpPr>
        <p:spPr>
          <a:xfrm>
            <a:off x="8138160" y="1645920"/>
            <a:ext cx="2834640" cy="777240"/>
          </a:xfrm>
          <a:prstGeom prst="chevr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819656"/>
            <a:ext cx="1920240" cy="457200"/>
          </a:xfrm>
          <a:prstGeom prst="rect">
            <a:avLst/>
          </a:prstGeom>
          <a:noFill/>
        </p:spPr>
        <p:txBody>
          <a:bodyPr wrap="square">
            <a:spAutoFit/>
          </a:bodyPr>
          <a:lstStyle/>
          <a:p>
            <a:pPr>
              <a:defRPr sz="1700" b="1">
                <a:solidFill>
                  <a:srgbClr val="0A1D33"/>
                </a:solidFill>
                <a:latin typeface="Aptos"/>
              </a:defRPr>
            </a:pPr>
            <a:r>
              <a:t>Purpose</a:t>
            </a:r>
          </a:p>
        </p:txBody>
      </p:sp>
      <p:sp>
        <p:nvSpPr>
          <p:cNvPr id="8" name="Chevron 7"/>
          <p:cNvSpPr/>
          <p:nvPr/>
        </p:nvSpPr>
        <p:spPr>
          <a:xfrm>
            <a:off x="8138160" y="2926080"/>
            <a:ext cx="2834640" cy="777240"/>
          </a:xfrm>
          <a:prstGeom prst="chevr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3099815"/>
            <a:ext cx="1920240" cy="457200"/>
          </a:xfrm>
          <a:prstGeom prst="rect">
            <a:avLst/>
          </a:prstGeom>
          <a:noFill/>
        </p:spPr>
        <p:txBody>
          <a:bodyPr wrap="square">
            <a:spAutoFit/>
          </a:bodyPr>
          <a:lstStyle/>
          <a:p>
            <a:pPr>
              <a:defRPr sz="1700" b="1">
                <a:solidFill>
                  <a:srgbClr val="0A1D33"/>
                </a:solidFill>
                <a:latin typeface="Aptos"/>
              </a:defRPr>
            </a:pPr>
            <a:r>
              <a:t>Check</a:t>
            </a:r>
          </a:p>
        </p:txBody>
      </p:sp>
      <p:sp>
        <p:nvSpPr>
          <p:cNvPr id="10" name="Chevron 9"/>
          <p:cNvSpPr/>
          <p:nvPr/>
        </p:nvSpPr>
        <p:spPr>
          <a:xfrm>
            <a:off x="8138160" y="4206240"/>
            <a:ext cx="2834640" cy="777240"/>
          </a:xfrm>
          <a:prstGeom prst="chevr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4379976"/>
            <a:ext cx="1920240" cy="457200"/>
          </a:xfrm>
          <a:prstGeom prst="rect">
            <a:avLst/>
          </a:prstGeom>
          <a:noFill/>
        </p:spPr>
        <p:txBody>
          <a:bodyPr wrap="square">
            <a:spAutoFit/>
          </a:bodyPr>
          <a:lstStyle/>
          <a:p>
            <a:pPr>
              <a:defRPr sz="1700" b="1">
                <a:solidFill>
                  <a:srgbClr val="0A1D33"/>
                </a:solidFill>
                <a:latin typeface="Aptos"/>
              </a:defRPr>
            </a:pPr>
            <a:r>
              <a:t>Review</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Adversarial challenge</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Test persuasive output for omissions, bias and false legal claims.</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Independent source checks decide what may be retained.</a:t>
            </a:r>
          </a:p>
        </p:txBody>
      </p:sp>
      <p:sp>
        <p:nvSpPr>
          <p:cNvPr id="6" name="Hexagon 5"/>
          <p:cNvSpPr/>
          <p:nvPr/>
        </p:nvSpPr>
        <p:spPr>
          <a:xfrm>
            <a:off x="8321040" y="1417320"/>
            <a:ext cx="2103120" cy="1069848"/>
          </a:xfrm>
          <a:prstGeom prst="hexag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728216"/>
            <a:ext cx="1645920" cy="457200"/>
          </a:xfrm>
          <a:prstGeom prst="rect">
            <a:avLst/>
          </a:prstGeom>
          <a:noFill/>
        </p:spPr>
        <p:txBody>
          <a:bodyPr wrap="square">
            <a:spAutoFit/>
          </a:bodyPr>
          <a:lstStyle/>
          <a:p>
            <a:pPr>
              <a:defRPr sz="1600" b="1">
                <a:solidFill>
                  <a:srgbClr val="0A1D33"/>
                </a:solidFill>
                <a:latin typeface="Aptos"/>
              </a:defRPr>
            </a:pPr>
            <a:r>
              <a:t>Source</a:t>
            </a:r>
          </a:p>
        </p:txBody>
      </p:sp>
      <p:sp>
        <p:nvSpPr>
          <p:cNvPr id="8" name="Hexagon 7"/>
          <p:cNvSpPr/>
          <p:nvPr/>
        </p:nvSpPr>
        <p:spPr>
          <a:xfrm>
            <a:off x="8641080" y="2670048"/>
            <a:ext cx="2103120" cy="1069848"/>
          </a:xfrm>
          <a:prstGeom prst="hexag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7967" y="2980944"/>
            <a:ext cx="1645920" cy="457200"/>
          </a:xfrm>
          <a:prstGeom prst="rect">
            <a:avLst/>
          </a:prstGeom>
          <a:noFill/>
        </p:spPr>
        <p:txBody>
          <a:bodyPr wrap="square">
            <a:spAutoFit/>
          </a:bodyPr>
          <a:lstStyle/>
          <a:p>
            <a:pPr>
              <a:defRPr sz="1600" b="1">
                <a:solidFill>
                  <a:srgbClr val="0A1D33"/>
                </a:solidFill>
                <a:latin typeface="Aptos"/>
              </a:defRPr>
            </a:pPr>
            <a:r>
              <a:t>Risk</a:t>
            </a:r>
          </a:p>
        </p:txBody>
      </p:sp>
      <p:sp>
        <p:nvSpPr>
          <p:cNvPr id="10" name="Hexagon 9"/>
          <p:cNvSpPr/>
          <p:nvPr/>
        </p:nvSpPr>
        <p:spPr>
          <a:xfrm>
            <a:off x="8961119" y="3922776"/>
            <a:ext cx="2103120" cy="1069848"/>
          </a:xfrm>
          <a:prstGeom prst="hexag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08007" y="4233672"/>
            <a:ext cx="1645920" cy="457200"/>
          </a:xfrm>
          <a:prstGeom prst="rect">
            <a:avLst/>
          </a:prstGeom>
          <a:noFill/>
        </p:spPr>
        <p:txBody>
          <a:bodyPr wrap="square">
            <a:spAutoFit/>
          </a:bodyPr>
          <a:lstStyle/>
          <a:p>
            <a:pPr>
              <a:defRPr sz="1600" b="1">
                <a:solidFill>
                  <a:srgbClr val="0A1D33"/>
                </a:solidFill>
                <a:latin typeface="Aptos"/>
              </a:defRPr>
            </a:pPr>
            <a:r>
              <a:t>Control</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18</a:t>
            </a:r>
          </a:p>
        </p:txBody>
      </p:sp>
      <p:sp>
        <p:nvSpPr>
          <p:cNvPr id="13" name="Rectangle 12"/>
          <p:cNvSpPr/>
          <p:nvPr/>
        </p:nvSpPr>
        <p:spPr>
          <a:xfrm>
            <a:off x="7936992" y="1490472"/>
            <a:ext cx="3803904" cy="4187952"/>
          </a:xfrm>
          <a:prstGeom prst="rect">
            <a:avLst/>
          </a:prstGeom>
          <a:solidFill>
            <a:srgbClr val="189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3_evidence_challenge.png"/>
          <p:cNvPicPr>
            <a:picLocks noChangeAspect="1"/>
          </p:cNvPicPr>
          <p:nvPr/>
        </p:nvPicPr>
        <p:blipFill>
          <a:blip r:embed="rId3"/>
          <a:stretch>
            <a:fillRect/>
          </a:stretch>
        </p:blipFill>
        <p:spPr>
          <a:xfrm>
            <a:off x="7982712" y="1536192"/>
            <a:ext cx="3712463" cy="409651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The judgement memorandum</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Document decision, evidence, options, safeguards and review.</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The accountable official chooses a disposition and signs.</a:t>
            </a:r>
          </a:p>
        </p:txBody>
      </p:sp>
      <p:sp>
        <p:nvSpPr>
          <p:cNvPr id="6" name="Oval 5"/>
          <p:cNvSpPr/>
          <p:nvPr/>
        </p:nvSpPr>
        <p:spPr>
          <a:xfrm>
            <a:off x="8321040" y="1828800"/>
            <a:ext cx="1600200" cy="1600200"/>
          </a:xfrm>
          <a:prstGeom prst="ellipse">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2350008"/>
            <a:ext cx="1508760" cy="475488"/>
          </a:xfrm>
          <a:prstGeom prst="rect">
            <a:avLst/>
          </a:prstGeom>
          <a:noFill/>
        </p:spPr>
        <p:txBody>
          <a:bodyPr wrap="square">
            <a:spAutoFit/>
          </a:bodyPr>
          <a:lstStyle/>
          <a:p>
            <a:pPr>
              <a:defRPr sz="1400" b="1">
                <a:solidFill>
                  <a:srgbClr val="0A1D33"/>
                </a:solidFill>
                <a:latin typeface="Aptos"/>
              </a:defRPr>
            </a:pPr>
            <a:r>
              <a:t>Authority</a:t>
            </a:r>
          </a:p>
        </p:txBody>
      </p:sp>
      <p:sp>
        <p:nvSpPr>
          <p:cNvPr id="8" name="Oval 7"/>
          <p:cNvSpPr/>
          <p:nvPr/>
        </p:nvSpPr>
        <p:spPr>
          <a:xfrm>
            <a:off x="8915400" y="2788920"/>
            <a:ext cx="1600200" cy="1600200"/>
          </a:xfrm>
          <a:prstGeom prst="ellipse">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3310128"/>
            <a:ext cx="1508760" cy="475488"/>
          </a:xfrm>
          <a:prstGeom prst="rect">
            <a:avLst/>
          </a:prstGeom>
          <a:noFill/>
        </p:spPr>
        <p:txBody>
          <a:bodyPr wrap="square">
            <a:spAutoFit/>
          </a:bodyPr>
          <a:lstStyle/>
          <a:p>
            <a:pPr>
              <a:defRPr sz="1400" b="1">
                <a:solidFill>
                  <a:srgbClr val="0A1D33"/>
                </a:solidFill>
                <a:latin typeface="Aptos"/>
              </a:defRPr>
            </a:pPr>
            <a:r>
              <a:t>Evidence</a:t>
            </a:r>
          </a:p>
        </p:txBody>
      </p:sp>
      <p:sp>
        <p:nvSpPr>
          <p:cNvPr id="10" name="Oval 9"/>
          <p:cNvSpPr/>
          <p:nvPr/>
        </p:nvSpPr>
        <p:spPr>
          <a:xfrm>
            <a:off x="9509760" y="3749039"/>
            <a:ext cx="1600200" cy="1600200"/>
          </a:xfrm>
          <a:prstGeom prst="ellipse">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55480" y="4270248"/>
            <a:ext cx="1508760" cy="475488"/>
          </a:xfrm>
          <a:prstGeom prst="rect">
            <a:avLst/>
          </a:prstGeom>
          <a:noFill/>
        </p:spPr>
        <p:txBody>
          <a:bodyPr wrap="square">
            <a:spAutoFit/>
          </a:bodyPr>
          <a:lstStyle/>
          <a:p>
            <a:pPr>
              <a:defRPr sz="1400" b="1">
                <a:solidFill>
                  <a:srgbClr val="0A1D33"/>
                </a:solidFill>
                <a:latin typeface="Aptos"/>
              </a:defRPr>
            </a:pPr>
            <a:r>
              <a:t>Decision</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19</a:t>
            </a:r>
          </a:p>
        </p:txBody>
      </p:sp>
      <p:sp>
        <p:nvSpPr>
          <p:cNvPr id="13" name="Rectangle 12"/>
          <p:cNvSpPr/>
          <p:nvPr/>
        </p:nvSpPr>
        <p:spPr>
          <a:xfrm>
            <a:off x="7936992" y="1490472"/>
            <a:ext cx="3803904" cy="4187952"/>
          </a:xfrm>
          <a:prstGeom prst="rect">
            <a:avLst/>
          </a:prstGeom>
          <a:solidFill>
            <a:srgbClr val="189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4_accountable_decision.png"/>
          <p:cNvPicPr>
            <a:picLocks noChangeAspect="1"/>
          </p:cNvPicPr>
          <p:nvPr/>
        </p:nvPicPr>
        <p:blipFill>
          <a:blip r:embed="rId3"/>
          <a:stretch>
            <a:fillRect/>
          </a:stretch>
        </p:blipFill>
        <p:spPr>
          <a:xfrm>
            <a:off x="7982712" y="1536192"/>
            <a:ext cx="3712463" cy="409651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Case one: publication pressure</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A small quarterly change and frame break cannot support a certain headline.</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Stop the misleading release and correct the evidence trail.</a:t>
            </a:r>
          </a:p>
        </p:txBody>
      </p:sp>
      <p:sp>
        <p:nvSpPr>
          <p:cNvPr id="6" name="Chevron 5"/>
          <p:cNvSpPr/>
          <p:nvPr/>
        </p:nvSpPr>
        <p:spPr>
          <a:xfrm>
            <a:off x="8138160" y="1645920"/>
            <a:ext cx="2834640" cy="777240"/>
          </a:xfrm>
          <a:prstGeom prst="chevr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819656"/>
            <a:ext cx="1920240" cy="457200"/>
          </a:xfrm>
          <a:prstGeom prst="rect">
            <a:avLst/>
          </a:prstGeom>
          <a:noFill/>
        </p:spPr>
        <p:txBody>
          <a:bodyPr wrap="square">
            <a:spAutoFit/>
          </a:bodyPr>
          <a:lstStyle/>
          <a:p>
            <a:pPr>
              <a:defRPr sz="1700" b="1">
                <a:solidFill>
                  <a:srgbClr val="0A1D33"/>
                </a:solidFill>
                <a:latin typeface="Aptos"/>
              </a:defRPr>
            </a:pPr>
            <a:r>
              <a:t>Purpose</a:t>
            </a:r>
          </a:p>
        </p:txBody>
      </p:sp>
      <p:sp>
        <p:nvSpPr>
          <p:cNvPr id="8" name="Chevron 7"/>
          <p:cNvSpPr/>
          <p:nvPr/>
        </p:nvSpPr>
        <p:spPr>
          <a:xfrm>
            <a:off x="8138160" y="2926080"/>
            <a:ext cx="2834640" cy="777240"/>
          </a:xfrm>
          <a:prstGeom prst="chevr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3099815"/>
            <a:ext cx="1920240" cy="457200"/>
          </a:xfrm>
          <a:prstGeom prst="rect">
            <a:avLst/>
          </a:prstGeom>
          <a:noFill/>
        </p:spPr>
        <p:txBody>
          <a:bodyPr wrap="square">
            <a:spAutoFit/>
          </a:bodyPr>
          <a:lstStyle/>
          <a:p>
            <a:pPr>
              <a:defRPr sz="1700" b="1">
                <a:solidFill>
                  <a:srgbClr val="0A1D33"/>
                </a:solidFill>
                <a:latin typeface="Aptos"/>
              </a:defRPr>
            </a:pPr>
            <a:r>
              <a:t>Check</a:t>
            </a:r>
          </a:p>
        </p:txBody>
      </p:sp>
      <p:sp>
        <p:nvSpPr>
          <p:cNvPr id="10" name="Chevron 9"/>
          <p:cNvSpPr/>
          <p:nvPr/>
        </p:nvSpPr>
        <p:spPr>
          <a:xfrm>
            <a:off x="8138160" y="4206240"/>
            <a:ext cx="2834640" cy="777240"/>
          </a:xfrm>
          <a:prstGeom prst="chevr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4379976"/>
            <a:ext cx="1920240" cy="457200"/>
          </a:xfrm>
          <a:prstGeom prst="rect">
            <a:avLst/>
          </a:prstGeom>
          <a:noFill/>
        </p:spPr>
        <p:txBody>
          <a:bodyPr wrap="square">
            <a:spAutoFit/>
          </a:bodyPr>
          <a:lstStyle/>
          <a:p>
            <a:pPr>
              <a:defRPr sz="1700" b="1">
                <a:solidFill>
                  <a:srgbClr val="0A1D33"/>
                </a:solidFill>
                <a:latin typeface="Aptos"/>
              </a:defRPr>
            </a:pPr>
            <a:r>
              <a:t>Review</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1BA6A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Case two: confidential records</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Removing names from narratives does not clear external processing.</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Reject an unapproved upload and test synthetic examples safely.</a:t>
            </a:r>
          </a:p>
        </p:txBody>
      </p:sp>
      <p:sp>
        <p:nvSpPr>
          <p:cNvPr id="6" name="Hexagon 5"/>
          <p:cNvSpPr/>
          <p:nvPr/>
        </p:nvSpPr>
        <p:spPr>
          <a:xfrm>
            <a:off x="8321040" y="1417320"/>
            <a:ext cx="2103120" cy="1069848"/>
          </a:xfrm>
          <a:prstGeom prst="hexagon">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728216"/>
            <a:ext cx="1645920" cy="457200"/>
          </a:xfrm>
          <a:prstGeom prst="rect">
            <a:avLst/>
          </a:prstGeom>
          <a:noFill/>
        </p:spPr>
        <p:txBody>
          <a:bodyPr wrap="square">
            <a:spAutoFit/>
          </a:bodyPr>
          <a:lstStyle/>
          <a:p>
            <a:pPr>
              <a:defRPr sz="1600" b="1">
                <a:solidFill>
                  <a:srgbClr val="0A1D33"/>
                </a:solidFill>
                <a:latin typeface="Aptos"/>
              </a:defRPr>
            </a:pPr>
            <a:r>
              <a:t>Source</a:t>
            </a:r>
          </a:p>
        </p:txBody>
      </p:sp>
      <p:sp>
        <p:nvSpPr>
          <p:cNvPr id="8" name="Hexagon 7"/>
          <p:cNvSpPr/>
          <p:nvPr/>
        </p:nvSpPr>
        <p:spPr>
          <a:xfrm>
            <a:off x="8641080" y="2670048"/>
            <a:ext cx="2103120" cy="1069848"/>
          </a:xfrm>
          <a:prstGeom prst="hexagon">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7967" y="2980944"/>
            <a:ext cx="1645920" cy="457200"/>
          </a:xfrm>
          <a:prstGeom prst="rect">
            <a:avLst/>
          </a:prstGeom>
          <a:noFill/>
        </p:spPr>
        <p:txBody>
          <a:bodyPr wrap="square">
            <a:spAutoFit/>
          </a:bodyPr>
          <a:lstStyle/>
          <a:p>
            <a:pPr>
              <a:defRPr sz="1600" b="1">
                <a:solidFill>
                  <a:srgbClr val="0A1D33"/>
                </a:solidFill>
                <a:latin typeface="Aptos"/>
              </a:defRPr>
            </a:pPr>
            <a:r>
              <a:t>Risk</a:t>
            </a:r>
          </a:p>
        </p:txBody>
      </p:sp>
      <p:sp>
        <p:nvSpPr>
          <p:cNvPr id="10" name="Hexagon 9"/>
          <p:cNvSpPr/>
          <p:nvPr/>
        </p:nvSpPr>
        <p:spPr>
          <a:xfrm>
            <a:off x="8961119" y="3922776"/>
            <a:ext cx="2103120" cy="1069848"/>
          </a:xfrm>
          <a:prstGeom prst="hexagon">
            <a:avLst/>
          </a:prstGeom>
          <a:solidFill>
            <a:srgbClr val="ABC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08007" y="4233672"/>
            <a:ext cx="1645920" cy="457200"/>
          </a:xfrm>
          <a:prstGeom prst="rect">
            <a:avLst/>
          </a:prstGeom>
          <a:noFill/>
        </p:spPr>
        <p:txBody>
          <a:bodyPr wrap="square">
            <a:spAutoFit/>
          </a:bodyPr>
          <a:lstStyle/>
          <a:p>
            <a:pPr>
              <a:defRPr sz="1600" b="1">
                <a:solidFill>
                  <a:srgbClr val="0A1D33"/>
                </a:solidFill>
                <a:latin typeface="Aptos"/>
              </a:defRPr>
            </a:pPr>
            <a:r>
              <a:t>Control</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D33"/>
        </a:solidFill>
        <a:effectLst/>
      </p:bgPr>
    </p:bg>
    <p:spTree>
      <p:nvGrpSpPr>
        <p:cNvPr id="1" name=""/>
        <p:cNvGrpSpPr/>
        <p:nvPr/>
      </p:nvGrpSpPr>
      <p:grpSpPr/>
      <p:sp>
        <p:nvSpPr>
          <p:cNvPr id="2" name="Rectangle 1"/>
          <p:cNvSpPr/>
          <p:nvPr/>
        </p:nvSpPr>
        <p:spPr>
          <a:xfrm>
            <a:off x="502920" y="594360"/>
            <a:ext cx="73152" cy="5440680"/>
          </a:xfrm>
          <a:prstGeom prst="rect">
            <a:avLst/>
          </a:prstGeom>
          <a:solidFill>
            <a:srgbClr val="DDAE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75488"/>
            <a:ext cx="9966960" cy="594360"/>
          </a:xfrm>
          <a:prstGeom prst="rect">
            <a:avLst/>
          </a:prstGeom>
          <a:noFill/>
        </p:spPr>
        <p:txBody>
          <a:bodyPr wrap="square">
            <a:spAutoFit/>
          </a:bodyPr>
          <a:lstStyle/>
          <a:p>
            <a:pPr>
              <a:defRPr sz="2900" b="1">
                <a:solidFill>
                  <a:srgbClr val="F5F7F9"/>
                </a:solidFill>
                <a:latin typeface="Aptos"/>
              </a:defRPr>
            </a:pPr>
            <a:r>
              <a:t>Assessment and workplace transfer</a:t>
            </a:r>
          </a:p>
        </p:txBody>
      </p:sp>
      <p:sp>
        <p:nvSpPr>
          <p:cNvPr id="4" name="TextBox 3"/>
          <p:cNvSpPr txBox="1"/>
          <p:nvPr/>
        </p:nvSpPr>
        <p:spPr>
          <a:xfrm>
            <a:off x="914400" y="1572768"/>
            <a:ext cx="6675120" cy="1234440"/>
          </a:xfrm>
          <a:prstGeom prst="rect">
            <a:avLst/>
          </a:prstGeom>
          <a:noFill/>
        </p:spPr>
        <p:txBody>
          <a:bodyPr wrap="square">
            <a:spAutoFit/>
          </a:bodyPr>
          <a:lstStyle/>
          <a:p>
            <a:pPr>
              <a:defRPr sz="2300" b="0">
                <a:solidFill>
                  <a:srgbClr val="F5F7F9"/>
                </a:solidFill>
                <a:latin typeface="Aptos"/>
              </a:defRPr>
            </a:pPr>
            <a:r>
              <a:t>Deliver a defended memorandum and controlled reuse procedure.</a:t>
            </a:r>
          </a:p>
        </p:txBody>
      </p:sp>
      <p:sp>
        <p:nvSpPr>
          <p:cNvPr id="5" name="TextBox 4"/>
          <p:cNvSpPr txBox="1"/>
          <p:nvPr/>
        </p:nvSpPr>
        <p:spPr>
          <a:xfrm>
            <a:off x="914400" y="3273552"/>
            <a:ext cx="6675120" cy="1325880"/>
          </a:xfrm>
          <a:prstGeom prst="rect">
            <a:avLst/>
          </a:prstGeom>
          <a:noFill/>
        </p:spPr>
        <p:txBody>
          <a:bodyPr wrap="square">
            <a:spAutoFit/>
          </a:bodyPr>
          <a:lstStyle/>
          <a:p>
            <a:pPr>
              <a:defRPr sz="2300" b="0">
                <a:solidFill>
                  <a:srgbClr val="ABC4D3"/>
                </a:solidFill>
                <a:latin typeface="Aptos"/>
              </a:defRPr>
            </a:pPr>
            <a:r>
              <a:t>Localize authority, approved tools and incident routes before use.</a:t>
            </a:r>
          </a:p>
        </p:txBody>
      </p:sp>
      <p:sp>
        <p:nvSpPr>
          <p:cNvPr id="6" name="Oval 5"/>
          <p:cNvSpPr/>
          <p:nvPr/>
        </p:nvSpPr>
        <p:spPr>
          <a:xfrm>
            <a:off x="8321040" y="1828800"/>
            <a:ext cx="1600200" cy="1600200"/>
          </a:xfrm>
          <a:prstGeom prst="ellipse">
            <a:avLst/>
          </a:prstGeom>
          <a:solidFill>
            <a:srgbClr val="DDA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2350008"/>
            <a:ext cx="1508760" cy="475488"/>
          </a:xfrm>
          <a:prstGeom prst="rect">
            <a:avLst/>
          </a:prstGeom>
          <a:noFill/>
        </p:spPr>
        <p:txBody>
          <a:bodyPr wrap="square">
            <a:spAutoFit/>
          </a:bodyPr>
          <a:lstStyle/>
          <a:p>
            <a:pPr>
              <a:defRPr sz="1400" b="1">
                <a:solidFill>
                  <a:srgbClr val="0A1D33"/>
                </a:solidFill>
                <a:latin typeface="Aptos"/>
              </a:defRPr>
            </a:pPr>
            <a:r>
              <a:t>Authority</a:t>
            </a:r>
          </a:p>
        </p:txBody>
      </p:sp>
      <p:sp>
        <p:nvSpPr>
          <p:cNvPr id="8" name="Oval 7"/>
          <p:cNvSpPr/>
          <p:nvPr/>
        </p:nvSpPr>
        <p:spPr>
          <a:xfrm>
            <a:off x="8915400" y="2788920"/>
            <a:ext cx="1600200" cy="1600200"/>
          </a:xfrm>
          <a:prstGeom prst="ellipse">
            <a:avLst/>
          </a:prstGeom>
          <a:solidFill>
            <a:srgbClr val="1BA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3310128"/>
            <a:ext cx="1508760" cy="475488"/>
          </a:xfrm>
          <a:prstGeom prst="rect">
            <a:avLst/>
          </a:prstGeom>
          <a:noFill/>
        </p:spPr>
        <p:txBody>
          <a:bodyPr wrap="square">
            <a:spAutoFit/>
          </a:bodyPr>
          <a:lstStyle/>
          <a:p>
            <a:pPr>
              <a:defRPr sz="1400" b="1">
                <a:solidFill>
                  <a:srgbClr val="0A1D33"/>
                </a:solidFill>
                <a:latin typeface="Aptos"/>
              </a:defRPr>
            </a:pPr>
            <a:r>
              <a:t>Evidence</a:t>
            </a:r>
          </a:p>
        </p:txBody>
      </p:sp>
      <p:sp>
        <p:nvSpPr>
          <p:cNvPr id="10" name="Oval 9"/>
          <p:cNvSpPr/>
          <p:nvPr/>
        </p:nvSpPr>
        <p:spPr>
          <a:xfrm>
            <a:off x="9509760" y="3749039"/>
            <a:ext cx="1600200" cy="1600200"/>
          </a:xfrm>
          <a:prstGeom prst="ellipse">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55480" y="4270248"/>
            <a:ext cx="1508760" cy="475488"/>
          </a:xfrm>
          <a:prstGeom prst="rect">
            <a:avLst/>
          </a:prstGeom>
          <a:noFill/>
        </p:spPr>
        <p:txBody>
          <a:bodyPr wrap="square">
            <a:spAutoFit/>
          </a:bodyPr>
          <a:lstStyle/>
          <a:p>
            <a:pPr>
              <a:defRPr sz="1400" b="1">
                <a:solidFill>
                  <a:srgbClr val="0A1D33"/>
                </a:solidFill>
                <a:latin typeface="Aptos"/>
              </a:defRPr>
            </a:pPr>
            <a:r>
              <a:t>Decision</a:t>
            </a:r>
          </a:p>
        </p:txBody>
      </p:sp>
      <p:sp>
        <p:nvSpPr>
          <p:cNvPr id="12" name="TextBox 11"/>
          <p:cNvSpPr txBox="1"/>
          <p:nvPr/>
        </p:nvSpPr>
        <p:spPr>
          <a:xfrm>
            <a:off x="877824" y="6172200"/>
            <a:ext cx="9144000" cy="320040"/>
          </a:xfrm>
          <a:prstGeom prst="rect">
            <a:avLst/>
          </a:prstGeom>
          <a:noFill/>
        </p:spPr>
        <p:txBody>
          <a:bodyPr wrap="square">
            <a:spAutoFit/>
          </a:bodyPr>
          <a:lstStyle/>
          <a:p>
            <a:pPr>
              <a:defRPr sz="1200" b="0">
                <a:solidFill>
                  <a:srgbClr val="ABC4D3"/>
                </a:solidFill>
                <a:latin typeface="Aptos"/>
              </a:defRPr>
            </a:pPr>
            <a:r>
              <a:t>OS-A03  /  Professional Obligations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