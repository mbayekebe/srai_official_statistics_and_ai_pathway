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slides/charts/chart1.xml" ContentType="application/vnd.openxmlformats-officedocument.drawingml.chart+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04d66e16e064b3b" /><Relationship Type="http://schemas.openxmlformats.org/officeDocument/2006/relationships/extended-properties" Target="/docProps/app.xml" Id="Ra3e999b9a68d4bc6" /><Relationship Type="http://schemas.openxmlformats.org/officeDocument/2006/relationships/officeDocument" Target="/ppt/presentation.xml" Id="R3c9d6872eff34b29" /></Relationships>
</file>

<file path=ppt/presentation.xml><?xml version="1.0" encoding="utf-8"?>
<p:presentation xmlns:p="http://schemas.openxmlformats.org/presentationml/2006/main">
  <p:sldMasterIdLst>
    <p:sldMasterId xmlns:r="http://schemas.openxmlformats.org/officeDocument/2006/relationships" id="2147483648" r:id="R0383b09fd4404c5d"/>
  </p:sldMasterIdLst>
  <p:notesMasterIdLst>
    <p:notesMasterId xmlns:r="http://schemas.openxmlformats.org/officeDocument/2006/relationships" r:id="Rde221f79af774e41"/>
  </p:notesMasterIdLst>
  <p:sldIdLst>
    <p:sldId xmlns:r="http://schemas.openxmlformats.org/officeDocument/2006/relationships" id="256" r:id="R01d87b81630948d1"/>
    <p:sldId xmlns:r="http://schemas.openxmlformats.org/officeDocument/2006/relationships" id="257" r:id="R0e43b885fdd44f4a"/>
    <p:sldId xmlns:r="http://schemas.openxmlformats.org/officeDocument/2006/relationships" id="258" r:id="Rb4c2815d978a4c53"/>
    <p:sldId xmlns:r="http://schemas.openxmlformats.org/officeDocument/2006/relationships" id="259" r:id="Rb4ac8a9d31e14e19"/>
    <p:sldId xmlns:r="http://schemas.openxmlformats.org/officeDocument/2006/relationships" id="260" r:id="R5d707cd1819c4efa"/>
    <p:sldId xmlns:r="http://schemas.openxmlformats.org/officeDocument/2006/relationships" id="261" r:id="R03779c7ec1114bc0"/>
    <p:sldId xmlns:r="http://schemas.openxmlformats.org/officeDocument/2006/relationships" id="262" r:id="Rff9f9d4754634eb5"/>
    <p:sldId xmlns:r="http://schemas.openxmlformats.org/officeDocument/2006/relationships" id="263" r:id="Reb328bc8e1d84875"/>
    <p:sldId xmlns:r="http://schemas.openxmlformats.org/officeDocument/2006/relationships" id="264" r:id="Rc1b41861606a4d17"/>
    <p:sldId xmlns:r="http://schemas.openxmlformats.org/officeDocument/2006/relationships" id="265" r:id="R611fc426cb314c00"/>
    <p:sldId xmlns:r="http://schemas.openxmlformats.org/officeDocument/2006/relationships" id="266" r:id="R6d2cae1327be46a2"/>
    <p:sldId xmlns:r="http://schemas.openxmlformats.org/officeDocument/2006/relationships" id="267" r:id="R0147e432f66f493e"/>
    <p:sldId xmlns:r="http://schemas.openxmlformats.org/officeDocument/2006/relationships" id="268" r:id="R041a96d83ef941d6"/>
    <p:sldId xmlns:r="http://schemas.openxmlformats.org/officeDocument/2006/relationships" id="269" r:id="Rac42f80635ab4f99"/>
    <p:sldId xmlns:r="http://schemas.openxmlformats.org/officeDocument/2006/relationships" id="270" r:id="R7fb596ecd4284608"/>
    <p:sldId xmlns:r="http://schemas.openxmlformats.org/officeDocument/2006/relationships" id="271" r:id="R7eff141402f44bd8"/>
    <p:sldId xmlns:r="http://schemas.openxmlformats.org/officeDocument/2006/relationships" id="272" r:id="Rd9a9f3cd58f34bc5"/>
    <p:sldId xmlns:r="http://schemas.openxmlformats.org/officeDocument/2006/relationships" id="273" r:id="Re88753e9c1d04c33"/>
    <p:sldId xmlns:r="http://schemas.openxmlformats.org/officeDocument/2006/relationships" id="274" r:id="R843092284a1443f7"/>
    <p:sldId xmlns:r="http://schemas.openxmlformats.org/officeDocument/2006/relationships" id="275" r:id="Rfd4e50c46f72409d"/>
    <p:sldId xmlns:r="http://schemas.openxmlformats.org/officeDocument/2006/relationships" id="276" r:id="Rea0e709756414b8b"/>
    <p:sldId xmlns:r="http://schemas.openxmlformats.org/officeDocument/2006/relationships" id="277" r:id="R5ff054fae3184b0d"/>
    <p:sldId xmlns:r="http://schemas.openxmlformats.org/officeDocument/2006/relationships" id="278" r:id="R5be1613ace82448e"/>
    <p:sldId xmlns:r="http://schemas.openxmlformats.org/officeDocument/2006/relationships" id="279" r:id="Rcdf2415ed66d4e3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6adb4435a63444f" /><Relationship Type="http://schemas.openxmlformats.org/officeDocument/2006/relationships/slideMaster" Target="/ppt/slideMasters/slideMaster1.xml" Id="R0383b09fd4404c5d" /><Relationship Type="http://schemas.openxmlformats.org/officeDocument/2006/relationships/notesMaster" Target="/ppt/notesMasters/notesMaster1.xml" Id="Rde221f79af774e41" /><Relationship Type="http://schemas.openxmlformats.org/officeDocument/2006/relationships/presProps" Target="/ppt/presProps.xml" Id="R3c6aded30d8442d7" /><Relationship Type="http://schemas.openxmlformats.org/officeDocument/2006/relationships/tableStyles" Target="/ppt/tableStyles.xml" Id="Recb9a510865a40f7" /><Relationship Type="http://schemas.openxmlformats.org/officeDocument/2006/relationships/slide" Target="/ppt/slides/slide1.xml" Id="R01d87b81630948d1" /><Relationship Type="http://schemas.openxmlformats.org/officeDocument/2006/relationships/slide" Target="/ppt/slides/slide2.xml" Id="R0e43b885fdd44f4a" /><Relationship Type="http://schemas.openxmlformats.org/officeDocument/2006/relationships/slide" Target="/ppt/slides/slide3.xml" Id="Rb4c2815d978a4c53" /><Relationship Type="http://schemas.openxmlformats.org/officeDocument/2006/relationships/slide" Target="/ppt/slides/slide4.xml" Id="Rb4ac8a9d31e14e19" /><Relationship Type="http://schemas.openxmlformats.org/officeDocument/2006/relationships/slide" Target="/ppt/slides/slide5.xml" Id="R5d707cd1819c4efa" /><Relationship Type="http://schemas.openxmlformats.org/officeDocument/2006/relationships/slide" Target="/ppt/slides/slide6.xml" Id="R03779c7ec1114bc0" /><Relationship Type="http://schemas.openxmlformats.org/officeDocument/2006/relationships/slide" Target="/ppt/slides/slide7.xml" Id="Rff9f9d4754634eb5" /><Relationship Type="http://schemas.openxmlformats.org/officeDocument/2006/relationships/slide" Target="/ppt/slides/slide8.xml" Id="Reb328bc8e1d84875" /><Relationship Type="http://schemas.openxmlformats.org/officeDocument/2006/relationships/slide" Target="/ppt/slides/slide9.xml" Id="Rc1b41861606a4d17" /><Relationship Type="http://schemas.openxmlformats.org/officeDocument/2006/relationships/slide" Target="/ppt/slides/slide10.xml" Id="R611fc426cb314c00" /><Relationship Type="http://schemas.openxmlformats.org/officeDocument/2006/relationships/slide" Target="/ppt/slides/slide11.xml" Id="R6d2cae1327be46a2" /><Relationship Type="http://schemas.openxmlformats.org/officeDocument/2006/relationships/slide" Target="/ppt/slides/slide12.xml" Id="R0147e432f66f493e" /><Relationship Type="http://schemas.openxmlformats.org/officeDocument/2006/relationships/slide" Target="/ppt/slides/slide13.xml" Id="R041a96d83ef941d6" /><Relationship Type="http://schemas.openxmlformats.org/officeDocument/2006/relationships/slide" Target="/ppt/slides/slide14.xml" Id="Rac42f80635ab4f99" /><Relationship Type="http://schemas.openxmlformats.org/officeDocument/2006/relationships/slide" Target="/ppt/slides/slide15.xml" Id="R7fb596ecd4284608" /><Relationship Type="http://schemas.openxmlformats.org/officeDocument/2006/relationships/slide" Target="/ppt/slides/slide16.xml" Id="R7eff141402f44bd8" /><Relationship Type="http://schemas.openxmlformats.org/officeDocument/2006/relationships/slide" Target="/ppt/slides/slide17.xml" Id="Rd9a9f3cd58f34bc5" /><Relationship Type="http://schemas.openxmlformats.org/officeDocument/2006/relationships/slide" Target="/ppt/slides/slide18.xml" Id="Re88753e9c1d04c33" /><Relationship Type="http://schemas.openxmlformats.org/officeDocument/2006/relationships/slide" Target="/ppt/slides/slide19.xml" Id="R843092284a1443f7" /><Relationship Type="http://schemas.openxmlformats.org/officeDocument/2006/relationships/slide" Target="/ppt/slides/slide20.xml" Id="Rfd4e50c46f72409d" /><Relationship Type="http://schemas.openxmlformats.org/officeDocument/2006/relationships/slide" Target="/ppt/slides/slide21.xml" Id="Rea0e709756414b8b" /><Relationship Type="http://schemas.openxmlformats.org/officeDocument/2006/relationships/slide" Target="/ppt/slides/slide22.xml" Id="R5ff054fae3184b0d" /><Relationship Type="http://schemas.openxmlformats.org/officeDocument/2006/relationships/slide" Target="/ppt/slides/slide23.xml" Id="R5be1613ace82448e" /><Relationship Type="http://schemas.openxmlformats.org/officeDocument/2006/relationships/slide" Target="/ppt/slides/slide24.xml" Id="Rcdf2415ed66d4e3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707f4f81bc34f7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4fe0f184c044fb6" /><Relationship Type="http://schemas.openxmlformats.org/officeDocument/2006/relationships/notesMaster" Target="/ppt/notesMasters/notesMaster1.xml" Id="R14e2419be7794db2" /></Relationships>
</file>

<file path=ppt/notesSlides/_rels/notesSlide2.xml.rels>&#65279;<?xml version="1.0" encoding="utf-8"?><Relationships xmlns="http://schemas.openxmlformats.org/package/2006/relationships"><Relationship Type="http://schemas.openxmlformats.org/officeDocument/2006/relationships/slide" Target="/ppt/slides/slide2.xml" Id="R161a6efcb6d64236" /><Relationship Type="http://schemas.openxmlformats.org/officeDocument/2006/relationships/notesMaster" Target="/ppt/notesMasters/notesMaster1.xml" Id="R373476c063724da5" /></Relationships>
</file>

<file path=ppt/notesSlides/_rels/notesSlide3.xml.rels>&#65279;<?xml version="1.0" encoding="utf-8"?><Relationships xmlns="http://schemas.openxmlformats.org/package/2006/relationships"><Relationship Type="http://schemas.openxmlformats.org/officeDocument/2006/relationships/slide" Target="/ppt/slides/slide3.xml" Id="R51b96623470e489b" /><Relationship Type="http://schemas.openxmlformats.org/officeDocument/2006/relationships/notesMaster" Target="/ppt/notesMasters/notesMaster1.xml" Id="R89db257fa9424a63" /></Relationships>
</file>

<file path=ppt/notesSlides/_rels/notesSlide4.xml.rels>&#65279;<?xml version="1.0" encoding="utf-8"?><Relationships xmlns="http://schemas.openxmlformats.org/package/2006/relationships"><Relationship Type="http://schemas.openxmlformats.org/officeDocument/2006/relationships/slide" Target="/ppt/slides/slide4.xml" Id="R40cf38fe3b874830" /><Relationship Type="http://schemas.openxmlformats.org/officeDocument/2006/relationships/notesMaster" Target="/ppt/notesMasters/notesMaster1.xml" Id="Rca57d14f58a9468c" /></Relationships>
</file>

<file path=ppt/notesSlides/_rels/notesSlide5.xml.rels>&#65279;<?xml version="1.0" encoding="utf-8"?><Relationships xmlns="http://schemas.openxmlformats.org/package/2006/relationships"><Relationship Type="http://schemas.openxmlformats.org/officeDocument/2006/relationships/slide" Target="/ppt/slides/slide5.xml" Id="Ree4f7ffbf5e14ee1" /><Relationship Type="http://schemas.openxmlformats.org/officeDocument/2006/relationships/notesMaster" Target="/ppt/notesMasters/notesMaster1.xml" Id="Rd1c808ce3d354614" /></Relationships>
</file>

<file path=ppt/notesSlides/_rels/notesSlide6.xml.rels>&#65279;<?xml version="1.0" encoding="utf-8"?><Relationships xmlns="http://schemas.openxmlformats.org/package/2006/relationships"><Relationship Type="http://schemas.openxmlformats.org/officeDocument/2006/relationships/slide" Target="/ppt/slides/slide6.xml" Id="R7eb4243426d64ef8" /><Relationship Type="http://schemas.openxmlformats.org/officeDocument/2006/relationships/notesMaster" Target="/ppt/notesMasters/notesMaster1.xml" Id="Rfb03e6943b574bda" /></Relationships>
</file>

<file path=ppt/notesSlides/_rels/notesSlide7.xml.rels>&#65279;<?xml version="1.0" encoding="utf-8"?><Relationships xmlns="http://schemas.openxmlformats.org/package/2006/relationships"><Relationship Type="http://schemas.openxmlformats.org/officeDocument/2006/relationships/slide" Target="/ppt/slides/slide7.xml" Id="Ra6db8c5367a94c4b" /><Relationship Type="http://schemas.openxmlformats.org/officeDocument/2006/relationships/notesMaster" Target="/ppt/notesMasters/notesMaster1.xml" Id="R13c8817423674a2a" /></Relationships>
</file>

<file path=ppt/notesSlides/_rels/notesSlide8.xml.rels>&#65279;<?xml version="1.0" encoding="utf-8"?><Relationships xmlns="http://schemas.openxmlformats.org/package/2006/relationships"><Relationship Type="http://schemas.openxmlformats.org/officeDocument/2006/relationships/slide" Target="/ppt/slides/slide8.xml" Id="Rde629f7c2d8042a8" /><Relationship Type="http://schemas.openxmlformats.org/officeDocument/2006/relationships/notesMaster" Target="/ppt/notesMasters/notesMaster1.xml" Id="Rd305b42a4cdf4bf4" /></Relationships>
</file>

<file path=ppt/notesSlides/_rels/notesSlide9.xml.rels>&#65279;<?xml version="1.0" encoding="utf-8"?><Relationships xmlns="http://schemas.openxmlformats.org/package/2006/relationships"><Relationship Type="http://schemas.openxmlformats.org/officeDocument/2006/relationships/slide" Target="/ppt/slides/slide9.xml" Id="R6e04fa99ec1643e4" /><Relationship Type="http://schemas.openxmlformats.org/officeDocument/2006/relationships/notesMaster" Target="/ppt/notesMasters/notesMaster1.xml" Id="R5105260f163141b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ffb0fde57a74920" /><Relationship Type="http://schemas.openxmlformats.org/officeDocument/2006/relationships/notesMaster" Target="/ppt/notesMasters/notesMaster1.xml" Id="R38e4e9f9797240c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cd9726ffa1b41b4" /><Relationship Type="http://schemas.openxmlformats.org/officeDocument/2006/relationships/notesMaster" Target="/ppt/notesMasters/notesMaster1.xml" Id="Rec9a2170aade4a9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9244fe2f843466f" /><Relationship Type="http://schemas.openxmlformats.org/officeDocument/2006/relationships/notesMaster" Target="/ppt/notesMasters/notesMaster1.xml" Id="R03833a852a9f49b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e6c016091ad4ee1" /><Relationship Type="http://schemas.openxmlformats.org/officeDocument/2006/relationships/notesMaster" Target="/ppt/notesMasters/notesMaster1.xml" Id="R86c6373ec6374c0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953c4e1d10e4a0a" /><Relationship Type="http://schemas.openxmlformats.org/officeDocument/2006/relationships/notesMaster" Target="/ppt/notesMasters/notesMaster1.xml" Id="R55880e3a19664f4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76878d2a6bf47f1" /><Relationship Type="http://schemas.openxmlformats.org/officeDocument/2006/relationships/notesMaster" Target="/ppt/notesMasters/notesMaster1.xml" Id="Rcaf7d533fb3e400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d0510bc50704473" /><Relationship Type="http://schemas.openxmlformats.org/officeDocument/2006/relationships/notesMaster" Target="/ppt/notesMasters/notesMaster1.xml" Id="R377c8e5f12724a9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c22e0249cc2428a" /><Relationship Type="http://schemas.openxmlformats.org/officeDocument/2006/relationships/notesMaster" Target="/ppt/notesMasters/notesMaster1.xml" Id="R948182e26bb849b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bbc5da146504eb4" /><Relationship Type="http://schemas.openxmlformats.org/officeDocument/2006/relationships/notesMaster" Target="/ppt/notesMasters/notesMaster1.xml" Id="R9614bcfeb4d5442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f81e7d2648f4536" /><Relationship Type="http://schemas.openxmlformats.org/officeDocument/2006/relationships/notesMaster" Target="/ppt/notesMasters/notesMaster1.xml" Id="R18458185178849b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5571fe588744e44" /><Relationship Type="http://schemas.openxmlformats.org/officeDocument/2006/relationships/notesMaster" Target="/ppt/notesMasters/notesMaster1.xml" Id="R43c69d8927a14f7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c4c1b41f6154d5e" /><Relationship Type="http://schemas.openxmlformats.org/officeDocument/2006/relationships/notesMaster" Target="/ppt/notesMasters/notesMaster1.xml" Id="Ra7ad194b2bcc4688"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336e1e3e5f845aa" /><Relationship Type="http://schemas.openxmlformats.org/officeDocument/2006/relationships/notesMaster" Target="/ppt/notesMasters/notesMaster1.xml" Id="R7ce83d112a4f492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5b5fffbef8e4553" /><Relationship Type="http://schemas.openxmlformats.org/officeDocument/2006/relationships/notesMaster" Target="/ppt/notesMasters/notesMaster1.xml" Id="R92db13743684408f"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0f9d4d8731e491b" /><Relationship Type="http://schemas.openxmlformats.org/officeDocument/2006/relationships/notesMaster" Target="/ppt/notesMasters/notesMaster1.xml" Id="Rf773c5bc00c04d5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Module OS-A02, AI Concepts for Official Statisticians. This lesson develops a practical way to judge whether artificial intelligence should assist a specific statistical task. We will examine three connected questions throughout the module. First, what mechanism actually produces the output? Second, what evidence supports its use for the intended population and operating conditions? Third, who remains accountable for the resulting statistical decision or release? The aim is not to promote a technology. It is to help you make defensible choices about when to permit a bounded use, when to redesign it, when to reject it, and when to escalate it. AI can support statistical work, but the official mandate, methodological judgement and release authority remain with accountable professionals.</a:t>
            </a:r>
          </a:p>
          <a:p xmlns:a="http://schemas.openxmlformats.org/drawingml/2006/main">
            <a:r>
              <a:t/>
            </a:r>
          </a:p>
          <a:p xmlns:a="http://schemas.openxmlformats.org/drawingml/2006/main">
            <a:r>
              <a:t>Source: OS-A02-A01 v0.2, accepted canonical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sets out the professional outcomes for the module. First, you should be able to decompose a statistical workflow into its component tasks and identify where professional judgement must remain with a statistician. Second, you should distinguish the mechanisms involved, such as rules, learned models, retrieval or generation, and state their assumptions and uncertainty. Third, you should trace how a technical failure could affect an estimate, an operational decision or a public product, and then connect that effect to institutional duties. Finally, your analysis should end with a documented decision to permit, redesign, reject or escalate the proposed use. Throughout this work, use only public, synthetic, de-identified or formally authorised information.</a:t>
            </a:r>
          </a:p>
          <a:p xmlns:a="http://schemas.openxmlformats.org/drawingml/2006/main">
            <a:r>
              <a:t/>
            </a:r>
          </a:p>
          <a:p xmlns:a="http://schemas.openxmlformats.org/drawingml/2006/main">
            <a:r>
              <a:t>Source: OS-A02-A01 v0.2, Learning outcomes and professional boundary.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 assurance must address the quality of the official product, not merely the accuracy of one technical component. The first point therefore asks whether the complete statistical output remains fit for its intended use. The second point identifies confidentiality, validity and authority as mandatory gates. A gain in speed cannot compensate for failure at any of these gates. The third point introduces quality-adjusted time. Compare the proposed workflow with the current baseline after including verification, correction and exception handling. The final point concerns auditability. Record data and model provenance, software versions, corrections and accountable owners so that an independent reviewer can reconstruct the process and understand who approved the result.</a:t>
            </a:r>
          </a:p>
          <a:p xmlns:a="http://schemas.openxmlformats.org/drawingml/2006/main">
            <a:r>
              <a:t/>
            </a:r>
          </a:p>
          <a:p xmlns:a="http://schemas.openxmlformats.org/drawingml/2006/main">
            <a:r>
              <a:t>Source: OS-A02-A01 v0.2, Official statistics quality and AI assurance map.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Official statistics operates as a sociotechnical evidence system. The first point links the institution's mandate to its concepts, sources, methods and public communication. A change in one component can affect the meaning or legitimacy of the final product. The second point introduces the evidence graph. It traces how data, transformations, assumptions, reviews and authority contribute to a released claim. This makes dependencies and accountability visible. The third point defines the boundary of demonstrated capability. A system supports a proposed use only when the evidence covers the intended population, the real production conditions and the consequences of error. Performance in a demonstration or on a convenient dataset does not establish fitness for official use.</a:t>
            </a:r>
          </a:p>
          <a:p xmlns:a="http://schemas.openxmlformats.org/drawingml/2006/main">
            <a:r>
              <a:t/>
            </a:r>
          </a:p>
          <a:p xmlns:a="http://schemas.openxmlformats.org/drawingml/2006/main">
            <a:r>
              <a:t>Source: OS-A02-A01 v0.2, Chapter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Clear definitions prevent the discussion from being distorted by human-like descriptions of software. Begin with observable behaviour: what information enters the system, what transformation occurs and what output is produced. Then separate the underlying mechanisms. Encoded rules, estimated parameters, document retrieval, content generation and automated action create different risks and require different evidence. The final point establishes the comparison baseline. Evaluate the proposed system against the current method, whether that method is manual, rule based or supported by simpler software. Compare the complete workflows, including review and correction, rather than comparing an AI output with an unrealistic assumption of perfect human performance.</a:t>
            </a:r>
          </a:p>
          <a:p xmlns:a="http://schemas.openxmlformats.org/drawingml/2006/main">
            <a:r>
              <a:t/>
            </a:r>
          </a:p>
          <a:p xmlns:a="http://schemas.openxmlformats.org/drawingml/2006/main">
            <a:r>
              <a:t>Source: OS-A02-A01 v0.2, Chapter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statistical purpose must come before the technology. Specify the user, target population, statistical concept, reference period and the consequence if the result is wrong. These elements determine what evidence and controls are necessary. Next, decompose the workflow into tasks with defined inputs, outputs, owners and acceptance conditions. A proposal described simply as automating processing is too broad to evaluate. The third point identifies the boundaries that remain with subject-matter statisticians. They define the construct, determine what counts as authoritative evidence and decide whether the product can be released. A system may assist with a bounded transformation or recommendation, but it cannot redefine the statistical concept or acquire release authority.</a:t>
            </a:r>
          </a:p>
          <a:p xmlns:a="http://schemas.openxmlformats.org/drawingml/2006/main">
            <a:r>
              <a:t/>
            </a:r>
          </a:p>
          <a:p xmlns:a="http://schemas.openxmlformats.org/drawingml/2006/main">
            <a:r>
              <a:t>Source: OS-A02-A01 v0.2, Chapter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Rules, statistical models and machine learning systems produce outputs in different ways. Rules encode explicit conditions. Statistical models represent stochastic relationships. Machine learning estimates functions from examples and an objective. Because the mechanisms differ, their evidence also differs. A rule requires evidence that the specification is correct and consistently implemented. A learned model requires independent evidence about behaviour beyond the data used to fit it. The final point places both approaches within the statistical production system. Fitness depends on the population covered, the cost of different errors and the way the component interacts with editing, weighting, estimation and review. Neither a perfectly executed rule nor a highly accurate model is automatically valid for the official purpose.</a:t>
            </a:r>
          </a:p>
          <a:p xmlns:a="http://schemas.openxmlformats.org/drawingml/2006/main">
            <a:r>
              <a:t/>
            </a:r>
          </a:p>
          <a:p xmlns:a="http://schemas.openxmlformats.org/drawingml/2006/main">
            <a:r>
              <a:t>Source: OS-A02-A01 v0.2, Chapter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Different learning families create different validity questions. Supervised learning depends on labels, including who created them and whether they represent the intended concept. Clustering produces groups that require substantive interpretation. Pseudo-labels can reproduce earlier errors, while reinforcement learning depends on how rewards encode priorities. The second point concerns loss and stability. Results depend on the sampling design, weighting, interpretation of outputs and the relative cost of errors. An average score can hide serious consequences for particular cases or groups. The final point separates exploration from production. Patterns discovered through unsupervised or experimental work can inform investigation, but they should not trigger consequential action until the institution has established meaning, validity, authority and appropriate controls.</a:t>
            </a:r>
          </a:p>
          <a:p xmlns:a="http://schemas.openxmlformats.org/drawingml/2006/main">
            <a:r>
              <a:t/>
            </a:r>
          </a:p>
          <a:p xmlns:a="http://schemas.openxmlformats.org/drawingml/2006/main">
            <a:r>
              <a:t>Source: OS-A02-A01 v0.2, Chapter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Deep learning builds layered representations that can capture complex patterns, but those representations may suppress rare distinctions that matter statistically. This is especially important when small groups, unusual records or minority languages carry public value. The second point identifies the required tests. Examine sensitivity to realistic perturbations, performance across relevant domains and subgroups, variation across repeated training runs, and comparison with simpler baselines. Complexity should earn its place through better evidence, not through novelty. The final point preserves the institutional boundary. Technical teams may design and implement the network, but the statistical construct, target population, acceptable error and authorised use remain defined by the institution and its subject-matter specialists.</a:t>
            </a:r>
          </a:p>
          <a:p xmlns:a="http://schemas.openxmlformats.org/drawingml/2006/main">
            <a:r>
              <a:t/>
            </a:r>
          </a:p>
          <a:p xmlns:a="http://schemas.openxmlformats.org/drawingml/2006/main">
            <a:r>
              <a:t>Source: OS-A02-A01 v0.2, Chapter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Foundation models can support several tasks, including drafting, classification, translation and coding. Each use nevertheless requires its own evidence because the output, consequence and verification burden differ. The second point addresses generation directly. A fluent response reflects probable token sequences, not proof that a factual or statistical claim is true. Numerical statements, classifications and interpretations must therefore be checked against authoritative evidence. The third point places prompting in its proper role. A prompt can constrain the requested task, provide context and specify a format, but it cannot establish validity. Independent evaluation, source verification and human review remain necessary. A prompt that works in a demonstration is only an input configuration, not an assurance argument.</a:t>
            </a:r>
          </a:p>
          <a:p xmlns:a="http://schemas.openxmlformats.org/drawingml/2006/main">
            <a:r>
              <a:t/>
            </a:r>
          </a:p>
          <a:p xmlns:a="http://schemas.openxmlformats.org/drawingml/2006/main">
            <a:r>
              <a:t>Source: OS-A02-A01 v0.2, Chapter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retrieval-based system contains several stages that must be evaluated separately. Documents are first selected and ranked, relevant passages are assembled as context, and a model may then generate an answer. An error at any stage can affect the final claim. The second point names the main tests. Assess whether the eligible corpus covers the required subject, whether retrieval recalls the relevant sources, whether the generator uses those sources faithfully, and whether each material claim has direct support. A citation alone is insufficient if the cited passage is outdated or unrelated. The final point recognises refusal and referral as valid outputs. When the system lacks adequate evidence, it should decline to answer or direct the case to an authorised specialist.</a:t>
            </a:r>
          </a:p>
          <a:p xmlns:a="http://schemas.openxmlformats.org/drawingml/2006/main">
            <a:r>
              <a:t/>
            </a:r>
          </a:p>
          <a:p xmlns:a="http://schemas.openxmlformats.org/drawingml/2006/main">
            <a:r>
              <a:t>Source: OS-A02-A01 v0.2, Chapter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Prediction estimates an outcome, while optimisation or recommendation selects an action. Moving toward action increases the consequence of error and can create feedback when earlier recommendations influence later data. The second point explains why an objective function is not enough. Legal requirements, confidentiality, statistical standards and ethical limits must operate as hard constraints rather than as small penalties that an optimiser may trade away. The final point concerns agentic systems that can use tools or execute steps. Bound their permissions, maintain detailed logs, impose transaction and rate limits, and define explicit stopping rules. Recovery procedures are also necessary because the institution must be able to contain an error and return to a controlled operating state.</a:t>
            </a:r>
          </a:p>
          <a:p xmlns:a="http://schemas.openxmlformats.org/drawingml/2006/main">
            <a:r>
              <a:t/>
            </a:r>
          </a:p>
          <a:p xmlns:a="http://schemas.openxmlformats.org/drawingml/2006/main">
            <a:r>
              <a:t>Source: OS-A02-A01 v0.2, Chapter 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Training, evaluation and operational inference support different claims. Training shows that parameters can fit an objective on development data. Independent evaluation estimates performance on data that did not determine those parameters. Production inference applies the system under real operating conditions. Evidence from one stage should not be used as proof for another. The second point lists what a valid evaluation must declare: the target population, reference standard, chosen metrics, uncertainty around those metrics and decision thresholds. These choices should follow the intended use and error consequences. The final point distinguishes technical fit from operational permission. A model may perform well in evaluation yet remain infeasible because required data, review capacity, infrastructure or legal authority are absent.</a:t>
            </a:r>
          </a:p>
          <a:p xmlns:a="http://schemas.openxmlformats.org/drawingml/2006/main">
            <a:r>
              <a:t/>
            </a:r>
          </a:p>
          <a:p xmlns:a="http://schemas.openxmlformats.org/drawingml/2006/main">
            <a:r>
              <a:t>Source: OS-A02-A01 v0.2, Chapter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Generalisation concerns performance beyond the examples observed during development. After deployment, the distribution of inputs may change, the prevalence of categories may shift, or the relationship between inputs and the target concept may change. These are different forms of drift and require different responses. The second point explains that production loss can diverge from development loss even when the code and model are unchanged. The environment, population or data-generating process may have moved. The final point describes monitoring as a combination of evidence. Use data diagnostics to detect distribution changes, reference samples to estimate continuing validity, and institutional information to identify policy, questionnaire, classification or system changes that may affect interpretation.</a:t>
            </a:r>
          </a:p>
          <a:p xmlns:a="http://schemas.openxmlformats.org/drawingml/2006/main">
            <a:r>
              <a:t/>
            </a:r>
          </a:p>
          <a:p xmlns:a="http://schemas.openxmlformats.org/drawingml/2006/main">
            <a:r>
              <a:t>Source: OS-A02-A01 v0.2, Chapter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separates four defects that teams often combine. Leakage introduces information that would not legitimately be available at the time of use. Coverage concerns whether the frame reaches the intended population. Selection concerns who enters the observed data and under what process. Proxy validity asks whether a measured variable represents the intended construct. The second point explains why a random split may be inadequate. Related records from the same entity, household, period or geography can appear on both sides of the split and create an optimistic result. The final point returns to official estimates. A highly precise predictor applied to a distorted frame can reinforce undercoverage or selection error and therefore worsen the final estimate.</a:t>
            </a:r>
          </a:p>
          <a:p xmlns:a="http://schemas.openxmlformats.org/drawingml/2006/main">
            <a:r>
              <a:t/>
            </a:r>
          </a:p>
          <a:p xmlns:a="http://schemas.openxmlformats.org/drawingml/2006/main">
            <a:r>
              <a:t>Source: OS-A02-A01 v0.2, Chapter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Uncertainty has several sources and should not be compressed into one confidence score. Unsupported generation concerns claims without adequate evidence. Predictive uncertainty concerns the model's output for a case. Sampling uncertainty arises from observing a sample rather than the complete population, while measurement uncertainty concerns how well recorded variables represent the intended concept. The second point focuses on calibration. A probability such as 0.8 should correspond empirically to the stated frequency under relevant conditions. That relationship must be tested, not assumed from the interface. The final point recommends an uncertainty ledger. Record each important uncertainty, its source, available evidence, consequence and treatment so that decision makers can see what remains unresolved.</a:t>
            </a:r>
          </a:p>
          <a:p xmlns:a="http://schemas.openxmlformats.org/drawingml/2006/main">
            <a:r>
              <a:t/>
            </a:r>
          </a:p>
          <a:p xmlns:a="http://schemas.openxmlformats.org/drawingml/2006/main">
            <a:r>
              <a:t>Source: OS-A02-A01 v0.2, Chapter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Aggregate performance can conceal systematic weakness for particular languages, regions, institutions or rare groups. Subgroup analysis is therefore necessary when those distinctions matter to the mandate or the consequences of error. The second point cautions that fairness criteria can conflict. Equal false-positive rates, equal false-negative rates and calibration may not all be achievable together, especially when prevalence differs. Subgroup estimates also carry sampling uncertainty and may become unstable when cases are few. The final point explains how to choose among competing values. Consider the institution's mandate, the consequence of each error, participation by affected groups and the availability of review or appeal. The choice is a public-value judgement, not a purely technical optimisation.</a:t>
            </a:r>
          </a:p>
          <a:p xmlns:a="http://schemas.openxmlformats.org/drawingml/2006/main">
            <a:r>
              <a:t/>
            </a:r>
          </a:p>
          <a:p xmlns:a="http://schemas.openxmlformats.org/drawingml/2006/main">
            <a:r>
              <a:t>Source: OS-A02-A01 v0.2, Chapter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Human review does not automatically create effective oversight. Reviewers need enough time, relevant information, professional independence and genuine authority to challenge or stop the system. Without these conditions, confident outputs can encourage automation bias. The second point warns about selective review. If staff inspect only cases that the system labels uncertain, they may miss confident but systematic errors. Their corrections may also feed back into future data and amplify the pattern. The final point addresses institutional resilience. Maintain a workable fallback process, use blind quality-control samples that the system cannot identify in advance, and rehearse recovery procedures. These practices preserve staff capability and ensure that operations can continue when the system is unavailable or unsuitable.</a:t>
            </a:r>
          </a:p>
          <a:p xmlns:a="http://schemas.openxmlformats.org/drawingml/2006/main">
            <a:r>
              <a:t/>
            </a:r>
          </a:p>
          <a:p xmlns:a="http://schemas.openxmlformats.org/drawingml/2006/main">
            <a:r>
              <a:t>Source: OS-A02-A01 v0.2, Chapter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 workflows create protected data flows beyond the original dataset. Prompts, vector embeddings, system logs, generated artefacts and service telemetry may contain confidential information or reveal sensitive patterns. These flows must enter the institution's data inventory and access controls. The second point broadens cybersecurity analysis. Consider unauthorised access, prompt injection, extraction of protected content, poisoning of data or knowledge sources, and unannounced changes in the supplier's service or dependencies. The final point concerns accountability in procurement. Contracts can allocate duties and provide remedies, but they cannot transfer the statistical office's legal mandate or professional responsibility. The institution must retain enough information, control and exit capability to govern the service.</a:t>
            </a:r>
          </a:p>
          <a:p xmlns:a="http://schemas.openxmlformats.org/drawingml/2006/main">
            <a:r>
              <a:t/>
            </a:r>
          </a:p>
          <a:p xmlns:a="http://schemas.openxmlformats.org/drawingml/2006/main">
            <a:r>
              <a:t>Source: OS-A02-A01 v0.2, Chapter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Reproducibility means that controlled inputs, software versions, configurations and environments can regenerate the declared outputs within stated tolerances. This is necessary for investigation, correction and repeat production. The second point describes the evidence record that supports this requirement. Retain data lineage, source hashes, model and software versions, configuration settings, test results, exceptions, corrections and formal approvals. These records connect a technical run to an authorised institutional process. The final point defines auditability from the reviewer's perspective. An independent reviewer should be able to reconstruct what happened, understand why the selected method was considered acceptable, identify who approved it and see how deviations or failures were handled.</a:t>
            </a:r>
          </a:p>
          <a:p xmlns:a="http://schemas.openxmlformats.org/drawingml/2006/main">
            <a:r>
              <a:t/>
            </a:r>
          </a:p>
          <a:p xmlns:a="http://schemas.openxmlformats.org/drawingml/2006/main">
            <a:r>
              <a:t>Source: OS-A02-A01 v0.2, Chapter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Meaningful human oversight requires four conditions. The reviewer must have the competence to judge the output, the information needed to understand the case, sufficient time to examine it and real power to intervene. A ceremonial approval step does not meet this standard. The second point turns stopping principles into an operational rule. Define the observable signal, the threshold that triggers action, the responsible owner, the immediate containment response and the conditions required before restart. The final point preserves the authority boundary. A system may draft, classify or recommend, but it cannot acquire the institution's statistical mandate or release authority. Those responsibilities remain with designated officials who are accountable for the public product.</a:t>
            </a:r>
          </a:p>
          <a:p xmlns:a="http://schemas.openxmlformats.org/drawingml/2006/main">
            <a:r>
              <a:t/>
            </a:r>
          </a:p>
          <a:p xmlns:a="http://schemas.openxmlformats.org/drawingml/2006/main">
            <a:r>
              <a:t>Source: OS-A02-A01 v0.2, Chapter 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Kintaba cases apply the framework across coding, record linkage, crop estimation, statistical drafting and public query support. This variety shows why one general AI score cannot justify several different uses. The second point describes the common dossier for every case. It records the relevant evidence, acceptance tolerances, remaining uncertainty, operational controls and accountable owner. The chart illustrates selected evidence expressed as percentages. Overall coding reaches 94.6 and source recall 93.8, while small-language strata are lower at 76.8. Minority-language performance is 82, informal recall is 81.3 and correct refusal is 88.6. These differences matter. Strong aggregate results cannot compensate for a failed confidentiality, validity, subgroup or authority gate.</a:t>
            </a:r>
          </a:p>
          <a:p xmlns:a="http://schemas.openxmlformats.org/drawingml/2006/main">
            <a:r>
              <a:t/>
            </a:r>
          </a:p>
          <a:p xmlns:a="http://schemas.openxmlformats.org/drawingml/2006/main">
            <a:r>
              <a:t>Source: OS-A02-A01 v0.2, Chapter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Technology selection should compare credible alternatives rather than treating AI adoption as the default. The first point includes manual practice, deterministic rules, conventional statistical methods, machine learning and hybrid workflows. Each may be appropriate for a different task. The second point defines a broader comparison. Examine statistical validity, total effort after verification and correction, subgroup performance, reversibility when problems occur, and dependence on a supplier or proprietary service. The final point applies proportional assurance. Increase the strength of evidence, controls and approval as the consequence of error, uncertainty, irreversibility and scale increase. A low-consequence experiment can remain bounded, while a system affecting official estimates or public decisions requires much stronger assurance.</a:t>
            </a:r>
          </a:p>
          <a:p xmlns:a="http://schemas.openxmlformats.org/drawingml/2006/main">
            <a:r>
              <a:t/>
            </a:r>
          </a:p>
          <a:p xmlns:a="http://schemas.openxmlformats.org/drawingml/2006/main">
            <a:r>
              <a:t>Source: OS-A02-A01 v0.2, Chapter 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final chapter converts the analysis into a durable decision record. Document the purpose, current baseline, supporting evidence, alternatives considered, conditions of use and residual uncertainty. This prevents the decision from becoming an undocumented technology preference. The second point requires localisation. The same mechanism may require a different decision under another legal mandate, language environment, infrastructure constraint or workforce capacity. The third point defines a practical workplace transfer. Begin with one authorised and bounded task. Apply the framework without treating the exercise as permission to deploy. Preserve the record, evidence and conditions so that another accountable professional can understand the reasoning after staff changes. This continuity supports review, correction and institutional learning.</a:t>
            </a:r>
          </a:p>
          <a:p xmlns:a="http://schemas.openxmlformats.org/drawingml/2006/main">
            <a:r>
              <a:t/>
            </a:r>
          </a:p>
          <a:p xmlns:a="http://schemas.openxmlformats.org/drawingml/2006/main">
            <a:r>
              <a:t>Source: OS-A02-A01 v0.2, Chapter 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b587224eff344c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5c314f34ce44823" /><Relationship Type="http://schemas.openxmlformats.org/officeDocument/2006/relationships/slideLayout" Target="/ppt/slideLayouts/slideLayout1.xml" Id="R95c89cf316734e0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5c89cf316734e0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0877336ac674875" /><Relationship Type="http://schemas.openxmlformats.org/officeDocument/2006/relationships/image" Target="/ppt/media/image.png" Id="Rb24f887b91f44552" /><Relationship Type="http://schemas.openxmlformats.org/officeDocument/2006/relationships/notesSlide" Target="/ppt/notesSlides/notesSlide1.xml" Id="R5683568f5c644f7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370ca263cb04c80" /><Relationship Type="http://schemas.openxmlformats.org/officeDocument/2006/relationships/image" Target="/ppt/media/image2.png" Id="R3a751338fcc4422d" /><Relationship Type="http://schemas.openxmlformats.org/officeDocument/2006/relationships/notesSlide" Target="/ppt/notesSlides/notesSlide2.xml" Id="R9196b5399b844ca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0b7ede49fc144fe" /><Relationship Type="http://schemas.openxmlformats.org/officeDocument/2006/relationships/image" Target="/ppt/media/image3.png" Id="R4a0330d1c77d432f" /><Relationship Type="http://schemas.openxmlformats.org/officeDocument/2006/relationships/notesSlide" Target="/ppt/notesSlides/notesSlide3.xml" Id="R1f316a11e672478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bd0cf4b306b4650" /><Relationship Type="http://schemas.openxmlformats.org/officeDocument/2006/relationships/image" Target="/ppt/media/image4.png" Id="Rc3d4ad754f5d4033" /><Relationship Type="http://schemas.openxmlformats.org/officeDocument/2006/relationships/notesSlide" Target="/ppt/notesSlides/notesSlide4.xml" Id="Ra871e2689c90459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6596e13d5a44b94" /><Relationship Type="http://schemas.openxmlformats.org/officeDocument/2006/relationships/image" Target="/ppt/media/image5.png" Id="R699aecb823884cf0" /><Relationship Type="http://schemas.openxmlformats.org/officeDocument/2006/relationships/notesSlide" Target="/ppt/notesSlides/notesSlide5.xml" Id="R04f5cee427d3430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130fc8a09e94312" /><Relationship Type="http://schemas.openxmlformats.org/officeDocument/2006/relationships/image" Target="/ppt/media/image6.png" Id="R9fec513eec674a29" /><Relationship Type="http://schemas.openxmlformats.org/officeDocument/2006/relationships/notesSlide" Target="/ppt/notesSlides/notesSlide6.xml" Id="R22c0211ca54740a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694ce7512d749dc" /><Relationship Type="http://schemas.openxmlformats.org/officeDocument/2006/relationships/image" Target="/ppt/media/image7.png" Id="Rd426521d5f0f4851" /><Relationship Type="http://schemas.openxmlformats.org/officeDocument/2006/relationships/notesSlide" Target="/ppt/notesSlides/notesSlide7.xml" Id="R6cbc28443ac74f3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93dbd1101e14352" /><Relationship Type="http://schemas.openxmlformats.org/officeDocument/2006/relationships/image" Target="/ppt/media/image8.png" Id="R24485288404e45f7" /><Relationship Type="http://schemas.openxmlformats.org/officeDocument/2006/relationships/notesSlide" Target="/ppt/notesSlides/notesSlide8.xml" Id="Raebe300b1407450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f921b144da1416f" /><Relationship Type="http://schemas.openxmlformats.org/officeDocument/2006/relationships/image" Target="/ppt/media/image9.png" Id="R2cbd76ffb66844d0" /><Relationship Type="http://schemas.openxmlformats.org/officeDocument/2006/relationships/notesSlide" Target="/ppt/notesSlides/notesSlide9.xml" Id="R0ea63db47c594c2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50d8a06676547f0" /><Relationship Type="http://schemas.openxmlformats.org/officeDocument/2006/relationships/image" Target="/ppt/media/image10.png" Id="R71b6bd6c34284204" /><Relationship Type="http://schemas.openxmlformats.org/officeDocument/2006/relationships/notesSlide" Target="/ppt/notesSlides/notesSlide10.xml" Id="R1c6c88b56f89464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de9157e37e74563" /><Relationship Type="http://schemas.openxmlformats.org/officeDocument/2006/relationships/image" Target="/ppt/media/image11.png" Id="Rfde366a5d3444988" /><Relationship Type="http://schemas.openxmlformats.org/officeDocument/2006/relationships/notesSlide" Target="/ppt/notesSlides/notesSlide11.xml" Id="R95ff81faac9e440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ee46447b2394e4f" /><Relationship Type="http://schemas.openxmlformats.org/officeDocument/2006/relationships/image" Target="/ppt/media/image12.png" Id="Rf82c621d33dd4e3a" /><Relationship Type="http://schemas.openxmlformats.org/officeDocument/2006/relationships/notesSlide" Target="/ppt/notesSlides/notesSlide12.xml" Id="R330ae1aae01f4ad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61a93c2c4014f97" /><Relationship Type="http://schemas.openxmlformats.org/officeDocument/2006/relationships/image" Target="/ppt/media/image13.png" Id="R61d012c59682453a" /><Relationship Type="http://schemas.openxmlformats.org/officeDocument/2006/relationships/notesSlide" Target="/ppt/notesSlides/notesSlide13.xml" Id="R514e4195451848d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fbc4c691b16a48f2" /><Relationship Type="http://schemas.openxmlformats.org/officeDocument/2006/relationships/image" Target="/ppt/media/image14.png" Id="R2408707bcee446b9" /><Relationship Type="http://schemas.openxmlformats.org/officeDocument/2006/relationships/notesSlide" Target="/ppt/notesSlides/notesSlide14.xml" Id="Rfe03ab6d164c459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c502ee0a0444b64" /><Relationship Type="http://schemas.openxmlformats.org/officeDocument/2006/relationships/image" Target="/ppt/media/image15.png" Id="R7692ed8bb03b4da7" /><Relationship Type="http://schemas.openxmlformats.org/officeDocument/2006/relationships/notesSlide" Target="/ppt/notesSlides/notesSlide15.xml" Id="R1deab944b8f8452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fc887fe999e245f5" /><Relationship Type="http://schemas.openxmlformats.org/officeDocument/2006/relationships/image" Target="/ppt/media/image16.png" Id="R8d90bad960634071" /><Relationship Type="http://schemas.openxmlformats.org/officeDocument/2006/relationships/notesSlide" Target="/ppt/notesSlides/notesSlide16.xml" Id="Rfce978a1cb174b4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dd49093f14754bf8" /><Relationship Type="http://schemas.openxmlformats.org/officeDocument/2006/relationships/image" Target="/ppt/media/image17.png" Id="Rfac0662a37a84a6f" /><Relationship Type="http://schemas.openxmlformats.org/officeDocument/2006/relationships/notesSlide" Target="/ppt/notesSlides/notesSlide17.xml" Id="R596aea42757342a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55246831ac80411c" /><Relationship Type="http://schemas.openxmlformats.org/officeDocument/2006/relationships/image" Target="/ppt/media/image18.png" Id="Rf0cee843271f4b81" /><Relationship Type="http://schemas.openxmlformats.org/officeDocument/2006/relationships/notesSlide" Target="/ppt/notesSlides/notesSlide18.xml" Id="R16ac8ed542c24c5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70b2f3cd9f464587" /><Relationship Type="http://schemas.openxmlformats.org/officeDocument/2006/relationships/image" Target="/ppt/media/image19.png" Id="Rc81d82539f574128" /><Relationship Type="http://schemas.openxmlformats.org/officeDocument/2006/relationships/notesSlide" Target="/ppt/notesSlides/notesSlide19.xml" Id="R5d7fed249ffb45a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790c04d25045416e" /><Relationship Type="http://schemas.openxmlformats.org/officeDocument/2006/relationships/image" Target="/ppt/media/image20.png" Id="R148ffe39e19f44e8" /><Relationship Type="http://schemas.openxmlformats.org/officeDocument/2006/relationships/notesSlide" Target="/ppt/notesSlides/notesSlide20.xml" Id="Rd823b9f883ec400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ff91d34ed2e4430a" /><Relationship Type="http://schemas.openxmlformats.org/officeDocument/2006/relationships/image" Target="/ppt/media/image21.png" Id="Rfb6f0f0db6ee4eaa" /><Relationship Type="http://schemas.openxmlformats.org/officeDocument/2006/relationships/notesSlide" Target="/ppt/notesSlides/notesSlide21.xml" Id="Re73b2850742640b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c157c8dd167a48ff" /><Relationship Type="http://schemas.openxmlformats.org/officeDocument/2006/relationships/chart" Target="/ppt/slides/charts/chart1.xml" Id="R55ed09fb67274560" /><Relationship Type="http://schemas.openxmlformats.org/officeDocument/2006/relationships/notesSlide" Target="/ppt/notesSlides/notesSlide22.xml" Id="R8979b44a9d7344d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984d4dfdba1b4196" /><Relationship Type="http://schemas.openxmlformats.org/officeDocument/2006/relationships/image" Target="/ppt/media/image22.png" Id="R06ea852e002747d2" /><Relationship Type="http://schemas.openxmlformats.org/officeDocument/2006/relationships/notesSlide" Target="/ppt/notesSlides/notesSlide23.xml" Id="Rcc7d259c28b548eb"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55bc006795e645bd" /><Relationship Type="http://schemas.openxmlformats.org/officeDocument/2006/relationships/image" Target="/ppt/media/image23.png" Id="R2d41f8fc5f2b458e" /><Relationship Type="http://schemas.openxmlformats.org/officeDocument/2006/relationships/notesSlide" Target="/ppt/notesSlides/notesSlide24.xml" Id="R10e2baa38e1e4b28" /></Relationships>
</file>

<file path=ppt/slides/charts/chart1.xml><?xml version="1.0" encoding="utf-8"?>
<c:chartSpace xmlns:c="http://schemas.openxmlformats.org/drawingml/2006/chart">
  <c:lang val="en-US"/>
  <c:chart>
    <c:plotArea>
      <c:barChart>
        <c:barDir val="bar"/>
        <c:grouping val="clustered"/>
        <c:varyColors val="0"/>
        <c:ser>
          <c:idx val="0"/>
          <c:order val="0"/>
          <c:tx>
            <c:v>Observed performance</c:v>
          </c:tx>
          <c:spPr>
            <a:solidFill xmlns:a="http://schemas.openxmlformats.org/drawingml/2006/main">
              <a:srgbClr val="23C6C8"/>
            </a:solidFill>
          </c:spPr>
          <c:cat>
            <c:strRef>
              <c:f>'Chart Data'!$A$2:$A$7</c:f>
              <c:strCache>
                <c:ptCount val="6"/>
                <c:pt idx="0">
                  <c:v>Overall coding</c:v>
                </c:pt>
                <c:pt idx="1">
                  <c:v>Informal recall</c:v>
                </c:pt>
                <c:pt idx="2">
                  <c:v>Small-language strata</c:v>
                </c:pt>
                <c:pt idx="3">
                  <c:v>Source recall</c:v>
                </c:pt>
                <c:pt idx="4">
                  <c:v>Minority-language</c:v>
                </c:pt>
                <c:pt idx="5">
                  <c:v>Correct refusal</c:v>
                </c:pt>
              </c:strCache>
            </c:strRef>
          </c:cat>
          <c:val>
            <c:numRef>
              <c:f>'Chart Data'!$B$2:$B$7</c:f>
              <c:numCache>
                <c:formatCode>General</c:formatCode>
                <c:ptCount val="6"/>
                <c:pt idx="0">
                  <c:v>94.6</c:v>
                </c:pt>
                <c:pt idx="1">
                  <c:v>81.3</c:v>
                </c:pt>
                <c:pt idx="2">
                  <c:v>76.8</c:v>
                </c:pt>
                <c:pt idx="3">
                  <c:v>93.8</c:v>
                </c:pt>
                <c:pt idx="4">
                  <c:v>82</c:v>
                </c:pt>
                <c:pt idx="5">
                  <c:v>88.6</c:v>
                </c:pt>
              </c:numCache>
            </c:numRef>
          </c:val>
        </c:ser>
        <c:dLbls>
          <c:txPr>
            <a:bodyPr xmlns:a="http://schemas.openxmlformats.org/drawingml/2006/main" anchorCtr="1"/>
            <a:lstStyle xmlns:a="http://schemas.openxmlformats.org/drawingml/2006/main"/>
            <a:p xmlns:a="http://schemas.openxmlformats.org/drawingml/2006/main">
              <a:pPr>
                <a:defRPr>
                  <a:latin typeface="Aptos"/>
                  <a:ea typeface="Aptos"/>
                  <a:cs typeface="Aptos"/>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ptos"/>
                <a:ea typeface="Aptos"/>
                <a:cs typeface="Aptos"/>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ptos"/>
                <a:ea typeface="Aptos"/>
                <a:cs typeface="Aptos"/>
              </a:defRPr>
            </a:pPr>
          </a:p>
        </c:txPr>
        <c:crossAx val="48650112"/>
        <c:crossBetween val="between"/>
      </c:valAx>
    </c:plotArea>
    <c:plotVisOnly val="1"/>
  </c:chart>
</c:chartSpace>
</file>

<file path=ppt/slides/slide1.xml><?xml version="1.0" encoding="utf-8"?>
<p:sld xmlns:p="http://schemas.openxmlformats.org/presentationml/2006/main">
  <p:cSld>
    <p:bg>
      <p:bgPr>
        <a:solidFill xmlns:a="http://schemas.openxmlformats.org/drawingml/2006/main">
          <a:srgbClr val="071827"/>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b24f887b91f44552"/>
          <a:srcRect xmlns:a="http://schemas.openxmlformats.org/drawingml/2006/main" l="10204" t="0" r="10204" b="0"/>
          <a:stretch xmlns:a="http://schemas.openxmlformats.org/drawingml/2006/main">
            <a:fillRect l="0" t="0" r="0" b="0"/>
          </a:stretch>
        </p:blipFill>
        <p:spPr>
          <a:xfrm xmlns:a="http://schemas.openxmlformats.org/drawingml/2006/main">
            <a:off x="6191250" y="0"/>
            <a:ext cx="60007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5428D72-78FE-4173-B661-A65F2B1DF72A}"/>
              </a:ext>
            </a:extLst>
          </p:cNvPr>
          <p:cNvSpPr>
            <a:spLocks xmlns:a="http://schemas.openxmlformats.org/drawingml/2006/main" noGrp="1"/>
          </p:cNvSpPr>
          <p:nvPr/>
        </p:nvSpPr>
        <p:spPr>
          <a:xfrm xmlns:a="http://schemas.openxmlformats.org/drawingml/2006/main">
            <a:off x="0" y="0"/>
            <a:ext cx="7239000" cy="6858000"/>
          </a:xfrm>
          <a:prstGeom xmlns:a="http://schemas.openxmlformats.org/drawingml/2006/main" prst="rect">
            <a:avLst/>
          </a:prstGeom>
          <a:solidFill xmlns:a="http://schemas.openxmlformats.org/drawingml/2006/main">
            <a:srgbClr val="071827"/>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F323E6C-E1C4-435C-B798-1B1F0AE41515}"/>
              </a:ext>
            </a:extLst>
          </p:cNvPr>
          <p:cNvSpPr>
            <a:spLocks xmlns:a="http://schemas.openxmlformats.org/drawingml/2006/main" noGrp="1"/>
          </p:cNvSpPr>
          <p:nvPr/>
        </p:nvSpPr>
        <p:spPr>
          <a:xfrm xmlns:a="http://schemas.openxmlformats.org/drawingml/2006/main">
            <a:off x="552450" y="514350"/>
            <a:ext cx="542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975" b="1">
                <a:solidFill>
                  <a:srgbClr val="23C6C8"/>
                </a:solidFill>
                <a:latin typeface="Aptos"/>
                <a:ea typeface="Aptos"/>
                <a:cs typeface="Aptos"/>
              </a:defRPr>
            </a:pPr>
            <a:r>
              <a:rPr sz="975" b="1">
                <a:solidFill>
                  <a:srgbClr val="23C6C8"/>
                </a:solidFill>
                <a:latin typeface="Aptos"/>
                <a:ea typeface="Aptos"/>
                <a:cs typeface="Aptos"/>
              </a:rPr>
              <a:t>OFFICIAL STATISTICS AND AI PATHWAY</a:t>
            </a:r>
          </a:p>
        </p:txBody>
      </p:sp>
      <p:sp>
        <p:nvSpPr>
          <p:cNvPr id="4" name="">
            <a:extLst xmlns:a="http://schemas.openxmlformats.org/drawingml/2006/main">
              <a:ext uri="{FF2B5EF4-FFF2-40B4-BE49-F238E27FC236}">
                <a16:creationId xmlns:a16="http://schemas.microsoft.com/office/drawing/2014/main" id="{05BEE0F5-2889-4A58-8BBF-7441DB6D4B66}"/>
              </a:ext>
            </a:extLst>
          </p:cNvPr>
          <p:cNvSpPr>
            <a:spLocks xmlns:a="http://schemas.openxmlformats.org/drawingml/2006/main" noGrp="1"/>
          </p:cNvSpPr>
          <p:nvPr/>
        </p:nvSpPr>
        <p:spPr>
          <a:xfrm xmlns:a="http://schemas.openxmlformats.org/drawingml/2006/main">
            <a:off x="552450" y="1352550"/>
            <a:ext cx="5619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3600" b="1">
                <a:solidFill>
                  <a:srgbClr val="F7FAFC"/>
                </a:solidFill>
                <a:latin typeface="Aptos"/>
                <a:ea typeface="Aptos"/>
                <a:cs typeface="Aptos"/>
              </a:defRPr>
            </a:pPr>
            <a:r>
              <a:rPr sz="3600" b="1">
                <a:solidFill>
                  <a:srgbClr val="F7FAFC"/>
                </a:solidFill>
                <a:latin typeface="Aptos"/>
                <a:ea typeface="Aptos"/>
                <a:cs typeface="Aptos"/>
              </a:rPr>
              <a:t>AI concepts for</a:t>
            </a:r>
          </a:p>
          <a:p xmlns:a="http://schemas.openxmlformats.org/drawingml/2006/main">
            <a:pPr>
              <a:buNone/>
              <a:defRPr sz="3600" b="1">
                <a:solidFill>
                  <a:srgbClr val="F7FAFC"/>
                </a:solidFill>
                <a:latin typeface="Aptos"/>
                <a:ea typeface="Aptos"/>
                <a:cs typeface="Aptos"/>
              </a:defRPr>
            </a:pPr>
            <a:r>
              <a:rPr sz="3600" b="1">
                <a:solidFill>
                  <a:srgbClr val="F7FAFC"/>
                </a:solidFill>
                <a:latin typeface="Aptos"/>
                <a:ea typeface="Aptos"/>
                <a:cs typeface="Aptos"/>
              </a:rPr>
              <a:t>official statisticians</a:t>
            </a:r>
          </a:p>
        </p:txBody>
      </p:sp>
      <p:sp>
        <p:nvSpPr>
          <p:cNvPr id="5" name="">
            <a:extLst xmlns:a="http://schemas.openxmlformats.org/drawingml/2006/main">
              <a:ext uri="{FF2B5EF4-FFF2-40B4-BE49-F238E27FC236}">
                <a16:creationId xmlns:a16="http://schemas.microsoft.com/office/drawing/2014/main" id="{40AC02CC-AEB3-4146-B85C-DB8748E0014C}"/>
              </a:ext>
            </a:extLst>
          </p:cNvPr>
          <p:cNvSpPr>
            <a:spLocks xmlns:a="http://schemas.openxmlformats.org/drawingml/2006/main" noGrp="1"/>
          </p:cNvSpPr>
          <p:nvPr/>
        </p:nvSpPr>
        <p:spPr>
          <a:xfrm xmlns:a="http://schemas.openxmlformats.org/drawingml/2006/main">
            <a:off x="552450" y="3333750"/>
            <a:ext cx="3429000" cy="28575"/>
          </a:xfrm>
          <a:prstGeom xmlns:a="http://schemas.openxmlformats.org/drawingml/2006/main" prst="rect">
            <a:avLst/>
          </a:prstGeom>
          <a:solidFill xmlns:a="http://schemas.openxmlformats.org/drawingml/2006/main">
            <a:srgbClr val="D5AF4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E133B0B-4528-454A-AFD1-33976CB5BB69}"/>
              </a:ext>
            </a:extLst>
          </p:cNvPr>
          <p:cNvSpPr>
            <a:spLocks xmlns:a="http://schemas.openxmlformats.org/drawingml/2006/main" noGrp="1"/>
          </p:cNvSpPr>
          <p:nvPr/>
        </p:nvSpPr>
        <p:spPr>
          <a:xfrm xmlns:a="http://schemas.openxmlformats.org/drawingml/2006/main">
            <a:off x="552450" y="3638550"/>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725" b="1">
                <a:solidFill>
                  <a:srgbClr val="D5AF4F"/>
                </a:solidFill>
                <a:latin typeface="Aptos"/>
                <a:ea typeface="Aptos"/>
                <a:cs typeface="Aptos"/>
              </a:defRPr>
            </a:pPr>
            <a:r>
              <a:rPr sz="1725" b="1">
                <a:solidFill>
                  <a:srgbClr val="D5AF4F"/>
                </a:solidFill>
                <a:latin typeface="Aptos"/>
                <a:ea typeface="Aptos"/>
                <a:cs typeface="Aptos"/>
              </a:rPr>
              <a:t>Mechanism, evidence and accountable decisions</a:t>
            </a:r>
          </a:p>
        </p:txBody>
      </p:sp>
      <p:sp>
        <p:nvSpPr>
          <p:cNvPr id="7" name="">
            <a:extLst xmlns:a="http://schemas.openxmlformats.org/drawingml/2006/main">
              <a:ext uri="{FF2B5EF4-FFF2-40B4-BE49-F238E27FC236}">
                <a16:creationId xmlns:a16="http://schemas.microsoft.com/office/drawing/2014/main" id="{1591C29F-9AC4-4669-934B-B43A72219DB1}"/>
              </a:ext>
            </a:extLst>
          </p:cNvPr>
          <p:cNvSpPr>
            <a:spLocks xmlns:a="http://schemas.openxmlformats.org/drawingml/2006/main" noGrp="1"/>
          </p:cNvSpPr>
          <p:nvPr/>
        </p:nvSpPr>
        <p:spPr>
          <a:xfrm xmlns:a="http://schemas.openxmlformats.org/drawingml/2006/main">
            <a:off x="552450" y="5905500"/>
            <a:ext cx="495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900" b="0">
                <a:solidFill>
                  <a:srgbClr val="B8CDD5"/>
                </a:solidFill>
                <a:latin typeface="Aptos"/>
                <a:ea typeface="Aptos"/>
                <a:cs typeface="Aptos"/>
              </a:defRPr>
            </a:pPr>
            <a:r>
              <a:rPr sz="900" b="0">
                <a:solidFill>
                  <a:srgbClr val="B8CDD5"/>
                </a:solidFill>
                <a:latin typeface="Aptos"/>
                <a:ea typeface="Aptos"/>
                <a:cs typeface="Aptos"/>
              </a:rPr>
              <a:t>OS-A02-A05  |  Canonical alignment v2.1</a:t>
            </a:r>
          </a:p>
        </p:txBody>
      </p:sp>
    </p:spTree>
    <p:extLst>
      <p:ext uri="{BB962C8B-B14F-4D97-AF65-F5344CB8AC3E}">
        <p14:creationId xmlns:p14="http://schemas.microsoft.com/office/powerpoint/2010/main" val="1506796233"/>
      </p:ext>
    </p:extLst>
  </p:cSld>
</p:sld>
</file>

<file path=ppt/slides/slide2.xml><?xml version="1.0" encoding="utf-8"?>
<p:sld xmlns:p="http://schemas.openxmlformats.org/presentationml/2006/main">
  <p:cSld>
    <p:bg>
      <p:bgPr>
        <a:solidFill xmlns:a="http://schemas.openxmlformats.org/drawingml/2006/main">
          <a:srgbClr val="07182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E9E4E66-9C74-43BE-A42E-46878FB7CCAB}"/>
              </a:ext>
            </a:extLst>
          </p:cNvPr>
          <p:cNvSpPr>
            <a:spLocks xmlns:a="http://schemas.openxmlformats.org/drawingml/2006/main" noGrp="1"/>
          </p:cNvSpPr>
          <p:nvPr/>
        </p:nvSpPr>
        <p:spPr>
          <a:xfrm xmlns:a="http://schemas.openxmlformats.org/drawingml/2006/main">
            <a:off x="7239000" y="0"/>
            <a:ext cx="4953000" cy="6858000"/>
          </a:xfrm>
          <a:prstGeom xmlns:a="http://schemas.openxmlformats.org/drawingml/2006/main" prst="rect">
            <a:avLst/>
          </a:prstGeom>
          <a:solidFill xmlns:a="http://schemas.openxmlformats.org/drawingml/2006/main">
            <a:srgbClr val="0B263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A7801A3-A4AC-423D-9C0F-14B3A772C98A}"/>
              </a:ext>
            </a:extLst>
          </p:cNvPr>
          <p:cNvSpPr>
            <a:spLocks xmlns:a="http://schemas.openxmlformats.org/drawingml/2006/main" noGrp="1"/>
          </p:cNvSpPr>
          <p:nvPr/>
        </p:nvSpPr>
        <p:spPr>
          <a:xfrm xmlns:a="http://schemas.openxmlformats.org/drawingml/2006/main">
            <a:off x="495300" y="323850"/>
            <a:ext cx="647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900" b="1">
                <a:solidFill>
                  <a:srgbClr val="23C6C8"/>
                </a:solidFill>
                <a:latin typeface="Aptos"/>
                <a:ea typeface="Aptos"/>
                <a:cs typeface="Aptos"/>
              </a:defRPr>
            </a:pPr>
            <a:r>
              <a:rPr sz="900" b="1">
                <a:solidFill>
                  <a:srgbClr val="23C6C8"/>
                </a:solidFill>
                <a:latin typeface="Aptos"/>
                <a:ea typeface="Aptos"/>
                <a:cs typeface="Aptos"/>
              </a:rPr>
              <a:t>ORIENTATION</a:t>
            </a:r>
          </a:p>
        </p:txBody>
      </p:sp>
      <p:sp>
        <p:nvSpPr>
          <p:cNvPr id="3" name="">
            <a:extLst xmlns:a="http://schemas.openxmlformats.org/drawingml/2006/main">
              <a:ext uri="{FF2B5EF4-FFF2-40B4-BE49-F238E27FC236}">
                <a16:creationId xmlns:a16="http://schemas.microsoft.com/office/drawing/2014/main" id="{AAC0029B-5B1C-48B4-A67C-EEB1D8AE7D44}"/>
              </a:ext>
            </a:extLst>
          </p:cNvPr>
          <p:cNvSpPr>
            <a:spLocks xmlns:a="http://schemas.openxmlformats.org/drawingml/2006/main" noGrp="1"/>
          </p:cNvSpPr>
          <p:nvPr/>
        </p:nvSpPr>
        <p:spPr>
          <a:xfrm xmlns:a="http://schemas.openxmlformats.org/drawingml/2006/main">
            <a:off x="495300" y="685800"/>
            <a:ext cx="666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067"/>
          </a:bodyPr>
          <a:lstStyle xmlns:a="http://schemas.openxmlformats.org/drawingml/2006/main"/>
          <a:p xmlns:a="http://schemas.openxmlformats.org/drawingml/2006/main">
            <a:pPr>
              <a:buNone/>
              <a:defRPr sz="2400" b="1">
                <a:solidFill>
                  <a:srgbClr val="F7FAFC"/>
                </a:solidFill>
                <a:latin typeface="Aptos"/>
                <a:ea typeface="Aptos"/>
                <a:cs typeface="Aptos"/>
              </a:defRPr>
            </a:pPr>
            <a:r>
              <a:rPr sz="2400" b="1">
                <a:solidFill>
                  <a:srgbClr val="F7FAFC"/>
                </a:solidFill>
                <a:latin typeface="Aptos"/>
                <a:ea typeface="Aptos"/>
                <a:cs typeface="Aptos"/>
              </a:rPr>
              <a:t>Learning outcomes and professional boundary</a:t>
            </a:r>
          </a:p>
        </p:txBody>
      </p:sp>
      <p:sp>
        <p:nvSpPr>
          <p:cNvPr id="4" name="">
            <a:extLst xmlns:a="http://schemas.openxmlformats.org/drawingml/2006/main">
              <a:ext uri="{FF2B5EF4-FFF2-40B4-BE49-F238E27FC236}">
                <a16:creationId xmlns:a16="http://schemas.microsoft.com/office/drawing/2014/main" id="{21BF6446-9F18-47A9-BED7-CCFAE5FC75F8}"/>
              </a:ext>
            </a:extLst>
          </p:cNvPr>
          <p:cNvSpPr>
            <a:spLocks xmlns:a="http://schemas.openxmlformats.org/drawingml/2006/main" noGrp="1"/>
          </p:cNvSpPr>
          <p:nvPr/>
        </p:nvSpPr>
        <p:spPr>
          <a:xfrm xmlns:a="http://schemas.openxmlformats.org/drawingml/2006/main">
            <a:off x="495300" y="1314450"/>
            <a:ext cx="2381250" cy="28575"/>
          </a:xfrm>
          <a:prstGeom xmlns:a="http://schemas.openxmlformats.org/drawingml/2006/main" prst="rect">
            <a:avLst/>
          </a:prstGeom>
          <a:solidFill xmlns:a="http://schemas.openxmlformats.org/drawingml/2006/main">
            <a:srgbClr val="D5AF4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B21B8F8-430B-4043-B52E-D986A5F75B74}"/>
              </a:ext>
            </a:extLst>
          </p:cNvPr>
          <p:cNvSpPr>
            <a:spLocks xmlns:a="http://schemas.openxmlformats.org/drawingml/2006/main" noGrp="1"/>
          </p:cNvSpPr>
          <p:nvPr/>
        </p:nvSpPr>
        <p:spPr>
          <a:xfrm xmlns:a="http://schemas.openxmlformats.org/drawingml/2006/main">
            <a:off x="552450" y="1695450"/>
            <a:ext cx="619125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41300" indent="-127000">
              <a:spcAft>
                <a:spcPts val="1600"/>
              </a:spcAft>
              <a:buChar char="•"/>
              <a:defRPr sz="1650">
                <a:solidFill>
                  <a:srgbClr val="F7FAFC"/>
                </a:solidFill>
                <a:latin typeface="Aptos"/>
                <a:ea typeface="Aptos"/>
                <a:cs typeface="Aptos"/>
              </a:defRPr>
            </a:pPr>
            <a:r>
              <a:rPr sz="1650">
                <a:solidFill>
                  <a:srgbClr val="F7FAFC"/>
                </a:solidFill>
                <a:latin typeface="Aptos"/>
                <a:ea typeface="Aptos"/>
                <a:cs typeface="Aptos"/>
              </a:rPr>
              <a:t>Decompose statistical work and locate retained judgement</a:t>
            </a:r>
          </a:p>
          <a:p xmlns:a="http://schemas.openxmlformats.org/drawingml/2006/main">
            <a:pPr marL="241300" indent="-127000">
              <a:spcAft>
                <a:spcPts val="1600"/>
              </a:spcAft>
              <a:buChar char="•"/>
              <a:defRPr sz="1650">
                <a:solidFill>
                  <a:srgbClr val="F7FAFC"/>
                </a:solidFill>
                <a:latin typeface="Aptos"/>
                <a:ea typeface="Aptos"/>
                <a:cs typeface="Aptos"/>
              </a:defRPr>
            </a:pPr>
            <a:r>
              <a:rPr sz="1650">
                <a:solidFill>
                  <a:srgbClr val="F7FAFC"/>
                </a:solidFill>
                <a:latin typeface="Aptos"/>
                <a:ea typeface="Aptos"/>
                <a:cs typeface="Aptos"/>
              </a:rPr>
              <a:t>Distinguish mechanisms, assumptions and uncertainty</a:t>
            </a:r>
          </a:p>
          <a:p xmlns:a="http://schemas.openxmlformats.org/drawingml/2006/main">
            <a:pPr marL="241300" indent="-127000">
              <a:spcAft>
                <a:spcPts val="1600"/>
              </a:spcAft>
              <a:buChar char="•"/>
              <a:defRPr sz="1650">
                <a:solidFill>
                  <a:srgbClr val="F7FAFC"/>
                </a:solidFill>
                <a:latin typeface="Aptos"/>
                <a:ea typeface="Aptos"/>
                <a:cs typeface="Aptos"/>
              </a:defRPr>
            </a:pPr>
            <a:r>
              <a:rPr sz="1650">
                <a:solidFill>
                  <a:srgbClr val="F7FAFC"/>
                </a:solidFill>
                <a:latin typeface="Aptos"/>
                <a:ea typeface="Aptos"/>
                <a:cs typeface="Aptos"/>
              </a:rPr>
              <a:t>Trace failures into official products and institutional duties</a:t>
            </a:r>
          </a:p>
          <a:p xmlns:a="http://schemas.openxmlformats.org/drawingml/2006/main">
            <a:pPr marL="241300" indent="-127000">
              <a:spcAft>
                <a:spcPts val="1600"/>
              </a:spcAft>
              <a:buChar char="•"/>
              <a:defRPr sz="1650">
                <a:solidFill>
                  <a:srgbClr val="F7FAFC"/>
                </a:solidFill>
                <a:latin typeface="Aptos"/>
                <a:ea typeface="Aptos"/>
                <a:cs typeface="Aptos"/>
              </a:defRPr>
            </a:pPr>
            <a:r>
              <a:rPr sz="1650">
                <a:solidFill>
                  <a:srgbClr val="F7FAFC"/>
                </a:solidFill>
                <a:latin typeface="Aptos"/>
                <a:ea typeface="Aptos"/>
                <a:cs typeface="Aptos"/>
              </a:rPr>
              <a:t>Issue a documented permit, redesign, reject or escalate decision</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3a751338fcc4422d"/>
          <a:srcRect xmlns:a="http://schemas.openxmlformats.org/drawingml/2006/main" l="10475" t="0" r="10475" b="0"/>
          <a:stretch xmlns:a="http://schemas.openxmlformats.org/drawingml/2006/main">
            <a:fillRect l="0" t="0" r="0" b="0"/>
          </a:stretch>
        </p:blipFill>
        <p:spPr>
          <a:xfrm xmlns:a="http://schemas.openxmlformats.org/drawingml/2006/main">
            <a:off x="7486650" y="1257300"/>
            <a:ext cx="4171950" cy="4800600"/>
          </a:xfrm>
          <a:prstGeom xmlns:a="http://schemas.openxmlformats.org/drawingml/2006/main" prst="roundRect">
            <a:avLst>
              <a:gd name="adj" fmla="val 5479"/>
            </a:avLst>
          </a:prstGeom>
        </p:spPr>
      </p:pic>
      <p:sp>
        <p:nvSpPr>
          <p:cNvPr id="7" name="">
            <a:extLst xmlns:a="http://schemas.openxmlformats.org/drawingml/2006/main">
              <a:ext uri="{FF2B5EF4-FFF2-40B4-BE49-F238E27FC236}">
                <a16:creationId xmlns:a16="http://schemas.microsoft.com/office/drawing/2014/main" id="{DD27DDDC-51E2-4C57-96D2-C68413B5182F}"/>
              </a:ext>
            </a:extLst>
          </p:cNvPr>
          <p:cNvSpPr>
            <a:spLocks xmlns:a="http://schemas.openxmlformats.org/drawingml/2006/main" noGrp="1"/>
          </p:cNvSpPr>
          <p:nvPr/>
        </p:nvSpPr>
        <p:spPr>
          <a:xfrm xmlns:a="http://schemas.openxmlformats.org/drawingml/2006/main">
            <a:off x="11353800" y="6400800"/>
            <a:ext cx="4000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buNone/>
              <a:defRPr sz="750" b="1">
                <a:solidFill>
                  <a:srgbClr val="B8CDD5"/>
                </a:solidFill>
                <a:latin typeface="Aptos"/>
                <a:ea typeface="Aptos"/>
                <a:cs typeface="Aptos"/>
              </a:defRPr>
            </a:pPr>
            <a:r>
              <a:rPr sz="750" b="1">
                <a:solidFill>
                  <a:srgbClr val="B8CDD5"/>
                </a:solidFill>
                <a:latin typeface="Aptos"/>
                <a:ea typeface="Aptos"/>
                <a:cs typeface="Aptos"/>
              </a:rPr>
              <a:t>01</a:t>
            </a:r>
          </a:p>
        </p:txBody>
      </p:sp>
      <p:sp>
        <p:nvSpPr>
          <p:cNvPr id="8" name="">
            <a:extLst xmlns:a="http://schemas.openxmlformats.org/drawingml/2006/main">
              <a:ext uri="{FF2B5EF4-FFF2-40B4-BE49-F238E27FC236}">
                <a16:creationId xmlns:a16="http://schemas.microsoft.com/office/drawing/2014/main" id="{5E461F59-DA7C-4072-865D-F9A8EF377D1B}"/>
              </a:ext>
            </a:extLst>
          </p:cNvPr>
          <p:cNvSpPr>
            <a:spLocks xmlns:a="http://schemas.openxmlformats.org/drawingml/2006/main" noGrp="1"/>
          </p:cNvSpPr>
          <p:nvPr/>
        </p:nvSpPr>
        <p:spPr>
          <a:xfrm xmlns:a="http://schemas.openxmlformats.org/drawingml/2006/main">
            <a:off x="495300" y="6400800"/>
            <a:ext cx="1524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buNone/>
              <a:defRPr sz="750" b="0">
                <a:solidFill>
                  <a:srgbClr val="B8CDD5"/>
                </a:solidFill>
                <a:latin typeface="Aptos"/>
                <a:ea typeface="Aptos"/>
                <a:cs typeface="Aptos"/>
              </a:defRPr>
            </a:pPr>
            <a:r>
              <a:rPr sz="750" b="0">
                <a:solidFill>
                  <a:srgbClr val="B8CDD5"/>
                </a:solidFill>
                <a:latin typeface="Aptos"/>
                <a:ea typeface="Aptos"/>
                <a:cs typeface="Aptos"/>
              </a:rPr>
              <a:t>SRAI  |  OS-A02</a:t>
            </a:r>
          </a:p>
        </p:txBody>
      </p:sp>
    </p:spTree>
    <p:extLst>
      <p:ext uri="{BB962C8B-B14F-4D97-AF65-F5344CB8AC3E}">
        <p14:creationId xmlns:p14="http://schemas.microsoft.com/office/powerpoint/2010/main" val="1803814969"/>
      </p:ext>
    </p:extLst>
  </p:cSld>
</p:sld>
</file>

<file path=ppt/slides/slide3.xml><?xml version="1.0" encoding="utf-8"?>
<p:sld xmlns:p="http://schemas.openxmlformats.org/presentationml/2006/main">
  <p:cSld>
    <p:bg>
      <p:bgPr>
        <a:solidFill xmlns:a="http://schemas.openxmlformats.org/drawingml/2006/main">
          <a:srgbClr val="07182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4D5730E-FA32-4F72-BE15-8E689CA61C44}"/>
              </a:ext>
            </a:extLst>
          </p:cNvPr>
          <p:cNvSpPr>
            <a:spLocks xmlns:a="http://schemas.openxmlformats.org/drawingml/2006/main" noGrp="1"/>
          </p:cNvSpPr>
          <p:nvPr/>
        </p:nvSpPr>
        <p:spPr>
          <a:xfrm xmlns:a="http://schemas.openxmlformats.org/drawingml/2006/main">
            <a:off x="7239000" y="0"/>
            <a:ext cx="4953000" cy="6858000"/>
          </a:xfrm>
          <a:prstGeom xmlns:a="http://schemas.openxmlformats.org/drawingml/2006/main" prst="rect">
            <a:avLst/>
          </a:prstGeom>
          <a:solidFill xmlns:a="http://schemas.openxmlformats.org/drawingml/2006/main">
            <a:srgbClr val="0B263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C6A19D4-4801-4133-B0D5-644892A0871E}"/>
              </a:ext>
            </a:extLst>
          </p:cNvPr>
          <p:cNvSpPr>
            <a:spLocks xmlns:a="http://schemas.openxmlformats.org/drawingml/2006/main" noGrp="1"/>
          </p:cNvSpPr>
          <p:nvPr/>
        </p:nvSpPr>
        <p:spPr>
          <a:xfrm xmlns:a="http://schemas.openxmlformats.org/drawingml/2006/main">
            <a:off x="495300" y="323850"/>
            <a:ext cx="647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900" b="1">
                <a:solidFill>
                  <a:srgbClr val="23C6C8"/>
                </a:solidFill>
                <a:latin typeface="Aptos"/>
                <a:ea typeface="Aptos"/>
                <a:cs typeface="Aptos"/>
              </a:defRPr>
            </a:pPr>
            <a:r>
              <a:rPr sz="900" b="1">
                <a:solidFill>
                  <a:srgbClr val="23C6C8"/>
                </a:solidFill>
                <a:latin typeface="Aptos"/>
                <a:ea typeface="Aptos"/>
                <a:cs typeface="Aptos"/>
              </a:rPr>
              <a:t>ASSURANCE FRAMEWORK</a:t>
            </a:r>
          </a:p>
        </p:txBody>
      </p:sp>
      <p:sp>
        <p:nvSpPr>
          <p:cNvPr id="3" name="">
            <a:extLst xmlns:a="http://schemas.openxmlformats.org/drawingml/2006/main">
              <a:ext uri="{FF2B5EF4-FFF2-40B4-BE49-F238E27FC236}">
                <a16:creationId xmlns:a16="http://schemas.microsoft.com/office/drawing/2014/main" id="{45BA9F61-6C5E-4A28-B8AC-A1500C43D2E5}"/>
              </a:ext>
            </a:extLst>
          </p:cNvPr>
          <p:cNvSpPr>
            <a:spLocks xmlns:a="http://schemas.openxmlformats.org/drawingml/2006/main" noGrp="1"/>
          </p:cNvSpPr>
          <p:nvPr/>
        </p:nvSpPr>
        <p:spPr>
          <a:xfrm xmlns:a="http://schemas.openxmlformats.org/drawingml/2006/main">
            <a:off x="495300" y="685800"/>
            <a:ext cx="666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400" b="1">
                <a:solidFill>
                  <a:srgbClr val="F7FAFC"/>
                </a:solidFill>
                <a:latin typeface="Aptos"/>
                <a:ea typeface="Aptos"/>
                <a:cs typeface="Aptos"/>
              </a:defRPr>
            </a:pPr>
            <a:r>
              <a:rPr sz="2400" b="1">
                <a:solidFill>
                  <a:srgbClr val="F7FAFC"/>
                </a:solidFill>
                <a:latin typeface="Aptos"/>
                <a:ea typeface="Aptos"/>
                <a:cs typeface="Aptos"/>
              </a:rPr>
              <a:t>Quality and AI assurance</a:t>
            </a:r>
          </a:p>
        </p:txBody>
      </p:sp>
      <p:sp>
        <p:nvSpPr>
          <p:cNvPr id="4" name="">
            <a:extLst xmlns:a="http://schemas.openxmlformats.org/drawingml/2006/main">
              <a:ext uri="{FF2B5EF4-FFF2-40B4-BE49-F238E27FC236}">
                <a16:creationId xmlns:a16="http://schemas.microsoft.com/office/drawing/2014/main" id="{15DB5B34-9672-4C86-ADE9-5D5C180A3115}"/>
              </a:ext>
            </a:extLst>
          </p:cNvPr>
          <p:cNvSpPr>
            <a:spLocks xmlns:a="http://schemas.openxmlformats.org/drawingml/2006/main" noGrp="1"/>
          </p:cNvSpPr>
          <p:nvPr/>
        </p:nvSpPr>
        <p:spPr>
          <a:xfrm xmlns:a="http://schemas.openxmlformats.org/drawingml/2006/main">
            <a:off x="495300" y="1314450"/>
            <a:ext cx="2381250" cy="28575"/>
          </a:xfrm>
          <a:prstGeom xmlns:a="http://schemas.openxmlformats.org/drawingml/2006/main" prst="rect">
            <a:avLst/>
          </a:prstGeom>
          <a:solidFill xmlns:a="http://schemas.openxmlformats.org/drawingml/2006/main">
            <a:srgbClr val="D5AF4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308A9EF-A370-4068-BBFD-A99DEA105AE5}"/>
              </a:ext>
            </a:extLst>
          </p:cNvPr>
          <p:cNvSpPr>
            <a:spLocks xmlns:a="http://schemas.openxmlformats.org/drawingml/2006/main" noGrp="1"/>
          </p:cNvSpPr>
          <p:nvPr/>
        </p:nvSpPr>
        <p:spPr>
          <a:xfrm xmlns:a="http://schemas.openxmlformats.org/drawingml/2006/main">
            <a:off x="552450" y="1695450"/>
            <a:ext cx="619125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41300" indent="-127000">
              <a:spcAft>
                <a:spcPts val="1600"/>
              </a:spcAft>
              <a:buChar char="•"/>
              <a:defRPr sz="1650">
                <a:solidFill>
                  <a:srgbClr val="F7FAFC"/>
                </a:solidFill>
                <a:latin typeface="Aptos"/>
                <a:ea typeface="Aptos"/>
                <a:cs typeface="Aptos"/>
              </a:defRPr>
            </a:pPr>
            <a:r>
              <a:rPr sz="1650">
                <a:solidFill>
                  <a:srgbClr val="F7FAFC"/>
                </a:solidFill>
                <a:latin typeface="Aptos"/>
                <a:ea typeface="Aptos"/>
                <a:cs typeface="Aptos"/>
              </a:rPr>
              <a:t>Evaluate quality at the official-product level</a:t>
            </a:r>
          </a:p>
          <a:p xmlns:a="http://schemas.openxmlformats.org/drawingml/2006/main">
            <a:pPr marL="241300" indent="-127000">
              <a:spcAft>
                <a:spcPts val="1600"/>
              </a:spcAft>
              <a:buChar char="•"/>
              <a:defRPr sz="1650">
                <a:solidFill>
                  <a:srgbClr val="F7FAFC"/>
                </a:solidFill>
                <a:latin typeface="Aptos"/>
                <a:ea typeface="Aptos"/>
                <a:cs typeface="Aptos"/>
              </a:defRPr>
            </a:pPr>
            <a:r>
              <a:rPr sz="1650">
                <a:solidFill>
                  <a:srgbClr val="F7FAFC"/>
                </a:solidFill>
                <a:latin typeface="Aptos"/>
                <a:ea typeface="Aptos"/>
                <a:cs typeface="Aptos"/>
              </a:rPr>
              <a:t>Treat confidentiality, validity and authority as mandatory gates</a:t>
            </a:r>
          </a:p>
          <a:p xmlns:a="http://schemas.openxmlformats.org/drawingml/2006/main">
            <a:pPr marL="241300" indent="-127000">
              <a:spcAft>
                <a:spcPts val="1600"/>
              </a:spcAft>
              <a:buChar char="•"/>
              <a:defRPr sz="1650">
                <a:solidFill>
                  <a:srgbClr val="F7FAFC"/>
                </a:solidFill>
                <a:latin typeface="Aptos"/>
                <a:ea typeface="Aptos"/>
                <a:cs typeface="Aptos"/>
              </a:defRPr>
            </a:pPr>
            <a:r>
              <a:rPr sz="1650">
                <a:solidFill>
                  <a:srgbClr val="F7FAFC"/>
                </a:solidFill>
                <a:latin typeface="Aptos"/>
                <a:ea typeface="Aptos"/>
                <a:cs typeface="Aptos"/>
              </a:rPr>
              <a:t>Compare quality-adjusted time with the current baseline</a:t>
            </a:r>
          </a:p>
          <a:p xmlns:a="http://schemas.openxmlformats.org/drawingml/2006/main">
            <a:pPr marL="241300" indent="-127000">
              <a:spcAft>
                <a:spcPts val="1600"/>
              </a:spcAft>
              <a:buChar char="•"/>
              <a:defRPr sz="1650">
                <a:solidFill>
                  <a:srgbClr val="F7FAFC"/>
                </a:solidFill>
                <a:latin typeface="Aptos"/>
                <a:ea typeface="Aptos"/>
                <a:cs typeface="Aptos"/>
              </a:defRPr>
            </a:pPr>
            <a:r>
              <a:rPr sz="1650">
                <a:solidFill>
                  <a:srgbClr val="F7FAFC"/>
                </a:solidFill>
                <a:latin typeface="Aptos"/>
                <a:ea typeface="Aptos"/>
                <a:cs typeface="Aptos"/>
              </a:rPr>
              <a:t>Record provenance, versions, corrections and accountable owners</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4a0330d1c77d432f"/>
          <a:srcRect xmlns:a="http://schemas.openxmlformats.org/drawingml/2006/main" l="10475" t="0" r="10475" b="0"/>
          <a:stretch xmlns:a="http://schemas.openxmlformats.org/drawingml/2006/main">
            <a:fillRect l="0" t="0" r="0" b="0"/>
          </a:stretch>
        </p:blipFill>
        <p:spPr>
          <a:xfrm xmlns:a="http://schemas.openxmlformats.org/drawingml/2006/main">
            <a:off x="7486650" y="1257300"/>
            <a:ext cx="4171950" cy="4800600"/>
          </a:xfrm>
          <a:prstGeom xmlns:a="http://schemas.openxmlformats.org/drawingml/2006/main" prst="roundRect">
            <a:avLst>
              <a:gd name="adj" fmla="val 5479"/>
            </a:avLst>
          </a:prstGeom>
        </p:spPr>
      </p:pic>
      <p:sp>
        <p:nvSpPr>
          <p:cNvPr id="7" name="">
            <a:extLst xmlns:a="http://schemas.openxmlformats.org/drawingml/2006/main">
              <a:ext uri="{FF2B5EF4-FFF2-40B4-BE49-F238E27FC236}">
                <a16:creationId xmlns:a16="http://schemas.microsoft.com/office/drawing/2014/main" id="{1BC4B629-F5B1-4A54-BB80-FEF4B2EED722}"/>
              </a:ext>
            </a:extLst>
          </p:cNvPr>
          <p:cNvSpPr>
            <a:spLocks xmlns:a="http://schemas.openxmlformats.org/drawingml/2006/main" noGrp="1"/>
          </p:cNvSpPr>
          <p:nvPr/>
        </p:nvSpPr>
        <p:spPr>
          <a:xfrm xmlns:a="http://schemas.openxmlformats.org/drawingml/2006/main">
            <a:off x="11353800" y="6400800"/>
            <a:ext cx="4000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buNone/>
              <a:defRPr sz="750" b="1">
                <a:solidFill>
                  <a:srgbClr val="B8CDD5"/>
                </a:solidFill>
                <a:latin typeface="Aptos"/>
                <a:ea typeface="Aptos"/>
                <a:cs typeface="Aptos"/>
              </a:defRPr>
            </a:pPr>
            <a:r>
              <a:rPr sz="750" b="1">
                <a:solidFill>
                  <a:srgbClr val="B8CDD5"/>
                </a:solidFill>
                <a:latin typeface="Aptos"/>
                <a:ea typeface="Aptos"/>
                <a:cs typeface="Aptos"/>
              </a:rPr>
              <a:t>02</a:t>
            </a:r>
          </a:p>
        </p:txBody>
      </p:sp>
      <p:sp>
        <p:nvSpPr>
          <p:cNvPr id="8" name="">
            <a:extLst xmlns:a="http://schemas.openxmlformats.org/drawingml/2006/main">
              <a:ext uri="{FF2B5EF4-FFF2-40B4-BE49-F238E27FC236}">
                <a16:creationId xmlns:a16="http://schemas.microsoft.com/office/drawing/2014/main" id="{5DC78366-7C77-4F6E-9A6C-7944DFEC5676}"/>
              </a:ext>
            </a:extLst>
          </p:cNvPr>
          <p:cNvSpPr>
            <a:spLocks xmlns:a="http://schemas.openxmlformats.org/drawingml/2006/main" noGrp="1"/>
          </p:cNvSpPr>
          <p:nvPr/>
        </p:nvSpPr>
        <p:spPr>
          <a:xfrm xmlns:a="http://schemas.openxmlformats.org/drawingml/2006/main">
            <a:off x="495300" y="6400800"/>
            <a:ext cx="1524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buNone/>
              <a:defRPr sz="750" b="0">
                <a:solidFill>
                  <a:srgbClr val="B8CDD5"/>
                </a:solidFill>
                <a:latin typeface="Aptos"/>
                <a:ea typeface="Aptos"/>
                <a:cs typeface="Aptos"/>
              </a:defRPr>
            </a:pPr>
            <a:r>
              <a:rPr sz="750" b="0">
                <a:solidFill>
                  <a:srgbClr val="B8CDD5"/>
                </a:solidFill>
                <a:latin typeface="Aptos"/>
                <a:ea typeface="Aptos"/>
                <a:cs typeface="Aptos"/>
              </a:rPr>
              <a:t>SRAI  |  OS-A02</a:t>
            </a:r>
          </a:p>
        </p:txBody>
      </p:sp>
    </p:spTree>
    <p:extLst>
      <p:ext uri="{BB962C8B-B14F-4D97-AF65-F5344CB8AC3E}">
        <p14:creationId xmlns:p14="http://schemas.microsoft.com/office/powerpoint/2010/main" val="1488726741"/>
      </p:ext>
    </p:extLst>
  </p:cSld>
</p:sld>
</file>

<file path=ppt/slides/slide4.xml><?xml version="1.0" encoding="utf-8"?>
<p:sld xmlns:p="http://schemas.openxmlformats.org/presentationml/2006/main">
  <p:cSld>
    <p:bg>
      <p:bgPr>
        <a:solidFill xmlns:a="http://schemas.openxmlformats.org/drawingml/2006/main">
          <a:srgbClr val="07182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1E93B1B-31DB-430E-B590-85BD47134E82}"/>
              </a:ext>
            </a:extLst>
          </p:cNvPr>
          <p:cNvSpPr>
            <a:spLocks xmlns:a="http://schemas.openxmlformats.org/drawingml/2006/main" noGrp="1"/>
          </p:cNvSpPr>
          <p:nvPr/>
        </p:nvSpPr>
        <p:spPr>
          <a:xfrm xmlns:a="http://schemas.openxmlformats.org/drawingml/2006/main">
            <a:off x="7239000" y="0"/>
            <a:ext cx="4953000" cy="6858000"/>
          </a:xfrm>
          <a:prstGeom xmlns:a="http://schemas.openxmlformats.org/drawingml/2006/main" prst="rect">
            <a:avLst/>
          </a:prstGeom>
          <a:solidFill xmlns:a="http://schemas.openxmlformats.org/drawingml/2006/main">
            <a:srgbClr val="0B263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5578A06-52D3-4681-BBFA-3E3D97ED47CB}"/>
              </a:ext>
            </a:extLst>
          </p:cNvPr>
          <p:cNvSpPr>
            <a:spLocks xmlns:a="http://schemas.openxmlformats.org/drawingml/2006/main" noGrp="1"/>
          </p:cNvSpPr>
          <p:nvPr/>
        </p:nvSpPr>
        <p:spPr>
          <a:xfrm xmlns:a="http://schemas.openxmlformats.org/drawingml/2006/main">
            <a:off x="495300" y="323850"/>
            <a:ext cx="647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900" b="1">
                <a:solidFill>
                  <a:srgbClr val="23C6C8"/>
                </a:solidFill>
                <a:latin typeface="Aptos"/>
                <a:ea typeface="Aptos"/>
                <a:cs typeface="Aptos"/>
              </a:defRPr>
            </a:pPr>
            <a:r>
              <a:rPr sz="900" b="1">
                <a:solidFill>
                  <a:srgbClr val="23C6C8"/>
                </a:solidFill>
                <a:latin typeface="Aptos"/>
                <a:ea typeface="Aptos"/>
                <a:cs typeface="Aptos"/>
              </a:rPr>
              <a:t>CHAPTER 01</a:t>
            </a:r>
          </a:p>
        </p:txBody>
      </p:sp>
      <p:sp>
        <p:nvSpPr>
          <p:cNvPr id="3" name="">
            <a:extLst xmlns:a="http://schemas.openxmlformats.org/drawingml/2006/main">
              <a:ext uri="{FF2B5EF4-FFF2-40B4-BE49-F238E27FC236}">
                <a16:creationId xmlns:a16="http://schemas.microsoft.com/office/drawing/2014/main" id="{D1F30646-155D-4614-B898-C06D4352A655}"/>
              </a:ext>
            </a:extLst>
          </p:cNvPr>
          <p:cNvSpPr>
            <a:spLocks xmlns:a="http://schemas.openxmlformats.org/drawingml/2006/main" noGrp="1"/>
          </p:cNvSpPr>
          <p:nvPr/>
        </p:nvSpPr>
        <p:spPr>
          <a:xfrm xmlns:a="http://schemas.openxmlformats.org/drawingml/2006/main">
            <a:off x="495300" y="685800"/>
            <a:ext cx="666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400" b="1">
                <a:solidFill>
                  <a:srgbClr val="F7FAFC"/>
                </a:solidFill>
                <a:latin typeface="Aptos"/>
                <a:ea typeface="Aptos"/>
                <a:cs typeface="Aptos"/>
              </a:defRPr>
            </a:pPr>
            <a:r>
              <a:rPr sz="2400" b="1">
                <a:solidFill>
                  <a:srgbClr val="F7FAFC"/>
                </a:solidFill>
                <a:latin typeface="Aptos"/>
                <a:ea typeface="Aptos"/>
                <a:cs typeface="Aptos"/>
              </a:rPr>
              <a:t>The sociotechnical evidence system</a:t>
            </a:r>
          </a:p>
        </p:txBody>
      </p:sp>
      <p:sp>
        <p:nvSpPr>
          <p:cNvPr id="4" name="">
            <a:extLst xmlns:a="http://schemas.openxmlformats.org/drawingml/2006/main">
              <a:ext uri="{FF2B5EF4-FFF2-40B4-BE49-F238E27FC236}">
                <a16:creationId xmlns:a16="http://schemas.microsoft.com/office/drawing/2014/main" id="{D17DD94E-4462-4353-B04F-0DC315B6CE30}"/>
              </a:ext>
            </a:extLst>
          </p:cNvPr>
          <p:cNvSpPr>
            <a:spLocks xmlns:a="http://schemas.openxmlformats.org/drawingml/2006/main" noGrp="1"/>
          </p:cNvSpPr>
          <p:nvPr/>
        </p:nvSpPr>
        <p:spPr>
          <a:xfrm xmlns:a="http://schemas.openxmlformats.org/drawingml/2006/main">
            <a:off x="495300" y="1314450"/>
            <a:ext cx="2381250" cy="28575"/>
          </a:xfrm>
          <a:prstGeom xmlns:a="http://schemas.openxmlformats.org/drawingml/2006/main" prst="rect">
            <a:avLst/>
          </a:prstGeom>
          <a:solidFill xmlns:a="http://schemas.openxmlformats.org/drawingml/2006/main">
            <a:srgbClr val="D5AF4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8016D43-134B-41E0-A3E4-25A4B5439CAE}"/>
              </a:ext>
            </a:extLst>
          </p:cNvPr>
          <p:cNvSpPr>
            <a:spLocks xmlns:a="http://schemas.openxmlformats.org/drawingml/2006/main" noGrp="1"/>
          </p:cNvSpPr>
          <p:nvPr/>
        </p:nvSpPr>
        <p:spPr>
          <a:xfrm xmlns:a="http://schemas.openxmlformats.org/drawingml/2006/main">
            <a:off x="552450" y="1695450"/>
            <a:ext cx="619125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41300" indent="-127000">
              <a:spcAft>
                <a:spcPts val="1600"/>
              </a:spcAft>
              <a:buChar char="•"/>
              <a:defRPr sz="1650">
                <a:solidFill>
                  <a:srgbClr val="F7FAFC"/>
                </a:solidFill>
                <a:latin typeface="Aptos"/>
                <a:ea typeface="Aptos"/>
                <a:cs typeface="Aptos"/>
              </a:defRPr>
            </a:pPr>
            <a:r>
              <a:rPr sz="1650">
                <a:solidFill>
                  <a:srgbClr val="F7FAFC"/>
                </a:solidFill>
                <a:latin typeface="Aptos"/>
                <a:ea typeface="Aptos"/>
                <a:cs typeface="Aptos"/>
              </a:rPr>
              <a:t>Official statistics links mandate, concepts, sources, methods and public communication</a:t>
            </a:r>
          </a:p>
          <a:p xmlns:a="http://schemas.openxmlformats.org/drawingml/2006/main">
            <a:pPr marL="241300" indent="-127000">
              <a:spcAft>
                <a:spcPts val="1600"/>
              </a:spcAft>
              <a:buChar char="•"/>
              <a:defRPr sz="1650">
                <a:solidFill>
                  <a:srgbClr val="F7FAFC"/>
                </a:solidFill>
                <a:latin typeface="Aptos"/>
                <a:ea typeface="Aptos"/>
                <a:cs typeface="Aptos"/>
              </a:defRPr>
            </a:pPr>
            <a:r>
              <a:rPr sz="1650">
                <a:solidFill>
                  <a:srgbClr val="F7FAFC"/>
                </a:solidFill>
                <a:latin typeface="Aptos"/>
                <a:ea typeface="Aptos"/>
                <a:cs typeface="Aptos"/>
              </a:rPr>
              <a:t>Evidence graphs trace data, assumptions and authority into released claims</a:t>
            </a:r>
          </a:p>
          <a:p xmlns:a="http://schemas.openxmlformats.org/drawingml/2006/main">
            <a:pPr marL="241300" indent="-127000">
              <a:spcAft>
                <a:spcPts val="1600"/>
              </a:spcAft>
              <a:buChar char="•"/>
              <a:defRPr sz="1650">
                <a:solidFill>
                  <a:srgbClr val="F7FAFC"/>
                </a:solidFill>
                <a:latin typeface="Aptos"/>
                <a:ea typeface="Aptos"/>
                <a:cs typeface="Aptos"/>
              </a:defRPr>
            </a:pPr>
            <a:r>
              <a:rPr sz="1650">
                <a:solidFill>
                  <a:srgbClr val="F7FAFC"/>
                </a:solidFill>
                <a:latin typeface="Aptos"/>
                <a:ea typeface="Aptos"/>
                <a:cs typeface="Aptos"/>
              </a:rPr>
              <a:t>Capability supports use only when population, production conditions and consequence are covered</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c3d4ad754f5d4033"/>
          <a:srcRect xmlns:a="http://schemas.openxmlformats.org/drawingml/2006/main" l="2535" t="0" r="2535" b="0"/>
          <a:stretch xmlns:a="http://schemas.openxmlformats.org/drawingml/2006/main">
            <a:fillRect l="0" t="0" r="0" b="0"/>
          </a:stretch>
        </p:blipFill>
        <p:spPr>
          <a:xfrm xmlns:a="http://schemas.openxmlformats.org/drawingml/2006/main">
            <a:off x="7486650" y="1257300"/>
            <a:ext cx="4171950" cy="4800600"/>
          </a:xfrm>
          <a:prstGeom xmlns:a="http://schemas.openxmlformats.org/drawingml/2006/main" prst="roundRect">
            <a:avLst>
              <a:gd name="adj" fmla="val 5479"/>
            </a:avLst>
          </a:prstGeom>
        </p:spPr>
      </p:pic>
      <p:sp>
        <p:nvSpPr>
          <p:cNvPr id="7" name="">
            <a:extLst xmlns:a="http://schemas.openxmlformats.org/drawingml/2006/main">
              <a:ext uri="{FF2B5EF4-FFF2-40B4-BE49-F238E27FC236}">
                <a16:creationId xmlns:a16="http://schemas.microsoft.com/office/drawing/2014/main" id="{B00C0B54-B630-4A84-9219-3FB1BB04FDAA}"/>
              </a:ext>
            </a:extLst>
          </p:cNvPr>
          <p:cNvSpPr>
            <a:spLocks xmlns:a="http://schemas.openxmlformats.org/drawingml/2006/main" noGrp="1"/>
          </p:cNvSpPr>
          <p:nvPr/>
        </p:nvSpPr>
        <p:spPr>
          <a:xfrm xmlns:a="http://schemas.openxmlformats.org/drawingml/2006/main">
            <a:off x="11353800" y="6400800"/>
            <a:ext cx="4000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buNone/>
              <a:defRPr sz="750" b="1">
                <a:solidFill>
                  <a:srgbClr val="B8CDD5"/>
                </a:solidFill>
                <a:latin typeface="Aptos"/>
                <a:ea typeface="Aptos"/>
                <a:cs typeface="Aptos"/>
              </a:defRPr>
            </a:pPr>
            <a:r>
              <a:rPr sz="750" b="1">
                <a:solidFill>
                  <a:srgbClr val="B8CDD5"/>
                </a:solidFill>
                <a:latin typeface="Aptos"/>
                <a:ea typeface="Aptos"/>
                <a:cs typeface="Aptos"/>
              </a:rPr>
              <a:t>03</a:t>
            </a:r>
          </a:p>
        </p:txBody>
      </p:sp>
      <p:sp>
        <p:nvSpPr>
          <p:cNvPr id="8" name="">
            <a:extLst xmlns:a="http://schemas.openxmlformats.org/drawingml/2006/main">
              <a:ext uri="{FF2B5EF4-FFF2-40B4-BE49-F238E27FC236}">
                <a16:creationId xmlns:a16="http://schemas.microsoft.com/office/drawing/2014/main" id="{44C3E108-1133-4B1A-8222-2EE835FA1509}"/>
              </a:ext>
            </a:extLst>
          </p:cNvPr>
          <p:cNvSpPr>
            <a:spLocks xmlns:a="http://schemas.openxmlformats.org/drawingml/2006/main" noGrp="1"/>
          </p:cNvSpPr>
          <p:nvPr/>
        </p:nvSpPr>
        <p:spPr>
          <a:xfrm xmlns:a="http://schemas.openxmlformats.org/drawingml/2006/main">
            <a:off x="495300" y="6400800"/>
            <a:ext cx="1524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buNone/>
              <a:defRPr sz="750" b="0">
                <a:solidFill>
                  <a:srgbClr val="B8CDD5"/>
                </a:solidFill>
                <a:latin typeface="Aptos"/>
                <a:ea typeface="Aptos"/>
                <a:cs typeface="Aptos"/>
              </a:defRPr>
            </a:pPr>
            <a:r>
              <a:rPr sz="750" b="0">
                <a:solidFill>
                  <a:srgbClr val="B8CDD5"/>
                </a:solidFill>
                <a:latin typeface="Aptos"/>
                <a:ea typeface="Aptos"/>
                <a:cs typeface="Aptos"/>
              </a:rPr>
              <a:t>SRAI  |  OS-A02</a:t>
            </a:r>
          </a:p>
        </p:txBody>
      </p:sp>
    </p:spTree>
    <p:extLst>
      <p:ext uri="{BB962C8B-B14F-4D97-AF65-F5344CB8AC3E}">
        <p14:creationId xmlns:p14="http://schemas.microsoft.com/office/powerpoint/2010/main" val="301983045"/>
      </p:ext>
    </p:extLst>
  </p:cSld>
</p:sld>
</file>

<file path=ppt/slides/slide5.xml><?xml version="1.0" encoding="utf-8"?>
<p:sld xmlns:p="http://schemas.openxmlformats.org/presentationml/2006/main">
  <p:cSld>
    <p:bg>
      <p:bgPr>
        <a:solidFill xmlns:a="http://schemas.openxmlformats.org/drawingml/2006/main">
          <a:srgbClr val="07182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97E27E5-9C3A-45E7-B98A-0C1EE70CEC75}"/>
              </a:ext>
            </a:extLst>
          </p:cNvPr>
          <p:cNvSpPr>
            <a:spLocks xmlns:a="http://schemas.openxmlformats.org/drawingml/2006/main" noGrp="1"/>
          </p:cNvSpPr>
          <p:nvPr/>
        </p:nvSpPr>
        <p:spPr>
          <a:xfrm xmlns:a="http://schemas.openxmlformats.org/drawingml/2006/main">
            <a:off x="7239000" y="0"/>
            <a:ext cx="4953000" cy="6858000"/>
          </a:xfrm>
          <a:prstGeom xmlns:a="http://schemas.openxmlformats.org/drawingml/2006/main" prst="rect">
            <a:avLst/>
          </a:prstGeom>
          <a:solidFill xmlns:a="http://schemas.openxmlformats.org/drawingml/2006/main">
            <a:srgbClr val="0B263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3D78AA9-189B-4389-A7CC-1E0802E7DD15}"/>
              </a:ext>
            </a:extLst>
          </p:cNvPr>
          <p:cNvSpPr>
            <a:spLocks xmlns:a="http://schemas.openxmlformats.org/drawingml/2006/main" noGrp="1"/>
          </p:cNvSpPr>
          <p:nvPr/>
        </p:nvSpPr>
        <p:spPr>
          <a:xfrm xmlns:a="http://schemas.openxmlformats.org/drawingml/2006/main">
            <a:off x="495300" y="323850"/>
            <a:ext cx="647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900" b="1">
                <a:solidFill>
                  <a:srgbClr val="23C6C8"/>
                </a:solidFill>
                <a:latin typeface="Aptos"/>
                <a:ea typeface="Aptos"/>
                <a:cs typeface="Aptos"/>
              </a:defRPr>
            </a:pPr>
            <a:r>
              <a:rPr sz="900" b="1">
                <a:solidFill>
                  <a:srgbClr val="23C6C8"/>
                </a:solidFill>
                <a:latin typeface="Aptos"/>
                <a:ea typeface="Aptos"/>
                <a:cs typeface="Aptos"/>
              </a:rPr>
              <a:t>CHAPTER 02</a:t>
            </a:r>
          </a:p>
        </p:txBody>
      </p:sp>
      <p:sp>
        <p:nvSpPr>
          <p:cNvPr id="3" name="">
            <a:extLst xmlns:a="http://schemas.openxmlformats.org/drawingml/2006/main">
              <a:ext uri="{FF2B5EF4-FFF2-40B4-BE49-F238E27FC236}">
                <a16:creationId xmlns:a16="http://schemas.microsoft.com/office/drawing/2014/main" id="{E5E5990C-90CD-4718-B1F9-2C09F94B4A2D}"/>
              </a:ext>
            </a:extLst>
          </p:cNvPr>
          <p:cNvSpPr>
            <a:spLocks xmlns:a="http://schemas.openxmlformats.org/drawingml/2006/main" noGrp="1"/>
          </p:cNvSpPr>
          <p:nvPr/>
        </p:nvSpPr>
        <p:spPr>
          <a:xfrm xmlns:a="http://schemas.openxmlformats.org/drawingml/2006/main">
            <a:off x="495300" y="685800"/>
            <a:ext cx="666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400" b="1">
                <a:solidFill>
                  <a:srgbClr val="F7FAFC"/>
                </a:solidFill>
                <a:latin typeface="Aptos"/>
                <a:ea typeface="Aptos"/>
                <a:cs typeface="Aptos"/>
              </a:defRPr>
            </a:pPr>
            <a:r>
              <a:rPr sz="2400" b="1">
                <a:solidFill>
                  <a:srgbClr val="F7FAFC"/>
                </a:solidFill>
                <a:latin typeface="Aptos"/>
                <a:ea typeface="Aptos"/>
                <a:cs typeface="Aptos"/>
              </a:rPr>
              <a:t>Definitions and system boundaries</a:t>
            </a:r>
          </a:p>
        </p:txBody>
      </p:sp>
      <p:sp>
        <p:nvSpPr>
          <p:cNvPr id="4" name="">
            <a:extLst xmlns:a="http://schemas.openxmlformats.org/drawingml/2006/main">
              <a:ext uri="{FF2B5EF4-FFF2-40B4-BE49-F238E27FC236}">
                <a16:creationId xmlns:a16="http://schemas.microsoft.com/office/drawing/2014/main" id="{F1DD44E7-320B-4D26-8894-7935C8A7A7CD}"/>
              </a:ext>
            </a:extLst>
          </p:cNvPr>
          <p:cNvSpPr>
            <a:spLocks xmlns:a="http://schemas.openxmlformats.org/drawingml/2006/main" noGrp="1"/>
          </p:cNvSpPr>
          <p:nvPr/>
        </p:nvSpPr>
        <p:spPr>
          <a:xfrm xmlns:a="http://schemas.openxmlformats.org/drawingml/2006/main">
            <a:off x="495300" y="1314450"/>
            <a:ext cx="2381250" cy="28575"/>
          </a:xfrm>
          <a:prstGeom xmlns:a="http://schemas.openxmlformats.org/drawingml/2006/main" prst="rect">
            <a:avLst/>
          </a:prstGeom>
          <a:solidFill xmlns:a="http://schemas.openxmlformats.org/drawingml/2006/main">
            <a:srgbClr val="D5AF4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2676831-ED6B-4694-9FD4-0A3FC4738562}"/>
              </a:ext>
            </a:extLst>
          </p:cNvPr>
          <p:cNvSpPr>
            <a:spLocks xmlns:a="http://schemas.openxmlformats.org/drawingml/2006/main" noGrp="1"/>
          </p:cNvSpPr>
          <p:nvPr/>
        </p:nvSpPr>
        <p:spPr>
          <a:xfrm xmlns:a="http://schemas.openxmlformats.org/drawingml/2006/main">
            <a:off x="552450" y="1695450"/>
            <a:ext cx="619125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41300" indent="-127000">
              <a:spcAft>
                <a:spcPts val="1600"/>
              </a:spcAft>
              <a:buChar char="•"/>
              <a:defRPr sz="1650">
                <a:solidFill>
                  <a:srgbClr val="F7FAFC"/>
                </a:solidFill>
                <a:latin typeface="Aptos"/>
                <a:ea typeface="Aptos"/>
                <a:cs typeface="Aptos"/>
              </a:defRPr>
            </a:pPr>
            <a:r>
              <a:rPr sz="1650">
                <a:solidFill>
                  <a:srgbClr val="F7FAFC"/>
                </a:solidFill>
                <a:latin typeface="Aptos"/>
                <a:ea typeface="Aptos"/>
                <a:cs typeface="Aptos"/>
              </a:rPr>
              <a:t>Describe observable system behaviour without assigning human faculties</a:t>
            </a:r>
          </a:p>
          <a:p xmlns:a="http://schemas.openxmlformats.org/drawingml/2006/main">
            <a:pPr marL="241300" indent="-127000">
              <a:spcAft>
                <a:spcPts val="1600"/>
              </a:spcAft>
              <a:buChar char="•"/>
              <a:defRPr sz="1650">
                <a:solidFill>
                  <a:srgbClr val="F7FAFC"/>
                </a:solidFill>
                <a:latin typeface="Aptos"/>
                <a:ea typeface="Aptos"/>
                <a:cs typeface="Aptos"/>
              </a:defRPr>
            </a:pPr>
            <a:r>
              <a:rPr sz="1650">
                <a:solidFill>
                  <a:srgbClr val="F7FAFC"/>
                </a:solidFill>
                <a:latin typeface="Aptos"/>
                <a:ea typeface="Aptos"/>
                <a:cs typeface="Aptos"/>
              </a:rPr>
              <a:t>Separate encoded rules, estimated parameters, retrieval, generation and action</a:t>
            </a:r>
          </a:p>
          <a:p xmlns:a="http://schemas.openxmlformats.org/drawingml/2006/main">
            <a:pPr marL="241300" indent="-127000">
              <a:spcAft>
                <a:spcPts val="1600"/>
              </a:spcAft>
              <a:buChar char="•"/>
              <a:defRPr sz="1650">
                <a:solidFill>
                  <a:srgbClr val="F7FAFC"/>
                </a:solidFill>
                <a:latin typeface="Aptos"/>
                <a:ea typeface="Aptos"/>
                <a:cs typeface="Aptos"/>
              </a:defRPr>
            </a:pPr>
            <a:r>
              <a:rPr sz="1650">
                <a:solidFill>
                  <a:srgbClr val="F7FAFC"/>
                </a:solidFill>
                <a:latin typeface="Aptos"/>
                <a:ea typeface="Aptos"/>
                <a:cs typeface="Aptos"/>
              </a:rPr>
              <a:t>Use the current method as the baseline for end-to-end comparison</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699aecb823884cf0"/>
          <a:srcRect xmlns:a="http://schemas.openxmlformats.org/drawingml/2006/main" l="2535" t="0" r="2535" b="0"/>
          <a:stretch xmlns:a="http://schemas.openxmlformats.org/drawingml/2006/main">
            <a:fillRect l="0" t="0" r="0" b="0"/>
          </a:stretch>
        </p:blipFill>
        <p:spPr>
          <a:xfrm xmlns:a="http://schemas.openxmlformats.org/drawingml/2006/main">
            <a:off x="7486650" y="1257300"/>
            <a:ext cx="4171950" cy="4800600"/>
          </a:xfrm>
          <a:prstGeom xmlns:a="http://schemas.openxmlformats.org/drawingml/2006/main" prst="roundRect">
            <a:avLst>
              <a:gd name="adj" fmla="val 5479"/>
            </a:avLst>
          </a:prstGeom>
        </p:spPr>
      </p:pic>
      <p:sp>
        <p:nvSpPr>
          <p:cNvPr id="7" name="">
            <a:extLst xmlns:a="http://schemas.openxmlformats.org/drawingml/2006/main">
              <a:ext uri="{FF2B5EF4-FFF2-40B4-BE49-F238E27FC236}">
                <a16:creationId xmlns:a16="http://schemas.microsoft.com/office/drawing/2014/main" id="{E0202584-1424-4621-AFA3-CF3DAC286ADC}"/>
              </a:ext>
            </a:extLst>
          </p:cNvPr>
          <p:cNvSpPr>
            <a:spLocks xmlns:a="http://schemas.openxmlformats.org/drawingml/2006/main" noGrp="1"/>
          </p:cNvSpPr>
          <p:nvPr/>
        </p:nvSpPr>
        <p:spPr>
          <a:xfrm xmlns:a="http://schemas.openxmlformats.org/drawingml/2006/main">
            <a:off x="11353800" y="6400800"/>
            <a:ext cx="4000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buNone/>
              <a:defRPr sz="750" b="1">
                <a:solidFill>
                  <a:srgbClr val="B8CDD5"/>
                </a:solidFill>
                <a:latin typeface="Aptos"/>
                <a:ea typeface="Aptos"/>
                <a:cs typeface="Aptos"/>
              </a:defRPr>
            </a:pPr>
            <a:r>
              <a:rPr sz="750" b="1">
                <a:solidFill>
                  <a:srgbClr val="B8CDD5"/>
                </a:solidFill>
                <a:latin typeface="Aptos"/>
                <a:ea typeface="Aptos"/>
                <a:cs typeface="Aptos"/>
              </a:rPr>
              <a:t>04</a:t>
            </a:r>
          </a:p>
        </p:txBody>
      </p:sp>
      <p:sp>
        <p:nvSpPr>
          <p:cNvPr id="8" name="">
            <a:extLst xmlns:a="http://schemas.openxmlformats.org/drawingml/2006/main">
              <a:ext uri="{FF2B5EF4-FFF2-40B4-BE49-F238E27FC236}">
                <a16:creationId xmlns:a16="http://schemas.microsoft.com/office/drawing/2014/main" id="{11705D30-B9EE-4D87-A688-944F88E7CFE8}"/>
              </a:ext>
            </a:extLst>
          </p:cNvPr>
          <p:cNvSpPr>
            <a:spLocks xmlns:a="http://schemas.openxmlformats.org/drawingml/2006/main" noGrp="1"/>
          </p:cNvSpPr>
          <p:nvPr/>
        </p:nvSpPr>
        <p:spPr>
          <a:xfrm xmlns:a="http://schemas.openxmlformats.org/drawingml/2006/main">
            <a:off x="495300" y="6400800"/>
            <a:ext cx="1524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buNone/>
              <a:defRPr sz="750" b="0">
                <a:solidFill>
                  <a:srgbClr val="B8CDD5"/>
                </a:solidFill>
                <a:latin typeface="Aptos"/>
                <a:ea typeface="Aptos"/>
                <a:cs typeface="Aptos"/>
              </a:defRPr>
            </a:pPr>
            <a:r>
              <a:rPr sz="750" b="0">
                <a:solidFill>
                  <a:srgbClr val="B8CDD5"/>
                </a:solidFill>
                <a:latin typeface="Aptos"/>
                <a:ea typeface="Aptos"/>
                <a:cs typeface="Aptos"/>
              </a:rPr>
              <a:t>SRAI  |  OS-A02</a:t>
            </a:r>
          </a:p>
        </p:txBody>
      </p:sp>
    </p:spTree>
    <p:extLst>
      <p:ext uri="{BB962C8B-B14F-4D97-AF65-F5344CB8AC3E}">
        <p14:creationId xmlns:p14="http://schemas.microsoft.com/office/powerpoint/2010/main" val="668753372"/>
      </p:ext>
    </p:extLst>
  </p:cSld>
</p:sld>
</file>

<file path=ppt/slides/slide6.xml><?xml version="1.0" encoding="utf-8"?>
<p:sld xmlns:p="http://schemas.openxmlformats.org/presentationml/2006/main">
  <p:cSld>
    <p:bg>
      <p:bgPr>
        <a:solidFill xmlns:a="http://schemas.openxmlformats.org/drawingml/2006/main">
          <a:srgbClr val="07182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CBCA2D0-2F89-4279-9D11-E99BC15FEF8F}"/>
              </a:ext>
            </a:extLst>
          </p:cNvPr>
          <p:cNvSpPr>
            <a:spLocks xmlns:a="http://schemas.openxmlformats.org/drawingml/2006/main" noGrp="1"/>
          </p:cNvSpPr>
          <p:nvPr/>
        </p:nvSpPr>
        <p:spPr>
          <a:xfrm xmlns:a="http://schemas.openxmlformats.org/drawingml/2006/main">
            <a:off x="7239000" y="0"/>
            <a:ext cx="4953000" cy="6858000"/>
          </a:xfrm>
          <a:prstGeom xmlns:a="http://schemas.openxmlformats.org/drawingml/2006/main" prst="rect">
            <a:avLst/>
          </a:prstGeom>
          <a:solidFill xmlns:a="http://schemas.openxmlformats.org/drawingml/2006/main">
            <a:srgbClr val="0B263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1395133-3F2B-4DBE-AE8F-CE4CC33BBD1D}"/>
              </a:ext>
            </a:extLst>
          </p:cNvPr>
          <p:cNvSpPr>
            <a:spLocks xmlns:a="http://schemas.openxmlformats.org/drawingml/2006/main" noGrp="1"/>
          </p:cNvSpPr>
          <p:nvPr/>
        </p:nvSpPr>
        <p:spPr>
          <a:xfrm xmlns:a="http://schemas.openxmlformats.org/drawingml/2006/main">
            <a:off x="495300" y="323850"/>
            <a:ext cx="647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900" b="1">
                <a:solidFill>
                  <a:srgbClr val="23C6C8"/>
                </a:solidFill>
                <a:latin typeface="Aptos"/>
                <a:ea typeface="Aptos"/>
                <a:cs typeface="Aptos"/>
              </a:defRPr>
            </a:pPr>
            <a:r>
              <a:rPr sz="900" b="1">
                <a:solidFill>
                  <a:srgbClr val="23C6C8"/>
                </a:solidFill>
                <a:latin typeface="Aptos"/>
                <a:ea typeface="Aptos"/>
                <a:cs typeface="Aptos"/>
              </a:rPr>
              <a:t>CHAPTER 03</a:t>
            </a:r>
          </a:p>
        </p:txBody>
      </p:sp>
      <p:sp>
        <p:nvSpPr>
          <p:cNvPr id="3" name="">
            <a:extLst xmlns:a="http://schemas.openxmlformats.org/drawingml/2006/main">
              <a:ext uri="{FF2B5EF4-FFF2-40B4-BE49-F238E27FC236}">
                <a16:creationId xmlns:a16="http://schemas.microsoft.com/office/drawing/2014/main" id="{50A36255-AEBF-4435-91FD-42E1D03A0E99}"/>
              </a:ext>
            </a:extLst>
          </p:cNvPr>
          <p:cNvSpPr>
            <a:spLocks xmlns:a="http://schemas.openxmlformats.org/drawingml/2006/main" noGrp="1"/>
          </p:cNvSpPr>
          <p:nvPr/>
        </p:nvSpPr>
        <p:spPr>
          <a:xfrm xmlns:a="http://schemas.openxmlformats.org/drawingml/2006/main">
            <a:off x="495300" y="685800"/>
            <a:ext cx="666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400" b="1">
                <a:solidFill>
                  <a:srgbClr val="F7FAFC"/>
                </a:solidFill>
                <a:latin typeface="Aptos"/>
                <a:ea typeface="Aptos"/>
                <a:cs typeface="Aptos"/>
              </a:defRPr>
            </a:pPr>
            <a:r>
              <a:rPr sz="2400" b="1">
                <a:solidFill>
                  <a:srgbClr val="F7FAFC"/>
                </a:solidFill>
                <a:latin typeface="Aptos"/>
                <a:ea typeface="Aptos"/>
                <a:cs typeface="Aptos"/>
              </a:rPr>
              <a:t>Statistical purpose and task decomposition</a:t>
            </a:r>
          </a:p>
        </p:txBody>
      </p:sp>
      <p:sp>
        <p:nvSpPr>
          <p:cNvPr id="4" name="">
            <a:extLst xmlns:a="http://schemas.openxmlformats.org/drawingml/2006/main">
              <a:ext uri="{FF2B5EF4-FFF2-40B4-BE49-F238E27FC236}">
                <a16:creationId xmlns:a16="http://schemas.microsoft.com/office/drawing/2014/main" id="{BDEFCC30-262A-48EB-9E5D-EC576090B99C}"/>
              </a:ext>
            </a:extLst>
          </p:cNvPr>
          <p:cNvSpPr>
            <a:spLocks xmlns:a="http://schemas.openxmlformats.org/drawingml/2006/main" noGrp="1"/>
          </p:cNvSpPr>
          <p:nvPr/>
        </p:nvSpPr>
        <p:spPr>
          <a:xfrm xmlns:a="http://schemas.openxmlformats.org/drawingml/2006/main">
            <a:off x="495300" y="1314450"/>
            <a:ext cx="2381250" cy="28575"/>
          </a:xfrm>
          <a:prstGeom xmlns:a="http://schemas.openxmlformats.org/drawingml/2006/main" prst="rect">
            <a:avLst/>
          </a:prstGeom>
          <a:solidFill xmlns:a="http://schemas.openxmlformats.org/drawingml/2006/main">
            <a:srgbClr val="D5AF4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8095A3B-8AFD-43AE-9D6A-F18DC6746FAA}"/>
              </a:ext>
            </a:extLst>
          </p:cNvPr>
          <p:cNvSpPr>
            <a:spLocks xmlns:a="http://schemas.openxmlformats.org/drawingml/2006/main" noGrp="1"/>
          </p:cNvSpPr>
          <p:nvPr/>
        </p:nvSpPr>
        <p:spPr>
          <a:xfrm xmlns:a="http://schemas.openxmlformats.org/drawingml/2006/main">
            <a:off x="552450" y="1695450"/>
            <a:ext cx="619125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41300" indent="-127000">
              <a:spcAft>
                <a:spcPts val="1600"/>
              </a:spcAft>
              <a:buChar char="•"/>
              <a:defRPr sz="1650">
                <a:solidFill>
                  <a:srgbClr val="F7FAFC"/>
                </a:solidFill>
                <a:latin typeface="Aptos"/>
                <a:ea typeface="Aptos"/>
                <a:cs typeface="Aptos"/>
              </a:defRPr>
            </a:pPr>
            <a:r>
              <a:rPr sz="1650">
                <a:solidFill>
                  <a:srgbClr val="F7FAFC"/>
                </a:solidFill>
                <a:latin typeface="Aptos"/>
                <a:ea typeface="Aptos"/>
                <a:cs typeface="Aptos"/>
              </a:rPr>
              <a:t>Begin with the user, population, concept, reference period and consequence of error</a:t>
            </a:r>
          </a:p>
          <a:p xmlns:a="http://schemas.openxmlformats.org/drawingml/2006/main">
            <a:pPr marL="241300" indent="-127000">
              <a:spcAft>
                <a:spcPts val="1600"/>
              </a:spcAft>
              <a:buChar char="•"/>
              <a:defRPr sz="1650">
                <a:solidFill>
                  <a:srgbClr val="F7FAFC"/>
                </a:solidFill>
                <a:latin typeface="Aptos"/>
                <a:ea typeface="Aptos"/>
                <a:cs typeface="Aptos"/>
              </a:defRPr>
            </a:pPr>
            <a:r>
              <a:rPr sz="1650">
                <a:solidFill>
                  <a:srgbClr val="F7FAFC"/>
                </a:solidFill>
                <a:latin typeface="Aptos"/>
                <a:ea typeface="Aptos"/>
                <a:cs typeface="Aptos"/>
              </a:rPr>
              <a:t>Map tasks as functions with inputs, outputs, owners and acceptance conditions</a:t>
            </a:r>
          </a:p>
          <a:p xmlns:a="http://schemas.openxmlformats.org/drawingml/2006/main">
            <a:pPr marL="241300" indent="-127000">
              <a:spcAft>
                <a:spcPts val="1600"/>
              </a:spcAft>
              <a:buChar char="•"/>
              <a:defRPr sz="1650">
                <a:solidFill>
                  <a:srgbClr val="F7FAFC"/>
                </a:solidFill>
                <a:latin typeface="Aptos"/>
                <a:ea typeface="Aptos"/>
                <a:cs typeface="Aptos"/>
              </a:defRPr>
            </a:pPr>
            <a:r>
              <a:rPr sz="1650">
                <a:solidFill>
                  <a:srgbClr val="F7FAFC"/>
                </a:solidFill>
                <a:latin typeface="Aptos"/>
                <a:ea typeface="Aptos"/>
                <a:cs typeface="Aptos"/>
              </a:rPr>
              <a:t>Subject-matter statisticians retain construct, evidence and release boundaries</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9fec513eec674a29"/>
          <a:srcRect xmlns:a="http://schemas.openxmlformats.org/drawingml/2006/main" l="2535" t="0" r="2535" b="0"/>
          <a:stretch xmlns:a="http://schemas.openxmlformats.org/drawingml/2006/main">
            <a:fillRect l="0" t="0" r="0" b="0"/>
          </a:stretch>
        </p:blipFill>
        <p:spPr>
          <a:xfrm xmlns:a="http://schemas.openxmlformats.org/drawingml/2006/main">
            <a:off x="7486650" y="1257300"/>
            <a:ext cx="4171950" cy="4800600"/>
          </a:xfrm>
          <a:prstGeom xmlns:a="http://schemas.openxmlformats.org/drawingml/2006/main" prst="roundRect">
            <a:avLst>
              <a:gd name="adj" fmla="val 5479"/>
            </a:avLst>
          </a:prstGeom>
        </p:spPr>
      </p:pic>
      <p:sp>
        <p:nvSpPr>
          <p:cNvPr id="7" name="">
            <a:extLst xmlns:a="http://schemas.openxmlformats.org/drawingml/2006/main">
              <a:ext uri="{FF2B5EF4-FFF2-40B4-BE49-F238E27FC236}">
                <a16:creationId xmlns:a16="http://schemas.microsoft.com/office/drawing/2014/main" id="{B9C4E51B-5471-4B7F-A0F9-E7A63FA0833A}"/>
              </a:ext>
            </a:extLst>
          </p:cNvPr>
          <p:cNvSpPr>
            <a:spLocks xmlns:a="http://schemas.openxmlformats.org/drawingml/2006/main" noGrp="1"/>
          </p:cNvSpPr>
          <p:nvPr/>
        </p:nvSpPr>
        <p:spPr>
          <a:xfrm xmlns:a="http://schemas.openxmlformats.org/drawingml/2006/main">
            <a:off x="11353800" y="6400800"/>
            <a:ext cx="4000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buNone/>
              <a:defRPr sz="750" b="1">
                <a:solidFill>
                  <a:srgbClr val="B8CDD5"/>
                </a:solidFill>
                <a:latin typeface="Aptos"/>
                <a:ea typeface="Aptos"/>
                <a:cs typeface="Aptos"/>
              </a:defRPr>
            </a:pPr>
            <a:r>
              <a:rPr sz="750" b="1">
                <a:solidFill>
                  <a:srgbClr val="B8CDD5"/>
                </a:solidFill>
                <a:latin typeface="Aptos"/>
                <a:ea typeface="Aptos"/>
                <a:cs typeface="Aptos"/>
              </a:rPr>
              <a:t>05</a:t>
            </a:r>
          </a:p>
        </p:txBody>
      </p:sp>
      <p:sp>
        <p:nvSpPr>
          <p:cNvPr id="8" name="">
            <a:extLst xmlns:a="http://schemas.openxmlformats.org/drawingml/2006/main">
              <a:ext uri="{FF2B5EF4-FFF2-40B4-BE49-F238E27FC236}">
                <a16:creationId xmlns:a16="http://schemas.microsoft.com/office/drawing/2014/main" id="{4AE83C35-0130-4CB5-8DB3-84C9CDDCFFF8}"/>
              </a:ext>
            </a:extLst>
          </p:cNvPr>
          <p:cNvSpPr>
            <a:spLocks xmlns:a="http://schemas.openxmlformats.org/drawingml/2006/main" noGrp="1"/>
          </p:cNvSpPr>
          <p:nvPr/>
        </p:nvSpPr>
        <p:spPr>
          <a:xfrm xmlns:a="http://schemas.openxmlformats.org/drawingml/2006/main">
            <a:off x="495300" y="6400800"/>
            <a:ext cx="1524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buNone/>
              <a:defRPr sz="750" b="0">
                <a:solidFill>
                  <a:srgbClr val="B8CDD5"/>
                </a:solidFill>
                <a:latin typeface="Aptos"/>
                <a:ea typeface="Aptos"/>
                <a:cs typeface="Aptos"/>
              </a:defRPr>
            </a:pPr>
            <a:r>
              <a:rPr sz="750" b="0">
                <a:solidFill>
                  <a:srgbClr val="B8CDD5"/>
                </a:solidFill>
                <a:latin typeface="Aptos"/>
                <a:ea typeface="Aptos"/>
                <a:cs typeface="Aptos"/>
              </a:rPr>
              <a:t>SRAI  |  OS-A02</a:t>
            </a:r>
          </a:p>
        </p:txBody>
      </p:sp>
    </p:spTree>
    <p:extLst>
      <p:ext uri="{BB962C8B-B14F-4D97-AF65-F5344CB8AC3E}">
        <p14:creationId xmlns:p14="http://schemas.microsoft.com/office/powerpoint/2010/main" val="1557496021"/>
      </p:ext>
    </p:extLst>
  </p:cSld>
</p:sld>
</file>

<file path=ppt/slides/slide7.xml><?xml version="1.0" encoding="utf-8"?>
<p:sld xmlns:p="http://schemas.openxmlformats.org/presentationml/2006/main">
  <p:cSld>
    <p:bg>
      <p:bgPr>
        <a:solidFill xmlns:a="http://schemas.openxmlformats.org/drawingml/2006/main">
          <a:srgbClr val="07182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FBC22E1-FCD6-4A7C-9BB5-6C9FEBA4C696}"/>
              </a:ext>
            </a:extLst>
          </p:cNvPr>
          <p:cNvSpPr>
            <a:spLocks xmlns:a="http://schemas.openxmlformats.org/drawingml/2006/main" noGrp="1"/>
          </p:cNvSpPr>
          <p:nvPr/>
        </p:nvSpPr>
        <p:spPr>
          <a:xfrm xmlns:a="http://schemas.openxmlformats.org/drawingml/2006/main">
            <a:off x="7239000" y="0"/>
            <a:ext cx="4953000" cy="6858000"/>
          </a:xfrm>
          <a:prstGeom xmlns:a="http://schemas.openxmlformats.org/drawingml/2006/main" prst="rect">
            <a:avLst/>
          </a:prstGeom>
          <a:solidFill xmlns:a="http://schemas.openxmlformats.org/drawingml/2006/main">
            <a:srgbClr val="0B263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C228F11-C4FD-4B74-83C1-122E9A8964B8}"/>
              </a:ext>
            </a:extLst>
          </p:cNvPr>
          <p:cNvSpPr>
            <a:spLocks xmlns:a="http://schemas.openxmlformats.org/drawingml/2006/main" noGrp="1"/>
          </p:cNvSpPr>
          <p:nvPr/>
        </p:nvSpPr>
        <p:spPr>
          <a:xfrm xmlns:a="http://schemas.openxmlformats.org/drawingml/2006/main">
            <a:off x="495300" y="323850"/>
            <a:ext cx="647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900" b="1">
                <a:solidFill>
                  <a:srgbClr val="23C6C8"/>
                </a:solidFill>
                <a:latin typeface="Aptos"/>
                <a:ea typeface="Aptos"/>
                <a:cs typeface="Aptos"/>
              </a:defRPr>
            </a:pPr>
            <a:r>
              <a:rPr sz="900" b="1">
                <a:solidFill>
                  <a:srgbClr val="23C6C8"/>
                </a:solidFill>
                <a:latin typeface="Aptos"/>
                <a:ea typeface="Aptos"/>
                <a:cs typeface="Aptos"/>
              </a:rPr>
              <a:t>CHAPTER 04</a:t>
            </a:r>
          </a:p>
        </p:txBody>
      </p:sp>
      <p:sp>
        <p:nvSpPr>
          <p:cNvPr id="3" name="">
            <a:extLst xmlns:a="http://schemas.openxmlformats.org/drawingml/2006/main">
              <a:ext uri="{FF2B5EF4-FFF2-40B4-BE49-F238E27FC236}">
                <a16:creationId xmlns:a16="http://schemas.microsoft.com/office/drawing/2014/main" id="{8128C6AC-98C1-4EC8-B0F6-06EDD7EC19C4}"/>
              </a:ext>
            </a:extLst>
          </p:cNvPr>
          <p:cNvSpPr>
            <a:spLocks xmlns:a="http://schemas.openxmlformats.org/drawingml/2006/main" noGrp="1"/>
          </p:cNvSpPr>
          <p:nvPr/>
        </p:nvSpPr>
        <p:spPr>
          <a:xfrm xmlns:a="http://schemas.openxmlformats.org/drawingml/2006/main">
            <a:off x="495300" y="685800"/>
            <a:ext cx="666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400" b="1">
                <a:solidFill>
                  <a:srgbClr val="F7FAFC"/>
                </a:solidFill>
                <a:latin typeface="Aptos"/>
                <a:ea typeface="Aptos"/>
                <a:cs typeface="Aptos"/>
              </a:defRPr>
            </a:pPr>
            <a:r>
              <a:rPr sz="2400" b="1">
                <a:solidFill>
                  <a:srgbClr val="F7FAFC"/>
                </a:solidFill>
                <a:latin typeface="Aptos"/>
                <a:ea typeface="Aptos"/>
                <a:cs typeface="Aptos"/>
              </a:rPr>
              <a:t>Rules, models and machine learning</a:t>
            </a:r>
          </a:p>
        </p:txBody>
      </p:sp>
      <p:sp>
        <p:nvSpPr>
          <p:cNvPr id="4" name="">
            <a:extLst xmlns:a="http://schemas.openxmlformats.org/drawingml/2006/main">
              <a:ext uri="{FF2B5EF4-FFF2-40B4-BE49-F238E27FC236}">
                <a16:creationId xmlns:a16="http://schemas.microsoft.com/office/drawing/2014/main" id="{81FECD09-F87E-4FBE-895A-CCE63195A3FA}"/>
              </a:ext>
            </a:extLst>
          </p:cNvPr>
          <p:cNvSpPr>
            <a:spLocks xmlns:a="http://schemas.openxmlformats.org/drawingml/2006/main" noGrp="1"/>
          </p:cNvSpPr>
          <p:nvPr/>
        </p:nvSpPr>
        <p:spPr>
          <a:xfrm xmlns:a="http://schemas.openxmlformats.org/drawingml/2006/main">
            <a:off x="495300" y="1314450"/>
            <a:ext cx="2381250" cy="28575"/>
          </a:xfrm>
          <a:prstGeom xmlns:a="http://schemas.openxmlformats.org/drawingml/2006/main" prst="rect">
            <a:avLst/>
          </a:prstGeom>
          <a:solidFill xmlns:a="http://schemas.openxmlformats.org/drawingml/2006/main">
            <a:srgbClr val="D5AF4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31E8F0C-0EA8-45DE-A6C9-121525D869FF}"/>
              </a:ext>
            </a:extLst>
          </p:cNvPr>
          <p:cNvSpPr>
            <a:spLocks xmlns:a="http://schemas.openxmlformats.org/drawingml/2006/main" noGrp="1"/>
          </p:cNvSpPr>
          <p:nvPr/>
        </p:nvSpPr>
        <p:spPr>
          <a:xfrm xmlns:a="http://schemas.openxmlformats.org/drawingml/2006/main">
            <a:off x="552450" y="1695450"/>
            <a:ext cx="619125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41300" indent="-127000">
              <a:spcAft>
                <a:spcPts val="1600"/>
              </a:spcAft>
              <a:buChar char="•"/>
              <a:defRPr sz="1650">
                <a:solidFill>
                  <a:srgbClr val="F7FAFC"/>
                </a:solidFill>
                <a:latin typeface="Aptos"/>
                <a:ea typeface="Aptos"/>
                <a:cs typeface="Aptos"/>
              </a:defRPr>
            </a:pPr>
            <a:r>
              <a:rPr sz="1650">
                <a:solidFill>
                  <a:srgbClr val="F7FAFC"/>
                </a:solidFill>
                <a:latin typeface="Aptos"/>
                <a:ea typeface="Aptos"/>
                <a:cs typeface="Aptos"/>
              </a:rPr>
              <a:t>Rules encode conditions, models express stochastic relationships and learning estimates functions</a:t>
            </a:r>
          </a:p>
          <a:p xmlns:a="http://schemas.openxmlformats.org/drawingml/2006/main">
            <a:pPr marL="241300" indent="-127000">
              <a:spcAft>
                <a:spcPts val="1600"/>
              </a:spcAft>
              <a:buChar char="•"/>
              <a:defRPr sz="1650">
                <a:solidFill>
                  <a:srgbClr val="F7FAFC"/>
                </a:solidFill>
                <a:latin typeface="Aptos"/>
                <a:ea typeface="Aptos"/>
                <a:cs typeface="Aptos"/>
              </a:defRPr>
            </a:pPr>
            <a:r>
              <a:rPr sz="1650">
                <a:solidFill>
                  <a:srgbClr val="F7FAFC"/>
                </a:solidFill>
                <a:latin typeface="Aptos"/>
                <a:ea typeface="Aptos"/>
                <a:cs typeface="Aptos"/>
              </a:rPr>
              <a:t>Specification validity and empirical behaviour require different evidence</a:t>
            </a:r>
          </a:p>
          <a:p xmlns:a="http://schemas.openxmlformats.org/drawingml/2006/main">
            <a:pPr marL="241300" indent="-127000">
              <a:spcAft>
                <a:spcPts val="1600"/>
              </a:spcAft>
              <a:buChar char="•"/>
              <a:defRPr sz="1650">
                <a:solidFill>
                  <a:srgbClr val="F7FAFC"/>
                </a:solidFill>
                <a:latin typeface="Aptos"/>
                <a:ea typeface="Aptos"/>
                <a:cs typeface="Aptos"/>
              </a:defRPr>
            </a:pPr>
            <a:r>
              <a:rPr sz="1650">
                <a:solidFill>
                  <a:srgbClr val="F7FAFC"/>
                </a:solidFill>
                <a:latin typeface="Aptos"/>
                <a:ea typeface="Aptos"/>
                <a:cs typeface="Aptos"/>
              </a:rPr>
              <a:t>Fitness depends on population, error consequences and integration into estimation</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d426521d5f0f4851"/>
          <a:srcRect xmlns:a="http://schemas.openxmlformats.org/drawingml/2006/main" l="10653" t="0" r="10653" b="0"/>
          <a:stretch xmlns:a="http://schemas.openxmlformats.org/drawingml/2006/main">
            <a:fillRect l="0" t="0" r="0" b="0"/>
          </a:stretch>
        </p:blipFill>
        <p:spPr>
          <a:xfrm xmlns:a="http://schemas.openxmlformats.org/drawingml/2006/main">
            <a:off x="7486650" y="1257300"/>
            <a:ext cx="4171950" cy="4800600"/>
          </a:xfrm>
          <a:prstGeom xmlns:a="http://schemas.openxmlformats.org/drawingml/2006/main" prst="roundRect">
            <a:avLst>
              <a:gd name="adj" fmla="val 5479"/>
            </a:avLst>
          </a:prstGeom>
        </p:spPr>
      </p:pic>
      <p:sp>
        <p:nvSpPr>
          <p:cNvPr id="7" name="">
            <a:extLst xmlns:a="http://schemas.openxmlformats.org/drawingml/2006/main">
              <a:ext uri="{FF2B5EF4-FFF2-40B4-BE49-F238E27FC236}">
                <a16:creationId xmlns:a16="http://schemas.microsoft.com/office/drawing/2014/main" id="{5F14E5BD-16D3-4BC3-912A-F14185B1D1E3}"/>
              </a:ext>
            </a:extLst>
          </p:cNvPr>
          <p:cNvSpPr>
            <a:spLocks xmlns:a="http://schemas.openxmlformats.org/drawingml/2006/main" noGrp="1"/>
          </p:cNvSpPr>
          <p:nvPr/>
        </p:nvSpPr>
        <p:spPr>
          <a:xfrm xmlns:a="http://schemas.openxmlformats.org/drawingml/2006/main">
            <a:off x="11353800" y="6400800"/>
            <a:ext cx="4000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buNone/>
              <a:defRPr sz="750" b="1">
                <a:solidFill>
                  <a:srgbClr val="B8CDD5"/>
                </a:solidFill>
                <a:latin typeface="Aptos"/>
                <a:ea typeface="Aptos"/>
                <a:cs typeface="Aptos"/>
              </a:defRPr>
            </a:pPr>
            <a:r>
              <a:rPr sz="750" b="1">
                <a:solidFill>
                  <a:srgbClr val="B8CDD5"/>
                </a:solidFill>
                <a:latin typeface="Aptos"/>
                <a:ea typeface="Aptos"/>
                <a:cs typeface="Aptos"/>
              </a:rPr>
              <a:t>06</a:t>
            </a:r>
          </a:p>
        </p:txBody>
      </p:sp>
      <p:sp>
        <p:nvSpPr>
          <p:cNvPr id="8" name="">
            <a:extLst xmlns:a="http://schemas.openxmlformats.org/drawingml/2006/main">
              <a:ext uri="{FF2B5EF4-FFF2-40B4-BE49-F238E27FC236}">
                <a16:creationId xmlns:a16="http://schemas.microsoft.com/office/drawing/2014/main" id="{F53B358F-8CD8-44BB-8A06-3258A7B7C478}"/>
              </a:ext>
            </a:extLst>
          </p:cNvPr>
          <p:cNvSpPr>
            <a:spLocks xmlns:a="http://schemas.openxmlformats.org/drawingml/2006/main" noGrp="1"/>
          </p:cNvSpPr>
          <p:nvPr/>
        </p:nvSpPr>
        <p:spPr>
          <a:xfrm xmlns:a="http://schemas.openxmlformats.org/drawingml/2006/main">
            <a:off x="495300" y="6400800"/>
            <a:ext cx="1524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buNone/>
              <a:defRPr sz="750" b="0">
                <a:solidFill>
                  <a:srgbClr val="B8CDD5"/>
                </a:solidFill>
                <a:latin typeface="Aptos"/>
                <a:ea typeface="Aptos"/>
                <a:cs typeface="Aptos"/>
              </a:defRPr>
            </a:pPr>
            <a:r>
              <a:rPr sz="750" b="0">
                <a:solidFill>
                  <a:srgbClr val="B8CDD5"/>
                </a:solidFill>
                <a:latin typeface="Aptos"/>
                <a:ea typeface="Aptos"/>
                <a:cs typeface="Aptos"/>
              </a:rPr>
              <a:t>SRAI  |  OS-A02</a:t>
            </a:r>
          </a:p>
        </p:txBody>
      </p:sp>
    </p:spTree>
    <p:extLst>
      <p:ext uri="{BB962C8B-B14F-4D97-AF65-F5344CB8AC3E}">
        <p14:creationId xmlns:p14="http://schemas.microsoft.com/office/powerpoint/2010/main" val="130761721"/>
      </p:ext>
    </p:extLst>
  </p:cSld>
</p:sld>
</file>

<file path=ppt/slides/slide8.xml><?xml version="1.0" encoding="utf-8"?>
<p:sld xmlns:p="http://schemas.openxmlformats.org/presentationml/2006/main">
  <p:cSld>
    <p:bg>
      <p:bgPr>
        <a:solidFill xmlns:a="http://schemas.openxmlformats.org/drawingml/2006/main">
          <a:srgbClr val="07182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D979CD8-DDC1-485F-9577-E320587C2774}"/>
              </a:ext>
            </a:extLst>
          </p:cNvPr>
          <p:cNvSpPr>
            <a:spLocks xmlns:a="http://schemas.openxmlformats.org/drawingml/2006/main" noGrp="1"/>
          </p:cNvSpPr>
          <p:nvPr/>
        </p:nvSpPr>
        <p:spPr>
          <a:xfrm xmlns:a="http://schemas.openxmlformats.org/drawingml/2006/main">
            <a:off x="7239000" y="0"/>
            <a:ext cx="4953000" cy="6858000"/>
          </a:xfrm>
          <a:prstGeom xmlns:a="http://schemas.openxmlformats.org/drawingml/2006/main" prst="rect">
            <a:avLst/>
          </a:prstGeom>
          <a:solidFill xmlns:a="http://schemas.openxmlformats.org/drawingml/2006/main">
            <a:srgbClr val="0B263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4BA2B53-019C-4C9C-9DDD-AFCE8CCD0C4C}"/>
              </a:ext>
            </a:extLst>
          </p:cNvPr>
          <p:cNvSpPr>
            <a:spLocks xmlns:a="http://schemas.openxmlformats.org/drawingml/2006/main" noGrp="1"/>
          </p:cNvSpPr>
          <p:nvPr/>
        </p:nvSpPr>
        <p:spPr>
          <a:xfrm xmlns:a="http://schemas.openxmlformats.org/drawingml/2006/main">
            <a:off x="495300" y="323850"/>
            <a:ext cx="647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900" b="1">
                <a:solidFill>
                  <a:srgbClr val="23C6C8"/>
                </a:solidFill>
                <a:latin typeface="Aptos"/>
                <a:ea typeface="Aptos"/>
                <a:cs typeface="Aptos"/>
              </a:defRPr>
            </a:pPr>
            <a:r>
              <a:rPr sz="900" b="1">
                <a:solidFill>
                  <a:srgbClr val="23C6C8"/>
                </a:solidFill>
                <a:latin typeface="Aptos"/>
                <a:ea typeface="Aptos"/>
                <a:cs typeface="Aptos"/>
              </a:rPr>
              <a:t>CHAPTER 05</a:t>
            </a:r>
          </a:p>
        </p:txBody>
      </p:sp>
      <p:sp>
        <p:nvSpPr>
          <p:cNvPr id="3" name="">
            <a:extLst xmlns:a="http://schemas.openxmlformats.org/drawingml/2006/main">
              <a:ext uri="{FF2B5EF4-FFF2-40B4-BE49-F238E27FC236}">
                <a16:creationId xmlns:a16="http://schemas.microsoft.com/office/drawing/2014/main" id="{3E516994-5F80-445F-814E-A751DA17667E}"/>
              </a:ext>
            </a:extLst>
          </p:cNvPr>
          <p:cNvSpPr>
            <a:spLocks xmlns:a="http://schemas.openxmlformats.org/drawingml/2006/main" noGrp="1"/>
          </p:cNvSpPr>
          <p:nvPr/>
        </p:nvSpPr>
        <p:spPr>
          <a:xfrm xmlns:a="http://schemas.openxmlformats.org/drawingml/2006/main">
            <a:off x="495300" y="685800"/>
            <a:ext cx="666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400" b="1">
                <a:solidFill>
                  <a:srgbClr val="F7FAFC"/>
                </a:solidFill>
                <a:latin typeface="Aptos"/>
                <a:ea typeface="Aptos"/>
                <a:cs typeface="Aptos"/>
              </a:defRPr>
            </a:pPr>
            <a:r>
              <a:rPr sz="2400" b="1">
                <a:solidFill>
                  <a:srgbClr val="F7FAFC"/>
                </a:solidFill>
                <a:latin typeface="Aptos"/>
                <a:ea typeface="Aptos"/>
                <a:cs typeface="Aptos"/>
              </a:rPr>
              <a:t>Learning families and their evidence</a:t>
            </a:r>
          </a:p>
        </p:txBody>
      </p:sp>
      <p:sp>
        <p:nvSpPr>
          <p:cNvPr id="4" name="">
            <a:extLst xmlns:a="http://schemas.openxmlformats.org/drawingml/2006/main">
              <a:ext uri="{FF2B5EF4-FFF2-40B4-BE49-F238E27FC236}">
                <a16:creationId xmlns:a16="http://schemas.microsoft.com/office/drawing/2014/main" id="{7FDF2DB9-0C62-432F-8FC8-992F8363AF3A}"/>
              </a:ext>
            </a:extLst>
          </p:cNvPr>
          <p:cNvSpPr>
            <a:spLocks xmlns:a="http://schemas.openxmlformats.org/drawingml/2006/main" noGrp="1"/>
          </p:cNvSpPr>
          <p:nvPr/>
        </p:nvSpPr>
        <p:spPr>
          <a:xfrm xmlns:a="http://schemas.openxmlformats.org/drawingml/2006/main">
            <a:off x="495300" y="1314450"/>
            <a:ext cx="2381250" cy="28575"/>
          </a:xfrm>
          <a:prstGeom xmlns:a="http://schemas.openxmlformats.org/drawingml/2006/main" prst="rect">
            <a:avLst/>
          </a:prstGeom>
          <a:solidFill xmlns:a="http://schemas.openxmlformats.org/drawingml/2006/main">
            <a:srgbClr val="D5AF4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942ADCD-B6D1-4D1E-8097-011690071345}"/>
              </a:ext>
            </a:extLst>
          </p:cNvPr>
          <p:cNvSpPr>
            <a:spLocks xmlns:a="http://schemas.openxmlformats.org/drawingml/2006/main" noGrp="1"/>
          </p:cNvSpPr>
          <p:nvPr/>
        </p:nvSpPr>
        <p:spPr>
          <a:xfrm xmlns:a="http://schemas.openxmlformats.org/drawingml/2006/main">
            <a:off x="552450" y="1695450"/>
            <a:ext cx="619125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41300" indent="-127000">
              <a:spcAft>
                <a:spcPts val="1600"/>
              </a:spcAft>
              <a:buChar char="•"/>
              <a:defRPr sz="1650">
                <a:solidFill>
                  <a:srgbClr val="F7FAFC"/>
                </a:solidFill>
                <a:latin typeface="Aptos"/>
                <a:ea typeface="Aptos"/>
                <a:cs typeface="Aptos"/>
              </a:defRPr>
            </a:pPr>
            <a:r>
              <a:rPr sz="1650">
                <a:solidFill>
                  <a:srgbClr val="F7FAFC"/>
                </a:solidFill>
                <a:latin typeface="Aptos"/>
                <a:ea typeface="Aptos"/>
                <a:cs typeface="Aptos"/>
              </a:rPr>
              <a:t>Labels, clusters, pseudo-labels and rewards create different validity questions</a:t>
            </a:r>
          </a:p>
          <a:p xmlns:a="http://schemas.openxmlformats.org/drawingml/2006/main">
            <a:pPr marL="241300" indent="-127000">
              <a:spcAft>
                <a:spcPts val="1600"/>
              </a:spcAft>
              <a:buChar char="•"/>
              <a:defRPr sz="1650">
                <a:solidFill>
                  <a:srgbClr val="F7FAFC"/>
                </a:solidFill>
                <a:latin typeface="Aptos"/>
                <a:ea typeface="Aptos"/>
                <a:cs typeface="Aptos"/>
              </a:defRPr>
            </a:pPr>
            <a:r>
              <a:rPr sz="1650">
                <a:solidFill>
                  <a:srgbClr val="F7FAFC"/>
                </a:solidFill>
                <a:latin typeface="Aptos"/>
                <a:ea typeface="Aptos"/>
                <a:cs typeface="Aptos"/>
              </a:rPr>
              <a:t>Loss and stability depend on sampling, weighting, interpretation and error costs</a:t>
            </a:r>
          </a:p>
          <a:p xmlns:a="http://schemas.openxmlformats.org/drawingml/2006/main">
            <a:pPr marL="241300" indent="-127000">
              <a:spcAft>
                <a:spcPts val="1600"/>
              </a:spcAft>
              <a:buChar char="•"/>
              <a:defRPr sz="1650">
                <a:solidFill>
                  <a:srgbClr val="F7FAFC"/>
                </a:solidFill>
                <a:latin typeface="Aptos"/>
                <a:ea typeface="Aptos"/>
                <a:cs typeface="Aptos"/>
              </a:defRPr>
            </a:pPr>
            <a:r>
              <a:rPr sz="1650">
                <a:solidFill>
                  <a:srgbClr val="F7FAFC"/>
                </a:solidFill>
                <a:latin typeface="Aptos"/>
                <a:ea typeface="Aptos"/>
                <a:cs typeface="Aptos"/>
              </a:rPr>
              <a:t>Exploratory discovery must remain separate from consequential production action</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24485288404e45f7"/>
          <a:srcRect xmlns:a="http://schemas.openxmlformats.org/drawingml/2006/main" l="10653" t="0" r="10653" b="0"/>
          <a:stretch xmlns:a="http://schemas.openxmlformats.org/drawingml/2006/main">
            <a:fillRect l="0" t="0" r="0" b="0"/>
          </a:stretch>
        </p:blipFill>
        <p:spPr>
          <a:xfrm xmlns:a="http://schemas.openxmlformats.org/drawingml/2006/main">
            <a:off x="7486650" y="1257300"/>
            <a:ext cx="4171950" cy="4800600"/>
          </a:xfrm>
          <a:prstGeom xmlns:a="http://schemas.openxmlformats.org/drawingml/2006/main" prst="roundRect">
            <a:avLst>
              <a:gd name="adj" fmla="val 5479"/>
            </a:avLst>
          </a:prstGeom>
        </p:spPr>
      </p:pic>
      <p:sp>
        <p:nvSpPr>
          <p:cNvPr id="7" name="">
            <a:extLst xmlns:a="http://schemas.openxmlformats.org/drawingml/2006/main">
              <a:ext uri="{FF2B5EF4-FFF2-40B4-BE49-F238E27FC236}">
                <a16:creationId xmlns:a16="http://schemas.microsoft.com/office/drawing/2014/main" id="{8ADFD354-EF71-4E01-BF12-08E7442F4E30}"/>
              </a:ext>
            </a:extLst>
          </p:cNvPr>
          <p:cNvSpPr>
            <a:spLocks xmlns:a="http://schemas.openxmlformats.org/drawingml/2006/main" noGrp="1"/>
          </p:cNvSpPr>
          <p:nvPr/>
        </p:nvSpPr>
        <p:spPr>
          <a:xfrm xmlns:a="http://schemas.openxmlformats.org/drawingml/2006/main">
            <a:off x="11353800" y="6400800"/>
            <a:ext cx="4000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buNone/>
              <a:defRPr sz="750" b="1">
                <a:solidFill>
                  <a:srgbClr val="B8CDD5"/>
                </a:solidFill>
                <a:latin typeface="Aptos"/>
                <a:ea typeface="Aptos"/>
                <a:cs typeface="Aptos"/>
              </a:defRPr>
            </a:pPr>
            <a:r>
              <a:rPr sz="750" b="1">
                <a:solidFill>
                  <a:srgbClr val="B8CDD5"/>
                </a:solidFill>
                <a:latin typeface="Aptos"/>
                <a:ea typeface="Aptos"/>
                <a:cs typeface="Aptos"/>
              </a:rPr>
              <a:t>07</a:t>
            </a:r>
          </a:p>
        </p:txBody>
      </p:sp>
      <p:sp>
        <p:nvSpPr>
          <p:cNvPr id="8" name="">
            <a:extLst xmlns:a="http://schemas.openxmlformats.org/drawingml/2006/main">
              <a:ext uri="{FF2B5EF4-FFF2-40B4-BE49-F238E27FC236}">
                <a16:creationId xmlns:a16="http://schemas.microsoft.com/office/drawing/2014/main" id="{34D02F14-A4E0-4094-B254-8C2E123F3482}"/>
              </a:ext>
            </a:extLst>
          </p:cNvPr>
          <p:cNvSpPr>
            <a:spLocks xmlns:a="http://schemas.openxmlformats.org/drawingml/2006/main" noGrp="1"/>
          </p:cNvSpPr>
          <p:nvPr/>
        </p:nvSpPr>
        <p:spPr>
          <a:xfrm xmlns:a="http://schemas.openxmlformats.org/drawingml/2006/main">
            <a:off x="495300" y="6400800"/>
            <a:ext cx="1524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buNone/>
              <a:defRPr sz="750" b="0">
                <a:solidFill>
                  <a:srgbClr val="B8CDD5"/>
                </a:solidFill>
                <a:latin typeface="Aptos"/>
                <a:ea typeface="Aptos"/>
                <a:cs typeface="Aptos"/>
              </a:defRPr>
            </a:pPr>
            <a:r>
              <a:rPr sz="750" b="0">
                <a:solidFill>
                  <a:srgbClr val="B8CDD5"/>
                </a:solidFill>
                <a:latin typeface="Aptos"/>
                <a:ea typeface="Aptos"/>
                <a:cs typeface="Aptos"/>
              </a:rPr>
              <a:t>SRAI  |  OS-A02</a:t>
            </a:r>
          </a:p>
        </p:txBody>
      </p:sp>
    </p:spTree>
    <p:extLst>
      <p:ext uri="{BB962C8B-B14F-4D97-AF65-F5344CB8AC3E}">
        <p14:creationId xmlns:p14="http://schemas.microsoft.com/office/powerpoint/2010/main" val="1939099216"/>
      </p:ext>
    </p:extLst>
  </p:cSld>
</p:sld>
</file>

<file path=ppt/slides/slide9.xml><?xml version="1.0" encoding="utf-8"?>
<p:sld xmlns:p="http://schemas.openxmlformats.org/presentationml/2006/main">
  <p:cSld>
    <p:bg>
      <p:bgPr>
        <a:solidFill xmlns:a="http://schemas.openxmlformats.org/drawingml/2006/main">
          <a:srgbClr val="07182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B8CC42A-972E-452A-9FE4-1FFCB2BAA839}"/>
              </a:ext>
            </a:extLst>
          </p:cNvPr>
          <p:cNvSpPr>
            <a:spLocks xmlns:a="http://schemas.openxmlformats.org/drawingml/2006/main" noGrp="1"/>
          </p:cNvSpPr>
          <p:nvPr/>
        </p:nvSpPr>
        <p:spPr>
          <a:xfrm xmlns:a="http://schemas.openxmlformats.org/drawingml/2006/main">
            <a:off x="7239000" y="0"/>
            <a:ext cx="4953000" cy="6858000"/>
          </a:xfrm>
          <a:prstGeom xmlns:a="http://schemas.openxmlformats.org/drawingml/2006/main" prst="rect">
            <a:avLst/>
          </a:prstGeom>
          <a:solidFill xmlns:a="http://schemas.openxmlformats.org/drawingml/2006/main">
            <a:srgbClr val="0B263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87E1344-3316-4006-BBC1-099634FE7481}"/>
              </a:ext>
            </a:extLst>
          </p:cNvPr>
          <p:cNvSpPr>
            <a:spLocks xmlns:a="http://schemas.openxmlformats.org/drawingml/2006/main" noGrp="1"/>
          </p:cNvSpPr>
          <p:nvPr/>
        </p:nvSpPr>
        <p:spPr>
          <a:xfrm xmlns:a="http://schemas.openxmlformats.org/drawingml/2006/main">
            <a:off x="495300" y="323850"/>
            <a:ext cx="647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900" b="1">
                <a:solidFill>
                  <a:srgbClr val="23C6C8"/>
                </a:solidFill>
                <a:latin typeface="Aptos"/>
                <a:ea typeface="Aptos"/>
                <a:cs typeface="Aptos"/>
              </a:defRPr>
            </a:pPr>
            <a:r>
              <a:rPr sz="900" b="1">
                <a:solidFill>
                  <a:srgbClr val="23C6C8"/>
                </a:solidFill>
                <a:latin typeface="Aptos"/>
                <a:ea typeface="Aptos"/>
                <a:cs typeface="Aptos"/>
              </a:rPr>
              <a:t>CHAPTER 06</a:t>
            </a:r>
          </a:p>
        </p:txBody>
      </p:sp>
      <p:sp>
        <p:nvSpPr>
          <p:cNvPr id="3" name="">
            <a:extLst xmlns:a="http://schemas.openxmlformats.org/drawingml/2006/main">
              <a:ext uri="{FF2B5EF4-FFF2-40B4-BE49-F238E27FC236}">
                <a16:creationId xmlns:a16="http://schemas.microsoft.com/office/drawing/2014/main" id="{C39C1E1E-299E-4ADE-98DD-77C1BFF47ED4}"/>
              </a:ext>
            </a:extLst>
          </p:cNvPr>
          <p:cNvSpPr>
            <a:spLocks xmlns:a="http://schemas.openxmlformats.org/drawingml/2006/main" noGrp="1"/>
          </p:cNvSpPr>
          <p:nvPr/>
        </p:nvSpPr>
        <p:spPr>
          <a:xfrm xmlns:a="http://schemas.openxmlformats.org/drawingml/2006/main">
            <a:off x="495300" y="685800"/>
            <a:ext cx="666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400" b="1">
                <a:solidFill>
                  <a:srgbClr val="F7FAFC"/>
                </a:solidFill>
                <a:latin typeface="Aptos"/>
                <a:ea typeface="Aptos"/>
                <a:cs typeface="Aptos"/>
              </a:defRPr>
            </a:pPr>
            <a:r>
              <a:rPr sz="2400" b="1">
                <a:solidFill>
                  <a:srgbClr val="F7FAFC"/>
                </a:solidFill>
                <a:latin typeface="Aptos"/>
                <a:ea typeface="Aptos"/>
                <a:cs typeface="Aptos"/>
              </a:rPr>
              <a:t>Deep representation learning</a:t>
            </a:r>
          </a:p>
        </p:txBody>
      </p:sp>
      <p:sp>
        <p:nvSpPr>
          <p:cNvPr id="4" name="">
            <a:extLst xmlns:a="http://schemas.openxmlformats.org/drawingml/2006/main">
              <a:ext uri="{FF2B5EF4-FFF2-40B4-BE49-F238E27FC236}">
                <a16:creationId xmlns:a16="http://schemas.microsoft.com/office/drawing/2014/main" id="{C27AB212-2ED3-4BFB-A74A-9BBC29A5EE06}"/>
              </a:ext>
            </a:extLst>
          </p:cNvPr>
          <p:cNvSpPr>
            <a:spLocks xmlns:a="http://schemas.openxmlformats.org/drawingml/2006/main" noGrp="1"/>
          </p:cNvSpPr>
          <p:nvPr/>
        </p:nvSpPr>
        <p:spPr>
          <a:xfrm xmlns:a="http://schemas.openxmlformats.org/drawingml/2006/main">
            <a:off x="495300" y="1314450"/>
            <a:ext cx="2381250" cy="28575"/>
          </a:xfrm>
          <a:prstGeom xmlns:a="http://schemas.openxmlformats.org/drawingml/2006/main" prst="rect">
            <a:avLst/>
          </a:prstGeom>
          <a:solidFill xmlns:a="http://schemas.openxmlformats.org/drawingml/2006/main">
            <a:srgbClr val="D5AF4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4FAC59D-554D-4F9E-A9AA-974FCD0606F3}"/>
              </a:ext>
            </a:extLst>
          </p:cNvPr>
          <p:cNvSpPr>
            <a:spLocks xmlns:a="http://schemas.openxmlformats.org/drawingml/2006/main" noGrp="1"/>
          </p:cNvSpPr>
          <p:nvPr/>
        </p:nvSpPr>
        <p:spPr>
          <a:xfrm xmlns:a="http://schemas.openxmlformats.org/drawingml/2006/main">
            <a:off x="552450" y="1695450"/>
            <a:ext cx="619125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41300" indent="-127000">
              <a:spcAft>
                <a:spcPts val="1600"/>
              </a:spcAft>
              <a:buChar char="•"/>
              <a:defRPr sz="1650">
                <a:solidFill>
                  <a:srgbClr val="F7FAFC"/>
                </a:solidFill>
                <a:latin typeface="Aptos"/>
                <a:ea typeface="Aptos"/>
                <a:cs typeface="Aptos"/>
              </a:defRPr>
            </a:pPr>
            <a:r>
              <a:rPr sz="1650">
                <a:solidFill>
                  <a:srgbClr val="F7FAFC"/>
                </a:solidFill>
                <a:latin typeface="Aptos"/>
                <a:ea typeface="Aptos"/>
                <a:cs typeface="Aptos"/>
              </a:rPr>
              <a:t>Layered representations can capture complexity while suppressing rare distinctions</a:t>
            </a:r>
          </a:p>
          <a:p xmlns:a="http://schemas.openxmlformats.org/drawingml/2006/main">
            <a:pPr marL="241300" indent="-127000">
              <a:spcAft>
                <a:spcPts val="1600"/>
              </a:spcAft>
              <a:buChar char="•"/>
              <a:defRPr sz="1650">
                <a:solidFill>
                  <a:srgbClr val="F7FAFC"/>
                </a:solidFill>
                <a:latin typeface="Aptos"/>
                <a:ea typeface="Aptos"/>
                <a:cs typeface="Aptos"/>
              </a:defRPr>
            </a:pPr>
            <a:r>
              <a:rPr sz="1650">
                <a:solidFill>
                  <a:srgbClr val="F7FAFC"/>
                </a:solidFill>
                <a:latin typeface="Aptos"/>
                <a:ea typeface="Aptos"/>
                <a:cs typeface="Aptos"/>
              </a:rPr>
              <a:t>Test perturbation sensitivity, domain slices, run-to-run stability and simpler baselines</a:t>
            </a:r>
          </a:p>
          <a:p xmlns:a="http://schemas.openxmlformats.org/drawingml/2006/main">
            <a:pPr marL="241300" indent="-127000">
              <a:spcAft>
                <a:spcPts val="1600"/>
              </a:spcAft>
              <a:buChar char="•"/>
              <a:defRPr sz="1650">
                <a:solidFill>
                  <a:srgbClr val="F7FAFC"/>
                </a:solidFill>
                <a:latin typeface="Aptos"/>
                <a:ea typeface="Aptos"/>
                <a:cs typeface="Aptos"/>
              </a:defRPr>
            </a:pPr>
            <a:r>
              <a:rPr sz="1650">
                <a:solidFill>
                  <a:srgbClr val="F7FAFC"/>
                </a:solidFill>
                <a:latin typeface="Aptos"/>
                <a:ea typeface="Aptos"/>
                <a:cs typeface="Aptos"/>
              </a:rPr>
              <a:t>Technical implementation remains bounded by the statistical construct and mandate</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2cbd76ffb66844d0"/>
          <a:srcRect xmlns:a="http://schemas.openxmlformats.org/drawingml/2006/main" l="10653" t="0" r="10653" b="0"/>
          <a:stretch xmlns:a="http://schemas.openxmlformats.org/drawingml/2006/main">
            <a:fillRect l="0" t="0" r="0" b="0"/>
          </a:stretch>
        </p:blipFill>
        <p:spPr>
          <a:xfrm xmlns:a="http://schemas.openxmlformats.org/drawingml/2006/main">
            <a:off x="7486650" y="1257300"/>
            <a:ext cx="4171950" cy="4800600"/>
          </a:xfrm>
          <a:prstGeom xmlns:a="http://schemas.openxmlformats.org/drawingml/2006/main" prst="roundRect">
            <a:avLst>
              <a:gd name="adj" fmla="val 5479"/>
            </a:avLst>
          </a:prstGeom>
        </p:spPr>
      </p:pic>
      <p:sp>
        <p:nvSpPr>
          <p:cNvPr id="7" name="">
            <a:extLst xmlns:a="http://schemas.openxmlformats.org/drawingml/2006/main">
              <a:ext uri="{FF2B5EF4-FFF2-40B4-BE49-F238E27FC236}">
                <a16:creationId xmlns:a16="http://schemas.microsoft.com/office/drawing/2014/main" id="{04AB0C4C-F8C8-4DFF-B2ED-444A65E4D090}"/>
              </a:ext>
            </a:extLst>
          </p:cNvPr>
          <p:cNvSpPr>
            <a:spLocks xmlns:a="http://schemas.openxmlformats.org/drawingml/2006/main" noGrp="1"/>
          </p:cNvSpPr>
          <p:nvPr/>
        </p:nvSpPr>
        <p:spPr>
          <a:xfrm xmlns:a="http://schemas.openxmlformats.org/drawingml/2006/main">
            <a:off x="11353800" y="6400800"/>
            <a:ext cx="4000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buNone/>
              <a:defRPr sz="750" b="1">
                <a:solidFill>
                  <a:srgbClr val="B8CDD5"/>
                </a:solidFill>
                <a:latin typeface="Aptos"/>
                <a:ea typeface="Aptos"/>
                <a:cs typeface="Aptos"/>
              </a:defRPr>
            </a:pPr>
            <a:r>
              <a:rPr sz="750" b="1">
                <a:solidFill>
                  <a:srgbClr val="B8CDD5"/>
                </a:solidFill>
                <a:latin typeface="Aptos"/>
                <a:ea typeface="Aptos"/>
                <a:cs typeface="Aptos"/>
              </a:rPr>
              <a:t>08</a:t>
            </a:r>
          </a:p>
        </p:txBody>
      </p:sp>
      <p:sp>
        <p:nvSpPr>
          <p:cNvPr id="8" name="">
            <a:extLst xmlns:a="http://schemas.openxmlformats.org/drawingml/2006/main">
              <a:ext uri="{FF2B5EF4-FFF2-40B4-BE49-F238E27FC236}">
                <a16:creationId xmlns:a16="http://schemas.microsoft.com/office/drawing/2014/main" id="{9902BD72-1513-4E81-9B45-27B3DED38DA5}"/>
              </a:ext>
            </a:extLst>
          </p:cNvPr>
          <p:cNvSpPr>
            <a:spLocks xmlns:a="http://schemas.openxmlformats.org/drawingml/2006/main" noGrp="1"/>
          </p:cNvSpPr>
          <p:nvPr/>
        </p:nvSpPr>
        <p:spPr>
          <a:xfrm xmlns:a="http://schemas.openxmlformats.org/drawingml/2006/main">
            <a:off x="495300" y="6400800"/>
            <a:ext cx="1524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buNone/>
              <a:defRPr sz="750" b="0">
                <a:solidFill>
                  <a:srgbClr val="B8CDD5"/>
                </a:solidFill>
                <a:latin typeface="Aptos"/>
                <a:ea typeface="Aptos"/>
                <a:cs typeface="Aptos"/>
              </a:defRPr>
            </a:pPr>
            <a:r>
              <a:rPr sz="750" b="0">
                <a:solidFill>
                  <a:srgbClr val="B8CDD5"/>
                </a:solidFill>
                <a:latin typeface="Aptos"/>
                <a:ea typeface="Aptos"/>
                <a:cs typeface="Aptos"/>
              </a:rPr>
              <a:t>SRAI  |  OS-A02</a:t>
            </a:r>
          </a:p>
        </p:txBody>
      </p:sp>
    </p:spTree>
    <p:extLst>
      <p:ext uri="{BB962C8B-B14F-4D97-AF65-F5344CB8AC3E}">
        <p14:creationId xmlns:p14="http://schemas.microsoft.com/office/powerpoint/2010/main" val="1775729466"/>
      </p:ext>
    </p:extLst>
  </p:cSld>
</p:sld>
</file>

<file path=ppt/slides/slide10.xml><?xml version="1.0" encoding="utf-8"?>
<p:sld xmlns:p="http://schemas.openxmlformats.org/presentationml/2006/main">
  <p:cSld>
    <p:bg>
      <p:bgPr>
        <a:solidFill xmlns:a="http://schemas.openxmlformats.org/drawingml/2006/main">
          <a:srgbClr val="07182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8468B11-B532-4AE7-9D56-69C9AA9D7A83}"/>
              </a:ext>
            </a:extLst>
          </p:cNvPr>
          <p:cNvSpPr>
            <a:spLocks xmlns:a="http://schemas.openxmlformats.org/drawingml/2006/main" noGrp="1"/>
          </p:cNvSpPr>
          <p:nvPr/>
        </p:nvSpPr>
        <p:spPr>
          <a:xfrm xmlns:a="http://schemas.openxmlformats.org/drawingml/2006/main">
            <a:off x="7239000" y="0"/>
            <a:ext cx="4953000" cy="6858000"/>
          </a:xfrm>
          <a:prstGeom xmlns:a="http://schemas.openxmlformats.org/drawingml/2006/main" prst="rect">
            <a:avLst/>
          </a:prstGeom>
          <a:solidFill xmlns:a="http://schemas.openxmlformats.org/drawingml/2006/main">
            <a:srgbClr val="0B263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CCBA827-D08F-47B7-AD4E-9D7A536F3D0A}"/>
              </a:ext>
            </a:extLst>
          </p:cNvPr>
          <p:cNvSpPr>
            <a:spLocks xmlns:a="http://schemas.openxmlformats.org/drawingml/2006/main" noGrp="1"/>
          </p:cNvSpPr>
          <p:nvPr/>
        </p:nvSpPr>
        <p:spPr>
          <a:xfrm xmlns:a="http://schemas.openxmlformats.org/drawingml/2006/main">
            <a:off x="495300" y="323850"/>
            <a:ext cx="647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900" b="1">
                <a:solidFill>
                  <a:srgbClr val="23C6C8"/>
                </a:solidFill>
                <a:latin typeface="Aptos"/>
                <a:ea typeface="Aptos"/>
                <a:cs typeface="Aptos"/>
              </a:defRPr>
            </a:pPr>
            <a:r>
              <a:rPr sz="900" b="1">
                <a:solidFill>
                  <a:srgbClr val="23C6C8"/>
                </a:solidFill>
                <a:latin typeface="Aptos"/>
                <a:ea typeface="Aptos"/>
                <a:cs typeface="Aptos"/>
              </a:rPr>
              <a:t>CHAPTER 07</a:t>
            </a:r>
          </a:p>
        </p:txBody>
      </p:sp>
      <p:sp>
        <p:nvSpPr>
          <p:cNvPr id="3" name="">
            <a:extLst xmlns:a="http://schemas.openxmlformats.org/drawingml/2006/main">
              <a:ext uri="{FF2B5EF4-FFF2-40B4-BE49-F238E27FC236}">
                <a16:creationId xmlns:a16="http://schemas.microsoft.com/office/drawing/2014/main" id="{59164C60-E0C1-49B9-92CF-2EDAB4C314CE}"/>
              </a:ext>
            </a:extLst>
          </p:cNvPr>
          <p:cNvSpPr>
            <a:spLocks xmlns:a="http://schemas.openxmlformats.org/drawingml/2006/main" noGrp="1"/>
          </p:cNvSpPr>
          <p:nvPr/>
        </p:nvSpPr>
        <p:spPr>
          <a:xfrm xmlns:a="http://schemas.openxmlformats.org/drawingml/2006/main">
            <a:off x="495300" y="685800"/>
            <a:ext cx="666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400" b="1">
                <a:solidFill>
                  <a:srgbClr val="F7FAFC"/>
                </a:solidFill>
                <a:latin typeface="Aptos"/>
                <a:ea typeface="Aptos"/>
                <a:cs typeface="Aptos"/>
              </a:defRPr>
            </a:pPr>
            <a:r>
              <a:rPr sz="2400" b="1">
                <a:solidFill>
                  <a:srgbClr val="F7FAFC"/>
                </a:solidFill>
                <a:latin typeface="Aptos"/>
                <a:ea typeface="Aptos"/>
                <a:cs typeface="Aptos"/>
              </a:rPr>
              <a:t>Generative and foundation models</a:t>
            </a:r>
          </a:p>
        </p:txBody>
      </p:sp>
      <p:sp>
        <p:nvSpPr>
          <p:cNvPr id="4" name="">
            <a:extLst xmlns:a="http://schemas.openxmlformats.org/drawingml/2006/main">
              <a:ext uri="{FF2B5EF4-FFF2-40B4-BE49-F238E27FC236}">
                <a16:creationId xmlns:a16="http://schemas.microsoft.com/office/drawing/2014/main" id="{F77E3482-68A2-42ED-A217-1833EE49A3A2}"/>
              </a:ext>
            </a:extLst>
          </p:cNvPr>
          <p:cNvSpPr>
            <a:spLocks xmlns:a="http://schemas.openxmlformats.org/drawingml/2006/main" noGrp="1"/>
          </p:cNvSpPr>
          <p:nvPr/>
        </p:nvSpPr>
        <p:spPr>
          <a:xfrm xmlns:a="http://schemas.openxmlformats.org/drawingml/2006/main">
            <a:off x="495300" y="1314450"/>
            <a:ext cx="2381250" cy="28575"/>
          </a:xfrm>
          <a:prstGeom xmlns:a="http://schemas.openxmlformats.org/drawingml/2006/main" prst="rect">
            <a:avLst/>
          </a:prstGeom>
          <a:solidFill xmlns:a="http://schemas.openxmlformats.org/drawingml/2006/main">
            <a:srgbClr val="D5AF4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C535FE6-BB76-4B61-8F12-E1E42CF35678}"/>
              </a:ext>
            </a:extLst>
          </p:cNvPr>
          <p:cNvSpPr>
            <a:spLocks xmlns:a="http://schemas.openxmlformats.org/drawingml/2006/main" noGrp="1"/>
          </p:cNvSpPr>
          <p:nvPr/>
        </p:nvSpPr>
        <p:spPr>
          <a:xfrm xmlns:a="http://schemas.openxmlformats.org/drawingml/2006/main">
            <a:off x="552450" y="1695450"/>
            <a:ext cx="619125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41300" indent="-127000">
              <a:spcAft>
                <a:spcPts val="1600"/>
              </a:spcAft>
              <a:buChar char="•"/>
              <a:defRPr sz="1650">
                <a:solidFill>
                  <a:srgbClr val="F7FAFC"/>
                </a:solidFill>
                <a:latin typeface="Aptos"/>
                <a:ea typeface="Aptos"/>
                <a:cs typeface="Aptos"/>
              </a:defRPr>
            </a:pPr>
            <a:r>
              <a:rPr sz="1650">
                <a:solidFill>
                  <a:srgbClr val="F7FAFC"/>
                </a:solidFill>
                <a:latin typeface="Aptos"/>
                <a:ea typeface="Aptos"/>
                <a:cs typeface="Aptos"/>
              </a:rPr>
              <a:t>One model can draft, classify, translate or code, but each use needs separate evidence</a:t>
            </a:r>
          </a:p>
          <a:p xmlns:a="http://schemas.openxmlformats.org/drawingml/2006/main">
            <a:pPr marL="241300" indent="-127000">
              <a:spcAft>
                <a:spcPts val="1600"/>
              </a:spcAft>
              <a:buChar char="•"/>
              <a:defRPr sz="1650">
                <a:solidFill>
                  <a:srgbClr val="F7FAFC"/>
                </a:solidFill>
                <a:latin typeface="Aptos"/>
                <a:ea typeface="Aptos"/>
                <a:cs typeface="Aptos"/>
              </a:defRPr>
            </a:pPr>
            <a:r>
              <a:rPr sz="1650">
                <a:solidFill>
                  <a:srgbClr val="F7FAFC"/>
                </a:solidFill>
                <a:latin typeface="Aptos"/>
                <a:ea typeface="Aptos"/>
                <a:cs typeface="Aptos"/>
              </a:rPr>
              <a:t>Plausible token generation does not establish factual or statistical validity</a:t>
            </a:r>
          </a:p>
          <a:p xmlns:a="http://schemas.openxmlformats.org/drawingml/2006/main">
            <a:pPr marL="241300" indent="-127000">
              <a:spcAft>
                <a:spcPts val="1600"/>
              </a:spcAft>
              <a:buChar char="•"/>
              <a:defRPr sz="1650">
                <a:solidFill>
                  <a:srgbClr val="F7FAFC"/>
                </a:solidFill>
                <a:latin typeface="Aptos"/>
                <a:ea typeface="Aptos"/>
                <a:cs typeface="Aptos"/>
              </a:defRPr>
            </a:pPr>
            <a:r>
              <a:rPr sz="1650">
                <a:solidFill>
                  <a:srgbClr val="F7FAFC"/>
                </a:solidFill>
                <a:latin typeface="Aptos"/>
                <a:ea typeface="Aptos"/>
                <a:cs typeface="Aptos"/>
              </a:rPr>
              <a:t>Prompting controls an input but cannot replace independent validation</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71b6bd6c34284204"/>
          <a:srcRect xmlns:a="http://schemas.openxmlformats.org/drawingml/2006/main" l="2613" t="0" r="2613" b="0"/>
          <a:stretch xmlns:a="http://schemas.openxmlformats.org/drawingml/2006/main">
            <a:fillRect l="0" t="0" r="0" b="0"/>
          </a:stretch>
        </p:blipFill>
        <p:spPr>
          <a:xfrm xmlns:a="http://schemas.openxmlformats.org/drawingml/2006/main">
            <a:off x="7486650" y="1257300"/>
            <a:ext cx="4171950" cy="4800600"/>
          </a:xfrm>
          <a:prstGeom xmlns:a="http://schemas.openxmlformats.org/drawingml/2006/main" prst="roundRect">
            <a:avLst>
              <a:gd name="adj" fmla="val 5479"/>
            </a:avLst>
          </a:prstGeom>
        </p:spPr>
      </p:pic>
      <p:sp>
        <p:nvSpPr>
          <p:cNvPr id="7" name="">
            <a:extLst xmlns:a="http://schemas.openxmlformats.org/drawingml/2006/main">
              <a:ext uri="{FF2B5EF4-FFF2-40B4-BE49-F238E27FC236}">
                <a16:creationId xmlns:a16="http://schemas.microsoft.com/office/drawing/2014/main" id="{DBD4363F-162A-4919-A4C1-140B1B249E74}"/>
              </a:ext>
            </a:extLst>
          </p:cNvPr>
          <p:cNvSpPr>
            <a:spLocks xmlns:a="http://schemas.openxmlformats.org/drawingml/2006/main" noGrp="1"/>
          </p:cNvSpPr>
          <p:nvPr/>
        </p:nvSpPr>
        <p:spPr>
          <a:xfrm xmlns:a="http://schemas.openxmlformats.org/drawingml/2006/main">
            <a:off x="11353800" y="6400800"/>
            <a:ext cx="4000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buNone/>
              <a:defRPr sz="750" b="1">
                <a:solidFill>
                  <a:srgbClr val="B8CDD5"/>
                </a:solidFill>
                <a:latin typeface="Aptos"/>
                <a:ea typeface="Aptos"/>
                <a:cs typeface="Aptos"/>
              </a:defRPr>
            </a:pPr>
            <a:r>
              <a:rPr sz="750" b="1">
                <a:solidFill>
                  <a:srgbClr val="B8CDD5"/>
                </a:solidFill>
                <a:latin typeface="Aptos"/>
                <a:ea typeface="Aptos"/>
                <a:cs typeface="Aptos"/>
              </a:rPr>
              <a:t>09</a:t>
            </a:r>
          </a:p>
        </p:txBody>
      </p:sp>
      <p:sp>
        <p:nvSpPr>
          <p:cNvPr id="8" name="">
            <a:extLst xmlns:a="http://schemas.openxmlformats.org/drawingml/2006/main">
              <a:ext uri="{FF2B5EF4-FFF2-40B4-BE49-F238E27FC236}">
                <a16:creationId xmlns:a16="http://schemas.microsoft.com/office/drawing/2014/main" id="{8D7A2F7C-2FA5-4728-BA37-0EED62C2F362}"/>
              </a:ext>
            </a:extLst>
          </p:cNvPr>
          <p:cNvSpPr>
            <a:spLocks xmlns:a="http://schemas.openxmlformats.org/drawingml/2006/main" noGrp="1"/>
          </p:cNvSpPr>
          <p:nvPr/>
        </p:nvSpPr>
        <p:spPr>
          <a:xfrm xmlns:a="http://schemas.openxmlformats.org/drawingml/2006/main">
            <a:off x="495300" y="6400800"/>
            <a:ext cx="1524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buNone/>
              <a:defRPr sz="750" b="0">
                <a:solidFill>
                  <a:srgbClr val="B8CDD5"/>
                </a:solidFill>
                <a:latin typeface="Aptos"/>
                <a:ea typeface="Aptos"/>
                <a:cs typeface="Aptos"/>
              </a:defRPr>
            </a:pPr>
            <a:r>
              <a:rPr sz="750" b="0">
                <a:solidFill>
                  <a:srgbClr val="B8CDD5"/>
                </a:solidFill>
                <a:latin typeface="Aptos"/>
                <a:ea typeface="Aptos"/>
                <a:cs typeface="Aptos"/>
              </a:rPr>
              <a:t>SRAI  |  OS-A02</a:t>
            </a:r>
          </a:p>
        </p:txBody>
      </p:sp>
    </p:spTree>
    <p:extLst>
      <p:ext uri="{BB962C8B-B14F-4D97-AF65-F5344CB8AC3E}">
        <p14:creationId xmlns:p14="http://schemas.microsoft.com/office/powerpoint/2010/main" val="352464670"/>
      </p:ext>
    </p:extLst>
  </p:cSld>
</p:sld>
</file>

<file path=ppt/slides/slide11.xml><?xml version="1.0" encoding="utf-8"?>
<p:sld xmlns:p="http://schemas.openxmlformats.org/presentationml/2006/main">
  <p:cSld>
    <p:bg>
      <p:bgPr>
        <a:solidFill xmlns:a="http://schemas.openxmlformats.org/drawingml/2006/main">
          <a:srgbClr val="07182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856B103-6BF6-4F00-9CC8-0B2EE33A7D92}"/>
              </a:ext>
            </a:extLst>
          </p:cNvPr>
          <p:cNvSpPr>
            <a:spLocks xmlns:a="http://schemas.openxmlformats.org/drawingml/2006/main" noGrp="1"/>
          </p:cNvSpPr>
          <p:nvPr/>
        </p:nvSpPr>
        <p:spPr>
          <a:xfrm xmlns:a="http://schemas.openxmlformats.org/drawingml/2006/main">
            <a:off x="7239000" y="0"/>
            <a:ext cx="4953000" cy="6858000"/>
          </a:xfrm>
          <a:prstGeom xmlns:a="http://schemas.openxmlformats.org/drawingml/2006/main" prst="rect">
            <a:avLst/>
          </a:prstGeom>
          <a:solidFill xmlns:a="http://schemas.openxmlformats.org/drawingml/2006/main">
            <a:srgbClr val="0B263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B695C73-EC78-46E3-8184-1D075FF2A97B}"/>
              </a:ext>
            </a:extLst>
          </p:cNvPr>
          <p:cNvSpPr>
            <a:spLocks xmlns:a="http://schemas.openxmlformats.org/drawingml/2006/main" noGrp="1"/>
          </p:cNvSpPr>
          <p:nvPr/>
        </p:nvSpPr>
        <p:spPr>
          <a:xfrm xmlns:a="http://schemas.openxmlformats.org/drawingml/2006/main">
            <a:off x="495300" y="323850"/>
            <a:ext cx="647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900" b="1">
                <a:solidFill>
                  <a:srgbClr val="23C6C8"/>
                </a:solidFill>
                <a:latin typeface="Aptos"/>
                <a:ea typeface="Aptos"/>
                <a:cs typeface="Aptos"/>
              </a:defRPr>
            </a:pPr>
            <a:r>
              <a:rPr sz="900" b="1">
                <a:solidFill>
                  <a:srgbClr val="23C6C8"/>
                </a:solidFill>
                <a:latin typeface="Aptos"/>
                <a:ea typeface="Aptos"/>
                <a:cs typeface="Aptos"/>
              </a:rPr>
              <a:t>CHAPTER 08</a:t>
            </a:r>
          </a:p>
        </p:txBody>
      </p:sp>
      <p:sp>
        <p:nvSpPr>
          <p:cNvPr id="3" name="">
            <a:extLst xmlns:a="http://schemas.openxmlformats.org/drawingml/2006/main">
              <a:ext uri="{FF2B5EF4-FFF2-40B4-BE49-F238E27FC236}">
                <a16:creationId xmlns:a16="http://schemas.microsoft.com/office/drawing/2014/main" id="{3D0EB4D4-C5CD-42E1-AC25-CEA61A974558}"/>
              </a:ext>
            </a:extLst>
          </p:cNvPr>
          <p:cNvSpPr>
            <a:spLocks xmlns:a="http://schemas.openxmlformats.org/drawingml/2006/main" noGrp="1"/>
          </p:cNvSpPr>
          <p:nvPr/>
        </p:nvSpPr>
        <p:spPr>
          <a:xfrm xmlns:a="http://schemas.openxmlformats.org/drawingml/2006/main">
            <a:off x="495300" y="685800"/>
            <a:ext cx="666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400" b="1">
                <a:solidFill>
                  <a:srgbClr val="F7FAFC"/>
                </a:solidFill>
                <a:latin typeface="Aptos"/>
                <a:ea typeface="Aptos"/>
                <a:cs typeface="Aptos"/>
              </a:defRPr>
            </a:pPr>
            <a:r>
              <a:rPr sz="2400" b="1">
                <a:solidFill>
                  <a:srgbClr val="F7FAFC"/>
                </a:solidFill>
                <a:latin typeface="Aptos"/>
                <a:ea typeface="Aptos"/>
                <a:cs typeface="Aptos"/>
              </a:rPr>
              <a:t>Retrieval, grounding and citations</a:t>
            </a:r>
          </a:p>
        </p:txBody>
      </p:sp>
      <p:sp>
        <p:nvSpPr>
          <p:cNvPr id="4" name="">
            <a:extLst xmlns:a="http://schemas.openxmlformats.org/drawingml/2006/main">
              <a:ext uri="{FF2B5EF4-FFF2-40B4-BE49-F238E27FC236}">
                <a16:creationId xmlns:a16="http://schemas.microsoft.com/office/drawing/2014/main" id="{78B2F746-75D9-4EB3-B433-38610DA791CA}"/>
              </a:ext>
            </a:extLst>
          </p:cNvPr>
          <p:cNvSpPr>
            <a:spLocks xmlns:a="http://schemas.openxmlformats.org/drawingml/2006/main" noGrp="1"/>
          </p:cNvSpPr>
          <p:nvPr/>
        </p:nvSpPr>
        <p:spPr>
          <a:xfrm xmlns:a="http://schemas.openxmlformats.org/drawingml/2006/main">
            <a:off x="495300" y="1314450"/>
            <a:ext cx="2381250" cy="28575"/>
          </a:xfrm>
          <a:prstGeom xmlns:a="http://schemas.openxmlformats.org/drawingml/2006/main" prst="rect">
            <a:avLst/>
          </a:prstGeom>
          <a:solidFill xmlns:a="http://schemas.openxmlformats.org/drawingml/2006/main">
            <a:srgbClr val="D5AF4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BE9406A-11F9-4FCF-852B-503FBE7CD4C3}"/>
              </a:ext>
            </a:extLst>
          </p:cNvPr>
          <p:cNvSpPr>
            <a:spLocks xmlns:a="http://schemas.openxmlformats.org/drawingml/2006/main" noGrp="1"/>
          </p:cNvSpPr>
          <p:nvPr/>
        </p:nvSpPr>
        <p:spPr>
          <a:xfrm xmlns:a="http://schemas.openxmlformats.org/drawingml/2006/main">
            <a:off x="552450" y="1695450"/>
            <a:ext cx="619125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41300" indent="-127000">
              <a:spcAft>
                <a:spcPts val="1600"/>
              </a:spcAft>
              <a:buChar char="•"/>
              <a:defRPr sz="1650">
                <a:solidFill>
                  <a:srgbClr val="F7FAFC"/>
                </a:solidFill>
                <a:latin typeface="Aptos"/>
                <a:ea typeface="Aptos"/>
                <a:cs typeface="Aptos"/>
              </a:defRPr>
            </a:pPr>
            <a:r>
              <a:rPr sz="1650">
                <a:solidFill>
                  <a:srgbClr val="F7FAFC"/>
                </a:solidFill>
                <a:latin typeface="Aptos"/>
                <a:ea typeface="Aptos"/>
                <a:cs typeface="Aptos"/>
              </a:rPr>
              <a:t>Trace document selection, ranking, context assembly and generation separately</a:t>
            </a:r>
          </a:p>
          <a:p xmlns:a="http://schemas.openxmlformats.org/drawingml/2006/main">
            <a:pPr marL="241300" indent="-127000">
              <a:spcAft>
                <a:spcPts val="1600"/>
              </a:spcAft>
              <a:buChar char="•"/>
              <a:defRPr sz="1650">
                <a:solidFill>
                  <a:srgbClr val="F7FAFC"/>
                </a:solidFill>
                <a:latin typeface="Aptos"/>
                <a:ea typeface="Aptos"/>
                <a:cs typeface="Aptos"/>
              </a:defRPr>
            </a:pPr>
            <a:r>
              <a:rPr sz="1650">
                <a:solidFill>
                  <a:srgbClr val="F7FAFC"/>
                </a:solidFill>
                <a:latin typeface="Aptos"/>
                <a:ea typeface="Aptos"/>
                <a:cs typeface="Aptos"/>
              </a:rPr>
              <a:t>Test corpus coverage, recall, faithful use and claim-level support</a:t>
            </a:r>
          </a:p>
          <a:p xmlns:a="http://schemas.openxmlformats.org/drawingml/2006/main">
            <a:pPr marL="241300" indent="-127000">
              <a:spcAft>
                <a:spcPts val="1600"/>
              </a:spcAft>
              <a:buChar char="•"/>
              <a:defRPr sz="1650">
                <a:solidFill>
                  <a:srgbClr val="F7FAFC"/>
                </a:solidFill>
                <a:latin typeface="Aptos"/>
                <a:ea typeface="Aptos"/>
                <a:cs typeface="Aptos"/>
              </a:defRPr>
            </a:pPr>
            <a:r>
              <a:rPr sz="1650">
                <a:solidFill>
                  <a:srgbClr val="F7FAFC"/>
                </a:solidFill>
                <a:latin typeface="Aptos"/>
                <a:ea typeface="Aptos"/>
                <a:cs typeface="Aptos"/>
              </a:rPr>
              <a:t>Refusal and referral are valid outputs when evidence is insufficient</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fde366a5d3444988"/>
          <a:srcRect xmlns:a="http://schemas.openxmlformats.org/drawingml/2006/main" l="2613" t="0" r="2613" b="0"/>
          <a:stretch xmlns:a="http://schemas.openxmlformats.org/drawingml/2006/main">
            <a:fillRect l="0" t="0" r="0" b="0"/>
          </a:stretch>
        </p:blipFill>
        <p:spPr>
          <a:xfrm xmlns:a="http://schemas.openxmlformats.org/drawingml/2006/main">
            <a:off x="7486650" y="1257300"/>
            <a:ext cx="4171950" cy="4800600"/>
          </a:xfrm>
          <a:prstGeom xmlns:a="http://schemas.openxmlformats.org/drawingml/2006/main" prst="roundRect">
            <a:avLst>
              <a:gd name="adj" fmla="val 5479"/>
            </a:avLst>
          </a:prstGeom>
        </p:spPr>
      </p:pic>
      <p:sp>
        <p:nvSpPr>
          <p:cNvPr id="7" name="">
            <a:extLst xmlns:a="http://schemas.openxmlformats.org/drawingml/2006/main">
              <a:ext uri="{FF2B5EF4-FFF2-40B4-BE49-F238E27FC236}">
                <a16:creationId xmlns:a16="http://schemas.microsoft.com/office/drawing/2014/main" id="{87D4F9CE-D9BB-4212-8449-4C547789E4E9}"/>
              </a:ext>
            </a:extLst>
          </p:cNvPr>
          <p:cNvSpPr>
            <a:spLocks xmlns:a="http://schemas.openxmlformats.org/drawingml/2006/main" noGrp="1"/>
          </p:cNvSpPr>
          <p:nvPr/>
        </p:nvSpPr>
        <p:spPr>
          <a:xfrm xmlns:a="http://schemas.openxmlformats.org/drawingml/2006/main">
            <a:off x="11353800" y="6400800"/>
            <a:ext cx="4000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buNone/>
              <a:defRPr sz="750" b="1">
                <a:solidFill>
                  <a:srgbClr val="B8CDD5"/>
                </a:solidFill>
                <a:latin typeface="Aptos"/>
                <a:ea typeface="Aptos"/>
                <a:cs typeface="Aptos"/>
              </a:defRPr>
            </a:pPr>
            <a:r>
              <a:rPr sz="750" b="1">
                <a:solidFill>
                  <a:srgbClr val="B8CDD5"/>
                </a:solidFill>
                <a:latin typeface="Aptos"/>
                <a:ea typeface="Aptos"/>
                <a:cs typeface="Aptos"/>
              </a:rPr>
              <a:t>10</a:t>
            </a:r>
          </a:p>
        </p:txBody>
      </p:sp>
      <p:sp>
        <p:nvSpPr>
          <p:cNvPr id="8" name="">
            <a:extLst xmlns:a="http://schemas.openxmlformats.org/drawingml/2006/main">
              <a:ext uri="{FF2B5EF4-FFF2-40B4-BE49-F238E27FC236}">
                <a16:creationId xmlns:a16="http://schemas.microsoft.com/office/drawing/2014/main" id="{E6E59390-EDD0-4269-81DE-4168C95DDB99}"/>
              </a:ext>
            </a:extLst>
          </p:cNvPr>
          <p:cNvSpPr>
            <a:spLocks xmlns:a="http://schemas.openxmlformats.org/drawingml/2006/main" noGrp="1"/>
          </p:cNvSpPr>
          <p:nvPr/>
        </p:nvSpPr>
        <p:spPr>
          <a:xfrm xmlns:a="http://schemas.openxmlformats.org/drawingml/2006/main">
            <a:off x="495300" y="6400800"/>
            <a:ext cx="1524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buNone/>
              <a:defRPr sz="750" b="0">
                <a:solidFill>
                  <a:srgbClr val="B8CDD5"/>
                </a:solidFill>
                <a:latin typeface="Aptos"/>
                <a:ea typeface="Aptos"/>
                <a:cs typeface="Aptos"/>
              </a:defRPr>
            </a:pPr>
            <a:r>
              <a:rPr sz="750" b="0">
                <a:solidFill>
                  <a:srgbClr val="B8CDD5"/>
                </a:solidFill>
                <a:latin typeface="Aptos"/>
                <a:ea typeface="Aptos"/>
                <a:cs typeface="Aptos"/>
              </a:rPr>
              <a:t>SRAI  |  OS-A02</a:t>
            </a:r>
          </a:p>
        </p:txBody>
      </p:sp>
    </p:spTree>
    <p:extLst>
      <p:ext uri="{BB962C8B-B14F-4D97-AF65-F5344CB8AC3E}">
        <p14:creationId xmlns:p14="http://schemas.microsoft.com/office/powerpoint/2010/main" val="321242847"/>
      </p:ext>
    </p:extLst>
  </p:cSld>
</p:sld>
</file>

<file path=ppt/slides/slide12.xml><?xml version="1.0" encoding="utf-8"?>
<p:sld xmlns:p="http://schemas.openxmlformats.org/presentationml/2006/main">
  <p:cSld>
    <p:bg>
      <p:bgPr>
        <a:solidFill xmlns:a="http://schemas.openxmlformats.org/drawingml/2006/main">
          <a:srgbClr val="07182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CAD1E52-F92C-4492-BF9B-A64ABCC8CBF6}"/>
              </a:ext>
            </a:extLst>
          </p:cNvPr>
          <p:cNvSpPr>
            <a:spLocks xmlns:a="http://schemas.openxmlformats.org/drawingml/2006/main" noGrp="1"/>
          </p:cNvSpPr>
          <p:nvPr/>
        </p:nvSpPr>
        <p:spPr>
          <a:xfrm xmlns:a="http://schemas.openxmlformats.org/drawingml/2006/main">
            <a:off x="7239000" y="0"/>
            <a:ext cx="4953000" cy="6858000"/>
          </a:xfrm>
          <a:prstGeom xmlns:a="http://schemas.openxmlformats.org/drawingml/2006/main" prst="rect">
            <a:avLst/>
          </a:prstGeom>
          <a:solidFill xmlns:a="http://schemas.openxmlformats.org/drawingml/2006/main">
            <a:srgbClr val="0B263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E0A80AF-1ED6-483C-BABD-3E5AB680D21F}"/>
              </a:ext>
            </a:extLst>
          </p:cNvPr>
          <p:cNvSpPr>
            <a:spLocks xmlns:a="http://schemas.openxmlformats.org/drawingml/2006/main" noGrp="1"/>
          </p:cNvSpPr>
          <p:nvPr/>
        </p:nvSpPr>
        <p:spPr>
          <a:xfrm xmlns:a="http://schemas.openxmlformats.org/drawingml/2006/main">
            <a:off x="495300" y="323850"/>
            <a:ext cx="647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900" b="1">
                <a:solidFill>
                  <a:srgbClr val="23C6C8"/>
                </a:solidFill>
                <a:latin typeface="Aptos"/>
                <a:ea typeface="Aptos"/>
                <a:cs typeface="Aptos"/>
              </a:defRPr>
            </a:pPr>
            <a:r>
              <a:rPr sz="900" b="1">
                <a:solidFill>
                  <a:srgbClr val="23C6C8"/>
                </a:solidFill>
                <a:latin typeface="Aptos"/>
                <a:ea typeface="Aptos"/>
                <a:cs typeface="Aptos"/>
              </a:rPr>
              <a:t>CHAPTER 09</a:t>
            </a:r>
          </a:p>
        </p:txBody>
      </p:sp>
      <p:sp>
        <p:nvSpPr>
          <p:cNvPr id="3" name="">
            <a:extLst xmlns:a="http://schemas.openxmlformats.org/drawingml/2006/main">
              <a:ext uri="{FF2B5EF4-FFF2-40B4-BE49-F238E27FC236}">
                <a16:creationId xmlns:a16="http://schemas.microsoft.com/office/drawing/2014/main" id="{8A89C6AE-D3AC-400C-936E-991047E0FB88}"/>
              </a:ext>
            </a:extLst>
          </p:cNvPr>
          <p:cNvSpPr>
            <a:spLocks xmlns:a="http://schemas.openxmlformats.org/drawingml/2006/main" noGrp="1"/>
          </p:cNvSpPr>
          <p:nvPr/>
        </p:nvSpPr>
        <p:spPr>
          <a:xfrm xmlns:a="http://schemas.openxmlformats.org/drawingml/2006/main">
            <a:off x="495300" y="685800"/>
            <a:ext cx="666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400" b="1">
                <a:solidFill>
                  <a:srgbClr val="F7FAFC"/>
                </a:solidFill>
                <a:latin typeface="Aptos"/>
                <a:ea typeface="Aptos"/>
                <a:cs typeface="Aptos"/>
              </a:defRPr>
            </a:pPr>
            <a:r>
              <a:rPr sz="2400" b="1">
                <a:solidFill>
                  <a:srgbClr val="F7FAFC"/>
                </a:solidFill>
                <a:latin typeface="Aptos"/>
                <a:ea typeface="Aptos"/>
                <a:cs typeface="Aptos"/>
              </a:rPr>
              <a:t>Optimisation, recommendation and agents</a:t>
            </a:r>
          </a:p>
        </p:txBody>
      </p:sp>
      <p:sp>
        <p:nvSpPr>
          <p:cNvPr id="4" name="">
            <a:extLst xmlns:a="http://schemas.openxmlformats.org/drawingml/2006/main">
              <a:ext uri="{FF2B5EF4-FFF2-40B4-BE49-F238E27FC236}">
                <a16:creationId xmlns:a16="http://schemas.microsoft.com/office/drawing/2014/main" id="{25F51AB4-3D8E-4F09-B57F-DF2F9652B411}"/>
              </a:ext>
            </a:extLst>
          </p:cNvPr>
          <p:cNvSpPr>
            <a:spLocks xmlns:a="http://schemas.openxmlformats.org/drawingml/2006/main" noGrp="1"/>
          </p:cNvSpPr>
          <p:nvPr/>
        </p:nvSpPr>
        <p:spPr>
          <a:xfrm xmlns:a="http://schemas.openxmlformats.org/drawingml/2006/main">
            <a:off x="495300" y="1314450"/>
            <a:ext cx="2381250" cy="28575"/>
          </a:xfrm>
          <a:prstGeom xmlns:a="http://schemas.openxmlformats.org/drawingml/2006/main" prst="rect">
            <a:avLst/>
          </a:prstGeom>
          <a:solidFill xmlns:a="http://schemas.openxmlformats.org/drawingml/2006/main">
            <a:srgbClr val="D5AF4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AF095AC-8C17-4401-8608-E64D84270E6E}"/>
              </a:ext>
            </a:extLst>
          </p:cNvPr>
          <p:cNvSpPr>
            <a:spLocks xmlns:a="http://schemas.openxmlformats.org/drawingml/2006/main" noGrp="1"/>
          </p:cNvSpPr>
          <p:nvPr/>
        </p:nvSpPr>
        <p:spPr>
          <a:xfrm xmlns:a="http://schemas.openxmlformats.org/drawingml/2006/main">
            <a:off x="552450" y="1695450"/>
            <a:ext cx="619125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41300" indent="-127000">
              <a:spcAft>
                <a:spcPts val="1600"/>
              </a:spcAft>
              <a:buChar char="•"/>
              <a:defRPr sz="1650">
                <a:solidFill>
                  <a:srgbClr val="F7FAFC"/>
                </a:solidFill>
                <a:latin typeface="Aptos"/>
                <a:ea typeface="Aptos"/>
                <a:cs typeface="Aptos"/>
              </a:defRPr>
            </a:pPr>
            <a:r>
              <a:rPr sz="1650">
                <a:solidFill>
                  <a:srgbClr val="F7FAFC"/>
                </a:solidFill>
                <a:latin typeface="Aptos"/>
                <a:ea typeface="Aptos"/>
                <a:cs typeface="Aptos"/>
              </a:rPr>
              <a:t>Moving from prediction to action increases consequence and feedback risk</a:t>
            </a:r>
          </a:p>
          <a:p xmlns:a="http://schemas.openxmlformats.org/drawingml/2006/main">
            <a:pPr marL="241300" indent="-127000">
              <a:spcAft>
                <a:spcPts val="1600"/>
              </a:spcAft>
              <a:buChar char="•"/>
              <a:defRPr sz="1650">
                <a:solidFill>
                  <a:srgbClr val="F7FAFC"/>
                </a:solidFill>
                <a:latin typeface="Aptos"/>
                <a:ea typeface="Aptos"/>
                <a:cs typeface="Aptos"/>
              </a:defRPr>
            </a:pPr>
            <a:r>
              <a:rPr sz="1650">
                <a:solidFill>
                  <a:srgbClr val="F7FAFC"/>
                </a:solidFill>
                <a:latin typeface="Aptos"/>
                <a:ea typeface="Aptos"/>
                <a:cs typeface="Aptos"/>
              </a:rPr>
              <a:t>Objectives cannot absorb legal, ethical and statistical hard constraints</a:t>
            </a:r>
          </a:p>
          <a:p xmlns:a="http://schemas.openxmlformats.org/drawingml/2006/main">
            <a:pPr marL="241300" indent="-127000">
              <a:spcAft>
                <a:spcPts val="1600"/>
              </a:spcAft>
              <a:buChar char="•"/>
              <a:defRPr sz="1650">
                <a:solidFill>
                  <a:srgbClr val="F7FAFC"/>
                </a:solidFill>
                <a:latin typeface="Aptos"/>
                <a:ea typeface="Aptos"/>
                <a:cs typeface="Aptos"/>
              </a:defRPr>
            </a:pPr>
            <a:r>
              <a:rPr sz="1650">
                <a:solidFill>
                  <a:srgbClr val="F7FAFC"/>
                </a:solidFill>
                <a:latin typeface="Aptos"/>
                <a:ea typeface="Aptos"/>
                <a:cs typeface="Aptos"/>
              </a:rPr>
              <a:t>Tool permissions, logs, transaction limits and stopping rules bound agentic work</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f82c621d33dd4e3a"/>
          <a:srcRect xmlns:a="http://schemas.openxmlformats.org/drawingml/2006/main" l="2613" t="0" r="2613" b="0"/>
          <a:stretch xmlns:a="http://schemas.openxmlformats.org/drawingml/2006/main">
            <a:fillRect l="0" t="0" r="0" b="0"/>
          </a:stretch>
        </p:blipFill>
        <p:spPr>
          <a:xfrm xmlns:a="http://schemas.openxmlformats.org/drawingml/2006/main">
            <a:off x="7486650" y="1257300"/>
            <a:ext cx="4171950" cy="4800600"/>
          </a:xfrm>
          <a:prstGeom xmlns:a="http://schemas.openxmlformats.org/drawingml/2006/main" prst="roundRect">
            <a:avLst>
              <a:gd name="adj" fmla="val 5479"/>
            </a:avLst>
          </a:prstGeom>
        </p:spPr>
      </p:pic>
      <p:sp>
        <p:nvSpPr>
          <p:cNvPr id="7" name="">
            <a:extLst xmlns:a="http://schemas.openxmlformats.org/drawingml/2006/main">
              <a:ext uri="{FF2B5EF4-FFF2-40B4-BE49-F238E27FC236}">
                <a16:creationId xmlns:a16="http://schemas.microsoft.com/office/drawing/2014/main" id="{3B3A8C42-C77A-46BB-8A37-2980A5CEF6C7}"/>
              </a:ext>
            </a:extLst>
          </p:cNvPr>
          <p:cNvSpPr>
            <a:spLocks xmlns:a="http://schemas.openxmlformats.org/drawingml/2006/main" noGrp="1"/>
          </p:cNvSpPr>
          <p:nvPr/>
        </p:nvSpPr>
        <p:spPr>
          <a:xfrm xmlns:a="http://schemas.openxmlformats.org/drawingml/2006/main">
            <a:off x="11353800" y="6400800"/>
            <a:ext cx="4000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buNone/>
              <a:defRPr sz="750" b="1">
                <a:solidFill>
                  <a:srgbClr val="B8CDD5"/>
                </a:solidFill>
                <a:latin typeface="Aptos"/>
                <a:ea typeface="Aptos"/>
                <a:cs typeface="Aptos"/>
              </a:defRPr>
            </a:pPr>
            <a:r>
              <a:rPr sz="750" b="1">
                <a:solidFill>
                  <a:srgbClr val="B8CDD5"/>
                </a:solidFill>
                <a:latin typeface="Aptos"/>
                <a:ea typeface="Aptos"/>
                <a:cs typeface="Aptos"/>
              </a:rPr>
              <a:t>11</a:t>
            </a:r>
          </a:p>
        </p:txBody>
      </p:sp>
      <p:sp>
        <p:nvSpPr>
          <p:cNvPr id="8" name="">
            <a:extLst xmlns:a="http://schemas.openxmlformats.org/drawingml/2006/main">
              <a:ext uri="{FF2B5EF4-FFF2-40B4-BE49-F238E27FC236}">
                <a16:creationId xmlns:a16="http://schemas.microsoft.com/office/drawing/2014/main" id="{91F29CC0-8117-4920-B255-49446D4908EA}"/>
              </a:ext>
            </a:extLst>
          </p:cNvPr>
          <p:cNvSpPr>
            <a:spLocks xmlns:a="http://schemas.openxmlformats.org/drawingml/2006/main" noGrp="1"/>
          </p:cNvSpPr>
          <p:nvPr/>
        </p:nvSpPr>
        <p:spPr>
          <a:xfrm xmlns:a="http://schemas.openxmlformats.org/drawingml/2006/main">
            <a:off x="495300" y="6400800"/>
            <a:ext cx="1524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buNone/>
              <a:defRPr sz="750" b="0">
                <a:solidFill>
                  <a:srgbClr val="B8CDD5"/>
                </a:solidFill>
                <a:latin typeface="Aptos"/>
                <a:ea typeface="Aptos"/>
                <a:cs typeface="Aptos"/>
              </a:defRPr>
            </a:pPr>
            <a:r>
              <a:rPr sz="750" b="0">
                <a:solidFill>
                  <a:srgbClr val="B8CDD5"/>
                </a:solidFill>
                <a:latin typeface="Aptos"/>
                <a:ea typeface="Aptos"/>
                <a:cs typeface="Aptos"/>
              </a:rPr>
              <a:t>SRAI  |  OS-A02</a:t>
            </a:r>
          </a:p>
        </p:txBody>
      </p:sp>
    </p:spTree>
    <p:extLst>
      <p:ext uri="{BB962C8B-B14F-4D97-AF65-F5344CB8AC3E}">
        <p14:creationId xmlns:p14="http://schemas.microsoft.com/office/powerpoint/2010/main" val="644865088"/>
      </p:ext>
    </p:extLst>
  </p:cSld>
</p:sld>
</file>

<file path=ppt/slides/slide13.xml><?xml version="1.0" encoding="utf-8"?>
<p:sld xmlns:p="http://schemas.openxmlformats.org/presentationml/2006/main">
  <p:cSld>
    <p:bg>
      <p:bgPr>
        <a:solidFill xmlns:a="http://schemas.openxmlformats.org/drawingml/2006/main">
          <a:srgbClr val="07182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19D60FC-222E-4B7F-B048-FACF868EA80A}"/>
              </a:ext>
            </a:extLst>
          </p:cNvPr>
          <p:cNvSpPr>
            <a:spLocks xmlns:a="http://schemas.openxmlformats.org/drawingml/2006/main" noGrp="1"/>
          </p:cNvSpPr>
          <p:nvPr/>
        </p:nvSpPr>
        <p:spPr>
          <a:xfrm xmlns:a="http://schemas.openxmlformats.org/drawingml/2006/main">
            <a:off x="7239000" y="0"/>
            <a:ext cx="4953000" cy="6858000"/>
          </a:xfrm>
          <a:prstGeom xmlns:a="http://schemas.openxmlformats.org/drawingml/2006/main" prst="rect">
            <a:avLst/>
          </a:prstGeom>
          <a:solidFill xmlns:a="http://schemas.openxmlformats.org/drawingml/2006/main">
            <a:srgbClr val="0B263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9CA7BAA-EBD1-47A2-A109-41D8A95DC8D0}"/>
              </a:ext>
            </a:extLst>
          </p:cNvPr>
          <p:cNvSpPr>
            <a:spLocks xmlns:a="http://schemas.openxmlformats.org/drawingml/2006/main" noGrp="1"/>
          </p:cNvSpPr>
          <p:nvPr/>
        </p:nvSpPr>
        <p:spPr>
          <a:xfrm xmlns:a="http://schemas.openxmlformats.org/drawingml/2006/main">
            <a:off x="495300" y="323850"/>
            <a:ext cx="647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900" b="1">
                <a:solidFill>
                  <a:srgbClr val="23C6C8"/>
                </a:solidFill>
                <a:latin typeface="Aptos"/>
                <a:ea typeface="Aptos"/>
                <a:cs typeface="Aptos"/>
              </a:defRPr>
            </a:pPr>
            <a:r>
              <a:rPr sz="900" b="1">
                <a:solidFill>
                  <a:srgbClr val="23C6C8"/>
                </a:solidFill>
                <a:latin typeface="Aptos"/>
                <a:ea typeface="Aptos"/>
                <a:cs typeface="Aptos"/>
              </a:rPr>
              <a:t>CHAPTER 10</a:t>
            </a:r>
          </a:p>
        </p:txBody>
      </p:sp>
      <p:sp>
        <p:nvSpPr>
          <p:cNvPr id="3" name="">
            <a:extLst xmlns:a="http://schemas.openxmlformats.org/drawingml/2006/main">
              <a:ext uri="{FF2B5EF4-FFF2-40B4-BE49-F238E27FC236}">
                <a16:creationId xmlns:a16="http://schemas.microsoft.com/office/drawing/2014/main" id="{F08334AC-A834-48D3-8A27-1E06DB87FAFB}"/>
              </a:ext>
            </a:extLst>
          </p:cNvPr>
          <p:cNvSpPr>
            <a:spLocks xmlns:a="http://schemas.openxmlformats.org/drawingml/2006/main" noGrp="1"/>
          </p:cNvSpPr>
          <p:nvPr/>
        </p:nvSpPr>
        <p:spPr>
          <a:xfrm xmlns:a="http://schemas.openxmlformats.org/drawingml/2006/main">
            <a:off x="495300" y="685800"/>
            <a:ext cx="666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400" b="1">
                <a:solidFill>
                  <a:srgbClr val="F7FAFC"/>
                </a:solidFill>
                <a:latin typeface="Aptos"/>
                <a:ea typeface="Aptos"/>
                <a:cs typeface="Aptos"/>
              </a:defRPr>
            </a:pPr>
            <a:r>
              <a:rPr sz="2400" b="1">
                <a:solidFill>
                  <a:srgbClr val="F7FAFC"/>
                </a:solidFill>
                <a:latin typeface="Aptos"/>
                <a:ea typeface="Aptos"/>
                <a:cs typeface="Aptos"/>
              </a:rPr>
              <a:t>Training, evaluation and operational use</a:t>
            </a:r>
          </a:p>
        </p:txBody>
      </p:sp>
      <p:sp>
        <p:nvSpPr>
          <p:cNvPr id="4" name="">
            <a:extLst xmlns:a="http://schemas.openxmlformats.org/drawingml/2006/main">
              <a:ext uri="{FF2B5EF4-FFF2-40B4-BE49-F238E27FC236}">
                <a16:creationId xmlns:a16="http://schemas.microsoft.com/office/drawing/2014/main" id="{0F01D65D-1946-4B1E-8645-B1EFA50C76A8}"/>
              </a:ext>
            </a:extLst>
          </p:cNvPr>
          <p:cNvSpPr>
            <a:spLocks xmlns:a="http://schemas.openxmlformats.org/drawingml/2006/main" noGrp="1"/>
          </p:cNvSpPr>
          <p:nvPr/>
        </p:nvSpPr>
        <p:spPr>
          <a:xfrm xmlns:a="http://schemas.openxmlformats.org/drawingml/2006/main">
            <a:off x="495300" y="1314450"/>
            <a:ext cx="2381250" cy="28575"/>
          </a:xfrm>
          <a:prstGeom xmlns:a="http://schemas.openxmlformats.org/drawingml/2006/main" prst="rect">
            <a:avLst/>
          </a:prstGeom>
          <a:solidFill xmlns:a="http://schemas.openxmlformats.org/drawingml/2006/main">
            <a:srgbClr val="D5AF4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4BC4B94-2631-48C5-B5B7-627F7577D758}"/>
              </a:ext>
            </a:extLst>
          </p:cNvPr>
          <p:cNvSpPr>
            <a:spLocks xmlns:a="http://schemas.openxmlformats.org/drawingml/2006/main" noGrp="1"/>
          </p:cNvSpPr>
          <p:nvPr/>
        </p:nvSpPr>
        <p:spPr>
          <a:xfrm xmlns:a="http://schemas.openxmlformats.org/drawingml/2006/main">
            <a:off x="552450" y="1695450"/>
            <a:ext cx="619125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41300" indent="-127000">
              <a:spcAft>
                <a:spcPts val="1600"/>
              </a:spcAft>
              <a:buChar char="•"/>
              <a:defRPr sz="1650">
                <a:solidFill>
                  <a:srgbClr val="F7FAFC"/>
                </a:solidFill>
                <a:latin typeface="Aptos"/>
                <a:ea typeface="Aptos"/>
                <a:cs typeface="Aptos"/>
              </a:defRPr>
            </a:pPr>
            <a:r>
              <a:rPr sz="1650">
                <a:solidFill>
                  <a:srgbClr val="F7FAFC"/>
                </a:solidFill>
                <a:latin typeface="Aptos"/>
                <a:ea typeface="Aptos"/>
                <a:cs typeface="Aptos"/>
              </a:rPr>
              <a:t>Training fit, independent evaluation and production inference support different claims</a:t>
            </a:r>
          </a:p>
          <a:p xmlns:a="http://schemas.openxmlformats.org/drawingml/2006/main">
            <a:pPr marL="241300" indent="-127000">
              <a:spcAft>
                <a:spcPts val="1600"/>
              </a:spcAft>
              <a:buChar char="•"/>
              <a:defRPr sz="1650">
                <a:solidFill>
                  <a:srgbClr val="F7FAFC"/>
                </a:solidFill>
                <a:latin typeface="Aptos"/>
                <a:ea typeface="Aptos"/>
                <a:cs typeface="Aptos"/>
              </a:defRPr>
            </a:pPr>
            <a:r>
              <a:rPr sz="1650">
                <a:solidFill>
                  <a:srgbClr val="F7FAFC"/>
                </a:solidFill>
                <a:latin typeface="Aptos"/>
                <a:ea typeface="Aptos"/>
                <a:cs typeface="Aptos"/>
              </a:rPr>
              <a:t>Declare population, reference standard, metrics, uncertainty and thresholds</a:t>
            </a:r>
          </a:p>
          <a:p xmlns:a="http://schemas.openxmlformats.org/drawingml/2006/main">
            <a:pPr marL="241300" indent="-127000">
              <a:spcAft>
                <a:spcPts val="1600"/>
              </a:spcAft>
              <a:buChar char="•"/>
              <a:defRPr sz="1650">
                <a:solidFill>
                  <a:srgbClr val="F7FAFC"/>
                </a:solidFill>
                <a:latin typeface="Aptos"/>
                <a:ea typeface="Aptos"/>
                <a:cs typeface="Aptos"/>
              </a:defRPr>
            </a:pPr>
            <a:r>
              <a:rPr sz="1650">
                <a:solidFill>
                  <a:srgbClr val="F7FAFC"/>
                </a:solidFill>
                <a:latin typeface="Aptos"/>
                <a:ea typeface="Aptos"/>
                <a:cs typeface="Aptos"/>
              </a:rPr>
              <a:t>Good fit does not establish operational feasibility or authority to use</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61d012c59682453a"/>
          <a:srcRect xmlns:a="http://schemas.openxmlformats.org/drawingml/2006/main" l="10041" t="0" r="10041" b="0"/>
          <a:stretch xmlns:a="http://schemas.openxmlformats.org/drawingml/2006/main">
            <a:fillRect l="0" t="0" r="0" b="0"/>
          </a:stretch>
        </p:blipFill>
        <p:spPr>
          <a:xfrm xmlns:a="http://schemas.openxmlformats.org/drawingml/2006/main">
            <a:off x="7486650" y="1257300"/>
            <a:ext cx="4171950" cy="4800600"/>
          </a:xfrm>
          <a:prstGeom xmlns:a="http://schemas.openxmlformats.org/drawingml/2006/main" prst="roundRect">
            <a:avLst>
              <a:gd name="adj" fmla="val 5479"/>
            </a:avLst>
          </a:prstGeom>
        </p:spPr>
      </p:pic>
      <p:sp>
        <p:nvSpPr>
          <p:cNvPr id="7" name="">
            <a:extLst xmlns:a="http://schemas.openxmlformats.org/drawingml/2006/main">
              <a:ext uri="{FF2B5EF4-FFF2-40B4-BE49-F238E27FC236}">
                <a16:creationId xmlns:a16="http://schemas.microsoft.com/office/drawing/2014/main" id="{7B5DA9CD-7CCB-4CEC-A820-DA64D5AEB907}"/>
              </a:ext>
            </a:extLst>
          </p:cNvPr>
          <p:cNvSpPr>
            <a:spLocks xmlns:a="http://schemas.openxmlformats.org/drawingml/2006/main" noGrp="1"/>
          </p:cNvSpPr>
          <p:nvPr/>
        </p:nvSpPr>
        <p:spPr>
          <a:xfrm xmlns:a="http://schemas.openxmlformats.org/drawingml/2006/main">
            <a:off x="11353800" y="6400800"/>
            <a:ext cx="4000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buNone/>
              <a:defRPr sz="750" b="1">
                <a:solidFill>
                  <a:srgbClr val="B8CDD5"/>
                </a:solidFill>
                <a:latin typeface="Aptos"/>
                <a:ea typeface="Aptos"/>
                <a:cs typeface="Aptos"/>
              </a:defRPr>
            </a:pPr>
            <a:r>
              <a:rPr sz="750" b="1">
                <a:solidFill>
                  <a:srgbClr val="B8CDD5"/>
                </a:solidFill>
                <a:latin typeface="Aptos"/>
                <a:ea typeface="Aptos"/>
                <a:cs typeface="Aptos"/>
              </a:rPr>
              <a:t>12</a:t>
            </a:r>
          </a:p>
        </p:txBody>
      </p:sp>
      <p:sp>
        <p:nvSpPr>
          <p:cNvPr id="8" name="">
            <a:extLst xmlns:a="http://schemas.openxmlformats.org/drawingml/2006/main">
              <a:ext uri="{FF2B5EF4-FFF2-40B4-BE49-F238E27FC236}">
                <a16:creationId xmlns:a16="http://schemas.microsoft.com/office/drawing/2014/main" id="{F671C0A3-A6F1-4CB7-9EC8-A3D9EBB1D9B6}"/>
              </a:ext>
            </a:extLst>
          </p:cNvPr>
          <p:cNvSpPr>
            <a:spLocks xmlns:a="http://schemas.openxmlformats.org/drawingml/2006/main" noGrp="1"/>
          </p:cNvSpPr>
          <p:nvPr/>
        </p:nvSpPr>
        <p:spPr>
          <a:xfrm xmlns:a="http://schemas.openxmlformats.org/drawingml/2006/main">
            <a:off x="495300" y="6400800"/>
            <a:ext cx="1524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buNone/>
              <a:defRPr sz="750" b="0">
                <a:solidFill>
                  <a:srgbClr val="B8CDD5"/>
                </a:solidFill>
                <a:latin typeface="Aptos"/>
                <a:ea typeface="Aptos"/>
                <a:cs typeface="Aptos"/>
              </a:defRPr>
            </a:pPr>
            <a:r>
              <a:rPr sz="750" b="0">
                <a:solidFill>
                  <a:srgbClr val="B8CDD5"/>
                </a:solidFill>
                <a:latin typeface="Aptos"/>
                <a:ea typeface="Aptos"/>
                <a:cs typeface="Aptos"/>
              </a:rPr>
              <a:t>SRAI  |  OS-A02</a:t>
            </a:r>
          </a:p>
        </p:txBody>
      </p:sp>
    </p:spTree>
    <p:extLst>
      <p:ext uri="{BB962C8B-B14F-4D97-AF65-F5344CB8AC3E}">
        <p14:creationId xmlns:p14="http://schemas.microsoft.com/office/powerpoint/2010/main" val="340364609"/>
      </p:ext>
    </p:extLst>
  </p:cSld>
</p:sld>
</file>

<file path=ppt/slides/slide14.xml><?xml version="1.0" encoding="utf-8"?>
<p:sld xmlns:p="http://schemas.openxmlformats.org/presentationml/2006/main">
  <p:cSld>
    <p:bg>
      <p:bgPr>
        <a:solidFill xmlns:a="http://schemas.openxmlformats.org/drawingml/2006/main">
          <a:srgbClr val="07182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794E2FE-A2EF-464C-8CF9-DEC1B927668F}"/>
              </a:ext>
            </a:extLst>
          </p:cNvPr>
          <p:cNvSpPr>
            <a:spLocks xmlns:a="http://schemas.openxmlformats.org/drawingml/2006/main" noGrp="1"/>
          </p:cNvSpPr>
          <p:nvPr/>
        </p:nvSpPr>
        <p:spPr>
          <a:xfrm xmlns:a="http://schemas.openxmlformats.org/drawingml/2006/main">
            <a:off x="7239000" y="0"/>
            <a:ext cx="4953000" cy="6858000"/>
          </a:xfrm>
          <a:prstGeom xmlns:a="http://schemas.openxmlformats.org/drawingml/2006/main" prst="rect">
            <a:avLst/>
          </a:prstGeom>
          <a:solidFill xmlns:a="http://schemas.openxmlformats.org/drawingml/2006/main">
            <a:srgbClr val="0B263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51B1597-ACBB-4D5A-8657-F1B484F804D2}"/>
              </a:ext>
            </a:extLst>
          </p:cNvPr>
          <p:cNvSpPr>
            <a:spLocks xmlns:a="http://schemas.openxmlformats.org/drawingml/2006/main" noGrp="1"/>
          </p:cNvSpPr>
          <p:nvPr/>
        </p:nvSpPr>
        <p:spPr>
          <a:xfrm xmlns:a="http://schemas.openxmlformats.org/drawingml/2006/main">
            <a:off x="495300" y="323850"/>
            <a:ext cx="647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900" b="1">
                <a:solidFill>
                  <a:srgbClr val="23C6C8"/>
                </a:solidFill>
                <a:latin typeface="Aptos"/>
                <a:ea typeface="Aptos"/>
                <a:cs typeface="Aptos"/>
              </a:defRPr>
            </a:pPr>
            <a:r>
              <a:rPr sz="900" b="1">
                <a:solidFill>
                  <a:srgbClr val="23C6C8"/>
                </a:solidFill>
                <a:latin typeface="Aptos"/>
                <a:ea typeface="Aptos"/>
                <a:cs typeface="Aptos"/>
              </a:rPr>
              <a:t>CHAPTER 11</a:t>
            </a:r>
          </a:p>
        </p:txBody>
      </p:sp>
      <p:sp>
        <p:nvSpPr>
          <p:cNvPr id="3" name="">
            <a:extLst xmlns:a="http://schemas.openxmlformats.org/drawingml/2006/main">
              <a:ext uri="{FF2B5EF4-FFF2-40B4-BE49-F238E27FC236}">
                <a16:creationId xmlns:a16="http://schemas.microsoft.com/office/drawing/2014/main" id="{5598B6F3-747D-450E-AA27-98AFF51D9EC7}"/>
              </a:ext>
            </a:extLst>
          </p:cNvPr>
          <p:cNvSpPr>
            <a:spLocks xmlns:a="http://schemas.openxmlformats.org/drawingml/2006/main" noGrp="1"/>
          </p:cNvSpPr>
          <p:nvPr/>
        </p:nvSpPr>
        <p:spPr>
          <a:xfrm xmlns:a="http://schemas.openxmlformats.org/drawingml/2006/main">
            <a:off x="495300" y="685800"/>
            <a:ext cx="666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400" b="1">
                <a:solidFill>
                  <a:srgbClr val="F7FAFC"/>
                </a:solidFill>
                <a:latin typeface="Aptos"/>
                <a:ea typeface="Aptos"/>
                <a:cs typeface="Aptos"/>
              </a:defRPr>
            </a:pPr>
            <a:r>
              <a:rPr sz="2400" b="1">
                <a:solidFill>
                  <a:srgbClr val="F7FAFC"/>
                </a:solidFill>
                <a:latin typeface="Aptos"/>
                <a:ea typeface="Aptos"/>
                <a:cs typeface="Aptos"/>
              </a:rPr>
              <a:t>Generalisation and distribution drift</a:t>
            </a:r>
          </a:p>
        </p:txBody>
      </p:sp>
      <p:sp>
        <p:nvSpPr>
          <p:cNvPr id="4" name="">
            <a:extLst xmlns:a="http://schemas.openxmlformats.org/drawingml/2006/main">
              <a:ext uri="{FF2B5EF4-FFF2-40B4-BE49-F238E27FC236}">
                <a16:creationId xmlns:a16="http://schemas.microsoft.com/office/drawing/2014/main" id="{65204F7D-9DAC-424D-A904-A8512518E788}"/>
              </a:ext>
            </a:extLst>
          </p:cNvPr>
          <p:cNvSpPr>
            <a:spLocks xmlns:a="http://schemas.openxmlformats.org/drawingml/2006/main" noGrp="1"/>
          </p:cNvSpPr>
          <p:nvPr/>
        </p:nvSpPr>
        <p:spPr>
          <a:xfrm xmlns:a="http://schemas.openxmlformats.org/drawingml/2006/main">
            <a:off x="495300" y="1314450"/>
            <a:ext cx="2381250" cy="28575"/>
          </a:xfrm>
          <a:prstGeom xmlns:a="http://schemas.openxmlformats.org/drawingml/2006/main" prst="rect">
            <a:avLst/>
          </a:prstGeom>
          <a:solidFill xmlns:a="http://schemas.openxmlformats.org/drawingml/2006/main">
            <a:srgbClr val="D5AF4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EE2AD1E-526E-4A76-824F-01E5177D1966}"/>
              </a:ext>
            </a:extLst>
          </p:cNvPr>
          <p:cNvSpPr>
            <a:spLocks xmlns:a="http://schemas.openxmlformats.org/drawingml/2006/main" noGrp="1"/>
          </p:cNvSpPr>
          <p:nvPr/>
        </p:nvSpPr>
        <p:spPr>
          <a:xfrm xmlns:a="http://schemas.openxmlformats.org/drawingml/2006/main">
            <a:off x="552450" y="1695450"/>
            <a:ext cx="619125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41300" indent="-127000">
              <a:spcAft>
                <a:spcPts val="1600"/>
              </a:spcAft>
              <a:buChar char="•"/>
              <a:defRPr sz="1650">
                <a:solidFill>
                  <a:srgbClr val="F7FAFC"/>
                </a:solidFill>
                <a:latin typeface="Aptos"/>
                <a:ea typeface="Aptos"/>
                <a:cs typeface="Aptos"/>
              </a:defRPr>
            </a:pPr>
            <a:r>
              <a:rPr sz="1650">
                <a:solidFill>
                  <a:srgbClr val="F7FAFC"/>
                </a:solidFill>
                <a:latin typeface="Aptos"/>
                <a:ea typeface="Aptos"/>
                <a:cs typeface="Aptos"/>
              </a:rPr>
              <a:t>Input, prevalence and concept relationships can all shift after development</a:t>
            </a:r>
          </a:p>
          <a:p xmlns:a="http://schemas.openxmlformats.org/drawingml/2006/main">
            <a:pPr marL="241300" indent="-127000">
              <a:spcAft>
                <a:spcPts val="1600"/>
              </a:spcAft>
              <a:buChar char="•"/>
              <a:defRPr sz="1650">
                <a:solidFill>
                  <a:srgbClr val="F7FAFC"/>
                </a:solidFill>
                <a:latin typeface="Aptos"/>
                <a:ea typeface="Aptos"/>
                <a:cs typeface="Aptos"/>
              </a:defRPr>
            </a:pPr>
            <a:r>
              <a:rPr sz="1650">
                <a:solidFill>
                  <a:srgbClr val="F7FAFC"/>
                </a:solidFill>
                <a:latin typeface="Aptos"/>
                <a:ea typeface="Aptos"/>
                <a:cs typeface="Aptos"/>
              </a:rPr>
              <a:t>Production loss can differ from development loss even when code is unchanged</a:t>
            </a:r>
          </a:p>
          <a:p xmlns:a="http://schemas.openxmlformats.org/drawingml/2006/main">
            <a:pPr marL="241300" indent="-127000">
              <a:spcAft>
                <a:spcPts val="1600"/>
              </a:spcAft>
              <a:buChar char="•"/>
              <a:defRPr sz="1650">
                <a:solidFill>
                  <a:srgbClr val="F7FAFC"/>
                </a:solidFill>
                <a:latin typeface="Aptos"/>
                <a:ea typeface="Aptos"/>
                <a:cs typeface="Aptos"/>
              </a:defRPr>
            </a:pPr>
            <a:r>
              <a:rPr sz="1650">
                <a:solidFill>
                  <a:srgbClr val="F7FAFC"/>
                </a:solidFill>
                <a:latin typeface="Aptos"/>
                <a:ea typeface="Aptos"/>
                <a:cs typeface="Aptos"/>
              </a:rPr>
              <a:t>Monitoring combines data diagnostics, reference samples and institutional events</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2408707bcee446b9"/>
          <a:srcRect xmlns:a="http://schemas.openxmlformats.org/drawingml/2006/main" l="9404" t="0" r="9404" b="0"/>
          <a:stretch xmlns:a="http://schemas.openxmlformats.org/drawingml/2006/main">
            <a:fillRect l="0" t="0" r="0" b="0"/>
          </a:stretch>
        </p:blipFill>
        <p:spPr>
          <a:xfrm xmlns:a="http://schemas.openxmlformats.org/drawingml/2006/main">
            <a:off x="7486650" y="1257300"/>
            <a:ext cx="4171950" cy="4800600"/>
          </a:xfrm>
          <a:prstGeom xmlns:a="http://schemas.openxmlformats.org/drawingml/2006/main" prst="roundRect">
            <a:avLst>
              <a:gd name="adj" fmla="val 5479"/>
            </a:avLst>
          </a:prstGeom>
        </p:spPr>
      </p:pic>
      <p:sp>
        <p:nvSpPr>
          <p:cNvPr id="7" name="">
            <a:extLst xmlns:a="http://schemas.openxmlformats.org/drawingml/2006/main">
              <a:ext uri="{FF2B5EF4-FFF2-40B4-BE49-F238E27FC236}">
                <a16:creationId xmlns:a16="http://schemas.microsoft.com/office/drawing/2014/main" id="{E9C8D3C6-6D12-41B3-9EBC-D095D096A2C0}"/>
              </a:ext>
            </a:extLst>
          </p:cNvPr>
          <p:cNvSpPr>
            <a:spLocks xmlns:a="http://schemas.openxmlformats.org/drawingml/2006/main" noGrp="1"/>
          </p:cNvSpPr>
          <p:nvPr/>
        </p:nvSpPr>
        <p:spPr>
          <a:xfrm xmlns:a="http://schemas.openxmlformats.org/drawingml/2006/main">
            <a:off x="11353800" y="6400800"/>
            <a:ext cx="4000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buNone/>
              <a:defRPr sz="750" b="1">
                <a:solidFill>
                  <a:srgbClr val="B8CDD5"/>
                </a:solidFill>
                <a:latin typeface="Aptos"/>
                <a:ea typeface="Aptos"/>
                <a:cs typeface="Aptos"/>
              </a:defRPr>
            </a:pPr>
            <a:r>
              <a:rPr sz="750" b="1">
                <a:solidFill>
                  <a:srgbClr val="B8CDD5"/>
                </a:solidFill>
                <a:latin typeface="Aptos"/>
                <a:ea typeface="Aptos"/>
                <a:cs typeface="Aptos"/>
              </a:rPr>
              <a:t>13</a:t>
            </a:r>
          </a:p>
        </p:txBody>
      </p:sp>
      <p:sp>
        <p:nvSpPr>
          <p:cNvPr id="8" name="">
            <a:extLst xmlns:a="http://schemas.openxmlformats.org/drawingml/2006/main">
              <a:ext uri="{FF2B5EF4-FFF2-40B4-BE49-F238E27FC236}">
                <a16:creationId xmlns:a16="http://schemas.microsoft.com/office/drawing/2014/main" id="{F46EB65B-0A75-4255-8C16-B3F9F90622C0}"/>
              </a:ext>
            </a:extLst>
          </p:cNvPr>
          <p:cNvSpPr>
            <a:spLocks xmlns:a="http://schemas.openxmlformats.org/drawingml/2006/main" noGrp="1"/>
          </p:cNvSpPr>
          <p:nvPr/>
        </p:nvSpPr>
        <p:spPr>
          <a:xfrm xmlns:a="http://schemas.openxmlformats.org/drawingml/2006/main">
            <a:off x="495300" y="6400800"/>
            <a:ext cx="1524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buNone/>
              <a:defRPr sz="750" b="0">
                <a:solidFill>
                  <a:srgbClr val="B8CDD5"/>
                </a:solidFill>
                <a:latin typeface="Aptos"/>
                <a:ea typeface="Aptos"/>
                <a:cs typeface="Aptos"/>
              </a:defRPr>
            </a:pPr>
            <a:r>
              <a:rPr sz="750" b="0">
                <a:solidFill>
                  <a:srgbClr val="B8CDD5"/>
                </a:solidFill>
                <a:latin typeface="Aptos"/>
                <a:ea typeface="Aptos"/>
                <a:cs typeface="Aptos"/>
              </a:rPr>
              <a:t>SRAI  |  OS-A02</a:t>
            </a:r>
          </a:p>
        </p:txBody>
      </p:sp>
    </p:spTree>
    <p:extLst>
      <p:ext uri="{BB962C8B-B14F-4D97-AF65-F5344CB8AC3E}">
        <p14:creationId xmlns:p14="http://schemas.microsoft.com/office/powerpoint/2010/main" val="199493491"/>
      </p:ext>
    </p:extLst>
  </p:cSld>
</p:sld>
</file>

<file path=ppt/slides/slide15.xml><?xml version="1.0" encoding="utf-8"?>
<p:sld xmlns:p="http://schemas.openxmlformats.org/presentationml/2006/main">
  <p:cSld>
    <p:bg>
      <p:bgPr>
        <a:solidFill xmlns:a="http://schemas.openxmlformats.org/drawingml/2006/main">
          <a:srgbClr val="07182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32DC414-E30C-416E-8655-19A855B53EC8}"/>
              </a:ext>
            </a:extLst>
          </p:cNvPr>
          <p:cNvSpPr>
            <a:spLocks xmlns:a="http://schemas.openxmlformats.org/drawingml/2006/main" noGrp="1"/>
          </p:cNvSpPr>
          <p:nvPr/>
        </p:nvSpPr>
        <p:spPr>
          <a:xfrm xmlns:a="http://schemas.openxmlformats.org/drawingml/2006/main">
            <a:off x="7239000" y="0"/>
            <a:ext cx="4953000" cy="6858000"/>
          </a:xfrm>
          <a:prstGeom xmlns:a="http://schemas.openxmlformats.org/drawingml/2006/main" prst="rect">
            <a:avLst/>
          </a:prstGeom>
          <a:solidFill xmlns:a="http://schemas.openxmlformats.org/drawingml/2006/main">
            <a:srgbClr val="0B263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D5972F4-64D2-4642-A53E-C7B43C7FD654}"/>
              </a:ext>
            </a:extLst>
          </p:cNvPr>
          <p:cNvSpPr>
            <a:spLocks xmlns:a="http://schemas.openxmlformats.org/drawingml/2006/main" noGrp="1"/>
          </p:cNvSpPr>
          <p:nvPr/>
        </p:nvSpPr>
        <p:spPr>
          <a:xfrm xmlns:a="http://schemas.openxmlformats.org/drawingml/2006/main">
            <a:off x="495300" y="323850"/>
            <a:ext cx="647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900" b="1">
                <a:solidFill>
                  <a:srgbClr val="23C6C8"/>
                </a:solidFill>
                <a:latin typeface="Aptos"/>
                <a:ea typeface="Aptos"/>
                <a:cs typeface="Aptos"/>
              </a:defRPr>
            </a:pPr>
            <a:r>
              <a:rPr sz="900" b="1">
                <a:solidFill>
                  <a:srgbClr val="23C6C8"/>
                </a:solidFill>
                <a:latin typeface="Aptos"/>
                <a:ea typeface="Aptos"/>
                <a:cs typeface="Aptos"/>
              </a:rPr>
              <a:t>CHAPTER 12</a:t>
            </a:r>
          </a:p>
        </p:txBody>
      </p:sp>
      <p:sp>
        <p:nvSpPr>
          <p:cNvPr id="3" name="">
            <a:extLst xmlns:a="http://schemas.openxmlformats.org/drawingml/2006/main">
              <a:ext uri="{FF2B5EF4-FFF2-40B4-BE49-F238E27FC236}">
                <a16:creationId xmlns:a16="http://schemas.microsoft.com/office/drawing/2014/main" id="{01628FB2-5529-4308-A4C1-5D9182274CFE}"/>
              </a:ext>
            </a:extLst>
          </p:cNvPr>
          <p:cNvSpPr>
            <a:spLocks xmlns:a="http://schemas.openxmlformats.org/drawingml/2006/main" noGrp="1"/>
          </p:cNvSpPr>
          <p:nvPr/>
        </p:nvSpPr>
        <p:spPr>
          <a:xfrm xmlns:a="http://schemas.openxmlformats.org/drawingml/2006/main">
            <a:off x="495300" y="685800"/>
            <a:ext cx="666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400" b="1">
                <a:solidFill>
                  <a:srgbClr val="F7FAFC"/>
                </a:solidFill>
                <a:latin typeface="Aptos"/>
                <a:ea typeface="Aptos"/>
                <a:cs typeface="Aptos"/>
              </a:defRPr>
            </a:pPr>
            <a:r>
              <a:rPr sz="2400" b="1">
                <a:solidFill>
                  <a:srgbClr val="F7FAFC"/>
                </a:solidFill>
                <a:latin typeface="Aptos"/>
                <a:ea typeface="Aptos"/>
                <a:cs typeface="Aptos"/>
              </a:rPr>
              <a:t>Leakage, coverage, selection and proxies</a:t>
            </a:r>
          </a:p>
        </p:txBody>
      </p:sp>
      <p:sp>
        <p:nvSpPr>
          <p:cNvPr id="4" name="">
            <a:extLst xmlns:a="http://schemas.openxmlformats.org/drawingml/2006/main">
              <a:ext uri="{FF2B5EF4-FFF2-40B4-BE49-F238E27FC236}">
                <a16:creationId xmlns:a16="http://schemas.microsoft.com/office/drawing/2014/main" id="{5D379E1F-E87A-4456-8F9C-60BAD0481051}"/>
              </a:ext>
            </a:extLst>
          </p:cNvPr>
          <p:cNvSpPr>
            <a:spLocks xmlns:a="http://schemas.openxmlformats.org/drawingml/2006/main" noGrp="1"/>
          </p:cNvSpPr>
          <p:nvPr/>
        </p:nvSpPr>
        <p:spPr>
          <a:xfrm xmlns:a="http://schemas.openxmlformats.org/drawingml/2006/main">
            <a:off x="495300" y="1314450"/>
            <a:ext cx="2381250" cy="28575"/>
          </a:xfrm>
          <a:prstGeom xmlns:a="http://schemas.openxmlformats.org/drawingml/2006/main" prst="rect">
            <a:avLst/>
          </a:prstGeom>
          <a:solidFill xmlns:a="http://schemas.openxmlformats.org/drawingml/2006/main">
            <a:srgbClr val="D5AF4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11A3E2F-D16C-4310-A61E-C079ACAC0486}"/>
              </a:ext>
            </a:extLst>
          </p:cNvPr>
          <p:cNvSpPr>
            <a:spLocks xmlns:a="http://schemas.openxmlformats.org/drawingml/2006/main" noGrp="1"/>
          </p:cNvSpPr>
          <p:nvPr/>
        </p:nvSpPr>
        <p:spPr>
          <a:xfrm xmlns:a="http://schemas.openxmlformats.org/drawingml/2006/main">
            <a:off x="552450" y="1695450"/>
            <a:ext cx="619125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41300" indent="-127000">
              <a:spcAft>
                <a:spcPts val="1600"/>
              </a:spcAft>
              <a:buChar char="•"/>
              <a:defRPr sz="1650">
                <a:solidFill>
                  <a:srgbClr val="F7FAFC"/>
                </a:solidFill>
                <a:latin typeface="Aptos"/>
                <a:ea typeface="Aptos"/>
                <a:cs typeface="Aptos"/>
              </a:defRPr>
            </a:pPr>
            <a:r>
              <a:rPr sz="1650">
                <a:solidFill>
                  <a:srgbClr val="F7FAFC"/>
                </a:solidFill>
                <a:latin typeface="Aptos"/>
                <a:ea typeface="Aptos"/>
                <a:cs typeface="Aptos"/>
              </a:rPr>
              <a:t>Leakage, population coverage, selection and proxy validity are distinct defects</a:t>
            </a:r>
          </a:p>
          <a:p xmlns:a="http://schemas.openxmlformats.org/drawingml/2006/main">
            <a:pPr marL="241300" indent="-127000">
              <a:spcAft>
                <a:spcPts val="1600"/>
              </a:spcAft>
              <a:buChar char="•"/>
              <a:defRPr sz="1650">
                <a:solidFill>
                  <a:srgbClr val="F7FAFC"/>
                </a:solidFill>
                <a:latin typeface="Aptos"/>
                <a:ea typeface="Aptos"/>
                <a:cs typeface="Aptos"/>
              </a:defRPr>
            </a:pPr>
            <a:r>
              <a:rPr sz="1650">
                <a:solidFill>
                  <a:srgbClr val="F7FAFC"/>
                </a:solidFill>
                <a:latin typeface="Aptos"/>
                <a:ea typeface="Aptos"/>
                <a:cs typeface="Aptos"/>
              </a:rPr>
              <a:t>Evaluation splits must respect entity, time, household and geographic structure</a:t>
            </a:r>
          </a:p>
          <a:p xmlns:a="http://schemas.openxmlformats.org/drawingml/2006/main">
            <a:pPr marL="241300" indent="-127000">
              <a:spcAft>
                <a:spcPts val="1600"/>
              </a:spcAft>
              <a:buChar char="•"/>
              <a:defRPr sz="1650">
                <a:solidFill>
                  <a:srgbClr val="F7FAFC"/>
                </a:solidFill>
                <a:latin typeface="Aptos"/>
                <a:ea typeface="Aptos"/>
                <a:cs typeface="Aptos"/>
              </a:defRPr>
            </a:pPr>
            <a:r>
              <a:rPr sz="1650">
                <a:solidFill>
                  <a:srgbClr val="F7FAFC"/>
                </a:solidFill>
                <a:latin typeface="Aptos"/>
                <a:ea typeface="Aptos"/>
                <a:cs typeface="Aptos"/>
              </a:rPr>
              <a:t>A precise predictor over a distorted frame can worsen an official estimate</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7692ed8bb03b4da7"/>
          <a:srcRect xmlns:a="http://schemas.openxmlformats.org/drawingml/2006/main" l="10041" t="0" r="10041" b="0"/>
          <a:stretch xmlns:a="http://schemas.openxmlformats.org/drawingml/2006/main">
            <a:fillRect l="0" t="0" r="0" b="0"/>
          </a:stretch>
        </p:blipFill>
        <p:spPr>
          <a:xfrm xmlns:a="http://schemas.openxmlformats.org/drawingml/2006/main">
            <a:off x="7486650" y="1257300"/>
            <a:ext cx="4171950" cy="4800600"/>
          </a:xfrm>
          <a:prstGeom xmlns:a="http://schemas.openxmlformats.org/drawingml/2006/main" prst="roundRect">
            <a:avLst>
              <a:gd name="adj" fmla="val 5479"/>
            </a:avLst>
          </a:prstGeom>
        </p:spPr>
      </p:pic>
      <p:sp>
        <p:nvSpPr>
          <p:cNvPr id="7" name="">
            <a:extLst xmlns:a="http://schemas.openxmlformats.org/drawingml/2006/main">
              <a:ext uri="{FF2B5EF4-FFF2-40B4-BE49-F238E27FC236}">
                <a16:creationId xmlns:a16="http://schemas.microsoft.com/office/drawing/2014/main" id="{9642AAE1-AF58-40DD-AC56-13C6FF2B19B8}"/>
              </a:ext>
            </a:extLst>
          </p:cNvPr>
          <p:cNvSpPr>
            <a:spLocks xmlns:a="http://schemas.openxmlformats.org/drawingml/2006/main" noGrp="1"/>
          </p:cNvSpPr>
          <p:nvPr/>
        </p:nvSpPr>
        <p:spPr>
          <a:xfrm xmlns:a="http://schemas.openxmlformats.org/drawingml/2006/main">
            <a:off x="11353800" y="6400800"/>
            <a:ext cx="4000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buNone/>
              <a:defRPr sz="750" b="1">
                <a:solidFill>
                  <a:srgbClr val="B8CDD5"/>
                </a:solidFill>
                <a:latin typeface="Aptos"/>
                <a:ea typeface="Aptos"/>
                <a:cs typeface="Aptos"/>
              </a:defRPr>
            </a:pPr>
            <a:r>
              <a:rPr sz="750" b="1">
                <a:solidFill>
                  <a:srgbClr val="B8CDD5"/>
                </a:solidFill>
                <a:latin typeface="Aptos"/>
                <a:ea typeface="Aptos"/>
                <a:cs typeface="Aptos"/>
              </a:rPr>
              <a:t>14</a:t>
            </a:r>
          </a:p>
        </p:txBody>
      </p:sp>
      <p:sp>
        <p:nvSpPr>
          <p:cNvPr id="8" name="">
            <a:extLst xmlns:a="http://schemas.openxmlformats.org/drawingml/2006/main">
              <a:ext uri="{FF2B5EF4-FFF2-40B4-BE49-F238E27FC236}">
                <a16:creationId xmlns:a16="http://schemas.microsoft.com/office/drawing/2014/main" id="{D4E35242-37D1-47A0-B13C-FF82B81C8360}"/>
              </a:ext>
            </a:extLst>
          </p:cNvPr>
          <p:cNvSpPr>
            <a:spLocks xmlns:a="http://schemas.openxmlformats.org/drawingml/2006/main" noGrp="1"/>
          </p:cNvSpPr>
          <p:nvPr/>
        </p:nvSpPr>
        <p:spPr>
          <a:xfrm xmlns:a="http://schemas.openxmlformats.org/drawingml/2006/main">
            <a:off x="495300" y="6400800"/>
            <a:ext cx="1524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buNone/>
              <a:defRPr sz="750" b="0">
                <a:solidFill>
                  <a:srgbClr val="B8CDD5"/>
                </a:solidFill>
                <a:latin typeface="Aptos"/>
                <a:ea typeface="Aptos"/>
                <a:cs typeface="Aptos"/>
              </a:defRPr>
            </a:pPr>
            <a:r>
              <a:rPr sz="750" b="0">
                <a:solidFill>
                  <a:srgbClr val="B8CDD5"/>
                </a:solidFill>
                <a:latin typeface="Aptos"/>
                <a:ea typeface="Aptos"/>
                <a:cs typeface="Aptos"/>
              </a:rPr>
              <a:t>SRAI  |  OS-A02</a:t>
            </a:r>
          </a:p>
        </p:txBody>
      </p:sp>
    </p:spTree>
    <p:extLst>
      <p:ext uri="{BB962C8B-B14F-4D97-AF65-F5344CB8AC3E}">
        <p14:creationId xmlns:p14="http://schemas.microsoft.com/office/powerpoint/2010/main" val="639843954"/>
      </p:ext>
    </p:extLst>
  </p:cSld>
</p:sld>
</file>

<file path=ppt/slides/slide16.xml><?xml version="1.0" encoding="utf-8"?>
<p:sld xmlns:p="http://schemas.openxmlformats.org/presentationml/2006/main">
  <p:cSld>
    <p:bg>
      <p:bgPr>
        <a:solidFill xmlns:a="http://schemas.openxmlformats.org/drawingml/2006/main">
          <a:srgbClr val="07182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F8F0297-1FE1-46CD-B575-A7D927FD64C7}"/>
              </a:ext>
            </a:extLst>
          </p:cNvPr>
          <p:cNvSpPr>
            <a:spLocks xmlns:a="http://schemas.openxmlformats.org/drawingml/2006/main" noGrp="1"/>
          </p:cNvSpPr>
          <p:nvPr/>
        </p:nvSpPr>
        <p:spPr>
          <a:xfrm xmlns:a="http://schemas.openxmlformats.org/drawingml/2006/main">
            <a:off x="7239000" y="0"/>
            <a:ext cx="4953000" cy="6858000"/>
          </a:xfrm>
          <a:prstGeom xmlns:a="http://schemas.openxmlformats.org/drawingml/2006/main" prst="rect">
            <a:avLst/>
          </a:prstGeom>
          <a:solidFill xmlns:a="http://schemas.openxmlformats.org/drawingml/2006/main">
            <a:srgbClr val="0B263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247626E-5EC4-42E2-A7FD-56FBBB827634}"/>
              </a:ext>
            </a:extLst>
          </p:cNvPr>
          <p:cNvSpPr>
            <a:spLocks xmlns:a="http://schemas.openxmlformats.org/drawingml/2006/main" noGrp="1"/>
          </p:cNvSpPr>
          <p:nvPr/>
        </p:nvSpPr>
        <p:spPr>
          <a:xfrm xmlns:a="http://schemas.openxmlformats.org/drawingml/2006/main">
            <a:off x="495300" y="323850"/>
            <a:ext cx="647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900" b="1">
                <a:solidFill>
                  <a:srgbClr val="23C6C8"/>
                </a:solidFill>
                <a:latin typeface="Aptos"/>
                <a:ea typeface="Aptos"/>
                <a:cs typeface="Aptos"/>
              </a:defRPr>
            </a:pPr>
            <a:r>
              <a:rPr sz="900" b="1">
                <a:solidFill>
                  <a:srgbClr val="23C6C8"/>
                </a:solidFill>
                <a:latin typeface="Aptos"/>
                <a:ea typeface="Aptos"/>
                <a:cs typeface="Aptos"/>
              </a:rPr>
              <a:t>CHAPTER 13</a:t>
            </a:r>
          </a:p>
        </p:txBody>
      </p:sp>
      <p:sp>
        <p:nvSpPr>
          <p:cNvPr id="3" name="">
            <a:extLst xmlns:a="http://schemas.openxmlformats.org/drawingml/2006/main">
              <a:ext uri="{FF2B5EF4-FFF2-40B4-BE49-F238E27FC236}">
                <a16:creationId xmlns:a16="http://schemas.microsoft.com/office/drawing/2014/main" id="{885991F0-51BE-40AE-B363-22161A9377A3}"/>
              </a:ext>
            </a:extLst>
          </p:cNvPr>
          <p:cNvSpPr>
            <a:spLocks xmlns:a="http://schemas.openxmlformats.org/drawingml/2006/main" noGrp="1"/>
          </p:cNvSpPr>
          <p:nvPr/>
        </p:nvSpPr>
        <p:spPr>
          <a:xfrm xmlns:a="http://schemas.openxmlformats.org/drawingml/2006/main">
            <a:off x="495300" y="685800"/>
            <a:ext cx="666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400" b="1">
                <a:solidFill>
                  <a:srgbClr val="F7FAFC"/>
                </a:solidFill>
                <a:latin typeface="Aptos"/>
                <a:ea typeface="Aptos"/>
                <a:cs typeface="Aptos"/>
              </a:defRPr>
            </a:pPr>
            <a:r>
              <a:rPr sz="2400" b="1">
                <a:solidFill>
                  <a:srgbClr val="F7FAFC"/>
                </a:solidFill>
                <a:latin typeface="Aptos"/>
                <a:ea typeface="Aptos"/>
                <a:cs typeface="Aptos"/>
              </a:rPr>
              <a:t>Hallucination, calibration and uncertainty</a:t>
            </a:r>
          </a:p>
        </p:txBody>
      </p:sp>
      <p:sp>
        <p:nvSpPr>
          <p:cNvPr id="4" name="">
            <a:extLst xmlns:a="http://schemas.openxmlformats.org/drawingml/2006/main">
              <a:ext uri="{FF2B5EF4-FFF2-40B4-BE49-F238E27FC236}">
                <a16:creationId xmlns:a16="http://schemas.microsoft.com/office/drawing/2014/main" id="{A8D6FED0-88D0-4EC6-9CD6-F5A435061B71}"/>
              </a:ext>
            </a:extLst>
          </p:cNvPr>
          <p:cNvSpPr>
            <a:spLocks xmlns:a="http://schemas.openxmlformats.org/drawingml/2006/main" noGrp="1"/>
          </p:cNvSpPr>
          <p:nvPr/>
        </p:nvSpPr>
        <p:spPr>
          <a:xfrm xmlns:a="http://schemas.openxmlformats.org/drawingml/2006/main">
            <a:off x="495300" y="1314450"/>
            <a:ext cx="2381250" cy="28575"/>
          </a:xfrm>
          <a:prstGeom xmlns:a="http://schemas.openxmlformats.org/drawingml/2006/main" prst="rect">
            <a:avLst/>
          </a:prstGeom>
          <a:solidFill xmlns:a="http://schemas.openxmlformats.org/drawingml/2006/main">
            <a:srgbClr val="D5AF4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4FE9341-4B19-4C92-A0B0-96AE2AC91FE9}"/>
              </a:ext>
            </a:extLst>
          </p:cNvPr>
          <p:cNvSpPr>
            <a:spLocks xmlns:a="http://schemas.openxmlformats.org/drawingml/2006/main" noGrp="1"/>
          </p:cNvSpPr>
          <p:nvPr/>
        </p:nvSpPr>
        <p:spPr>
          <a:xfrm xmlns:a="http://schemas.openxmlformats.org/drawingml/2006/main">
            <a:off x="552450" y="1695450"/>
            <a:ext cx="619125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41300" indent="-127000">
              <a:spcAft>
                <a:spcPts val="1600"/>
              </a:spcAft>
              <a:buChar char="•"/>
              <a:defRPr sz="1650">
                <a:solidFill>
                  <a:srgbClr val="F7FAFC"/>
                </a:solidFill>
                <a:latin typeface="Aptos"/>
                <a:ea typeface="Aptos"/>
                <a:cs typeface="Aptos"/>
              </a:defRPr>
            </a:pPr>
            <a:r>
              <a:rPr sz="1650">
                <a:solidFill>
                  <a:srgbClr val="F7FAFC"/>
                </a:solidFill>
                <a:latin typeface="Aptos"/>
                <a:ea typeface="Aptos"/>
                <a:cs typeface="Aptos"/>
              </a:rPr>
              <a:t>Separate unsupported claims from predictive, sampling and measurement uncertainty</a:t>
            </a:r>
          </a:p>
          <a:p xmlns:a="http://schemas.openxmlformats.org/drawingml/2006/main">
            <a:pPr marL="241300" indent="-127000">
              <a:spcAft>
                <a:spcPts val="1600"/>
              </a:spcAft>
              <a:buChar char="•"/>
              <a:defRPr sz="1650">
                <a:solidFill>
                  <a:srgbClr val="F7FAFC"/>
                </a:solidFill>
                <a:latin typeface="Aptos"/>
                <a:ea typeface="Aptos"/>
                <a:cs typeface="Aptos"/>
              </a:defRPr>
            </a:pPr>
            <a:r>
              <a:rPr sz="1650">
                <a:solidFill>
                  <a:srgbClr val="F7FAFC"/>
                </a:solidFill>
                <a:latin typeface="Aptos"/>
                <a:ea typeface="Aptos"/>
                <a:cs typeface="Aptos"/>
              </a:rPr>
              <a:t>Calibration requires empirical evidence under relevant conditions</a:t>
            </a:r>
          </a:p>
          <a:p xmlns:a="http://schemas.openxmlformats.org/drawingml/2006/main">
            <a:pPr marL="241300" indent="-127000">
              <a:spcAft>
                <a:spcPts val="1600"/>
              </a:spcAft>
              <a:buChar char="•"/>
              <a:defRPr sz="1650">
                <a:solidFill>
                  <a:srgbClr val="F7FAFC"/>
                </a:solidFill>
                <a:latin typeface="Aptos"/>
                <a:ea typeface="Aptos"/>
                <a:cs typeface="Aptos"/>
              </a:defRPr>
            </a:pPr>
            <a:r>
              <a:rPr sz="1650">
                <a:solidFill>
                  <a:srgbClr val="F7FAFC"/>
                </a:solidFill>
                <a:latin typeface="Aptos"/>
                <a:ea typeface="Aptos"/>
                <a:cs typeface="Aptos"/>
              </a:rPr>
              <a:t>Retain an uncertainty ledger instead of collapsing evidence into one score</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8d90bad960634071"/>
          <a:srcRect xmlns:a="http://schemas.openxmlformats.org/drawingml/2006/main" l="3395" t="0" r="3395" b="0"/>
          <a:stretch xmlns:a="http://schemas.openxmlformats.org/drawingml/2006/main">
            <a:fillRect l="0" t="0" r="0" b="0"/>
          </a:stretch>
        </p:blipFill>
        <p:spPr>
          <a:xfrm xmlns:a="http://schemas.openxmlformats.org/drawingml/2006/main">
            <a:off x="7486650" y="1257300"/>
            <a:ext cx="4171950" cy="4800600"/>
          </a:xfrm>
          <a:prstGeom xmlns:a="http://schemas.openxmlformats.org/drawingml/2006/main" prst="roundRect">
            <a:avLst>
              <a:gd name="adj" fmla="val 5479"/>
            </a:avLst>
          </a:prstGeom>
        </p:spPr>
      </p:pic>
      <p:sp>
        <p:nvSpPr>
          <p:cNvPr id="7" name="">
            <a:extLst xmlns:a="http://schemas.openxmlformats.org/drawingml/2006/main">
              <a:ext uri="{FF2B5EF4-FFF2-40B4-BE49-F238E27FC236}">
                <a16:creationId xmlns:a16="http://schemas.microsoft.com/office/drawing/2014/main" id="{1FC24436-9F7C-4EA4-86E0-D0CF74880D5B}"/>
              </a:ext>
            </a:extLst>
          </p:cNvPr>
          <p:cNvSpPr>
            <a:spLocks xmlns:a="http://schemas.openxmlformats.org/drawingml/2006/main" noGrp="1"/>
          </p:cNvSpPr>
          <p:nvPr/>
        </p:nvSpPr>
        <p:spPr>
          <a:xfrm xmlns:a="http://schemas.openxmlformats.org/drawingml/2006/main">
            <a:off x="11353800" y="6400800"/>
            <a:ext cx="4000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buNone/>
              <a:defRPr sz="750" b="1">
                <a:solidFill>
                  <a:srgbClr val="B8CDD5"/>
                </a:solidFill>
                <a:latin typeface="Aptos"/>
                <a:ea typeface="Aptos"/>
                <a:cs typeface="Aptos"/>
              </a:defRPr>
            </a:pPr>
            <a:r>
              <a:rPr sz="750" b="1">
                <a:solidFill>
                  <a:srgbClr val="B8CDD5"/>
                </a:solidFill>
                <a:latin typeface="Aptos"/>
                <a:ea typeface="Aptos"/>
                <a:cs typeface="Aptos"/>
              </a:rPr>
              <a:t>15</a:t>
            </a:r>
          </a:p>
        </p:txBody>
      </p:sp>
      <p:sp>
        <p:nvSpPr>
          <p:cNvPr id="8" name="">
            <a:extLst xmlns:a="http://schemas.openxmlformats.org/drawingml/2006/main">
              <a:ext uri="{FF2B5EF4-FFF2-40B4-BE49-F238E27FC236}">
                <a16:creationId xmlns:a16="http://schemas.microsoft.com/office/drawing/2014/main" id="{197C5314-973B-4181-A3EB-D4F7AB59265A}"/>
              </a:ext>
            </a:extLst>
          </p:cNvPr>
          <p:cNvSpPr>
            <a:spLocks xmlns:a="http://schemas.openxmlformats.org/drawingml/2006/main" noGrp="1"/>
          </p:cNvSpPr>
          <p:nvPr/>
        </p:nvSpPr>
        <p:spPr>
          <a:xfrm xmlns:a="http://schemas.openxmlformats.org/drawingml/2006/main">
            <a:off x="495300" y="6400800"/>
            <a:ext cx="1524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buNone/>
              <a:defRPr sz="750" b="0">
                <a:solidFill>
                  <a:srgbClr val="B8CDD5"/>
                </a:solidFill>
                <a:latin typeface="Aptos"/>
                <a:ea typeface="Aptos"/>
                <a:cs typeface="Aptos"/>
              </a:defRPr>
            </a:pPr>
            <a:r>
              <a:rPr sz="750" b="0">
                <a:solidFill>
                  <a:srgbClr val="B8CDD5"/>
                </a:solidFill>
                <a:latin typeface="Aptos"/>
                <a:ea typeface="Aptos"/>
                <a:cs typeface="Aptos"/>
              </a:rPr>
              <a:t>SRAI  |  OS-A02</a:t>
            </a:r>
          </a:p>
        </p:txBody>
      </p:sp>
    </p:spTree>
    <p:extLst>
      <p:ext uri="{BB962C8B-B14F-4D97-AF65-F5344CB8AC3E}">
        <p14:creationId xmlns:p14="http://schemas.microsoft.com/office/powerpoint/2010/main" val="185084947"/>
      </p:ext>
    </p:extLst>
  </p:cSld>
</p:sld>
</file>

<file path=ppt/slides/slide17.xml><?xml version="1.0" encoding="utf-8"?>
<p:sld xmlns:p="http://schemas.openxmlformats.org/presentationml/2006/main">
  <p:cSld>
    <p:bg>
      <p:bgPr>
        <a:solidFill xmlns:a="http://schemas.openxmlformats.org/drawingml/2006/main">
          <a:srgbClr val="07182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35FC0F2-B8D7-4076-B267-3106A2B78D66}"/>
              </a:ext>
            </a:extLst>
          </p:cNvPr>
          <p:cNvSpPr>
            <a:spLocks xmlns:a="http://schemas.openxmlformats.org/drawingml/2006/main" noGrp="1"/>
          </p:cNvSpPr>
          <p:nvPr/>
        </p:nvSpPr>
        <p:spPr>
          <a:xfrm xmlns:a="http://schemas.openxmlformats.org/drawingml/2006/main">
            <a:off x="7239000" y="0"/>
            <a:ext cx="4953000" cy="6858000"/>
          </a:xfrm>
          <a:prstGeom xmlns:a="http://schemas.openxmlformats.org/drawingml/2006/main" prst="rect">
            <a:avLst/>
          </a:prstGeom>
          <a:solidFill xmlns:a="http://schemas.openxmlformats.org/drawingml/2006/main">
            <a:srgbClr val="0B263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363684E-9048-4195-83CC-DF4B035F09EA}"/>
              </a:ext>
            </a:extLst>
          </p:cNvPr>
          <p:cNvSpPr>
            <a:spLocks xmlns:a="http://schemas.openxmlformats.org/drawingml/2006/main" noGrp="1"/>
          </p:cNvSpPr>
          <p:nvPr/>
        </p:nvSpPr>
        <p:spPr>
          <a:xfrm xmlns:a="http://schemas.openxmlformats.org/drawingml/2006/main">
            <a:off x="495300" y="323850"/>
            <a:ext cx="647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900" b="1">
                <a:solidFill>
                  <a:srgbClr val="23C6C8"/>
                </a:solidFill>
                <a:latin typeface="Aptos"/>
                <a:ea typeface="Aptos"/>
                <a:cs typeface="Aptos"/>
              </a:defRPr>
            </a:pPr>
            <a:r>
              <a:rPr sz="900" b="1">
                <a:solidFill>
                  <a:srgbClr val="23C6C8"/>
                </a:solidFill>
                <a:latin typeface="Aptos"/>
                <a:ea typeface="Aptos"/>
                <a:cs typeface="Aptos"/>
              </a:rPr>
              <a:t>CHAPTER 14</a:t>
            </a:r>
          </a:p>
        </p:txBody>
      </p:sp>
      <p:sp>
        <p:nvSpPr>
          <p:cNvPr id="3" name="">
            <a:extLst xmlns:a="http://schemas.openxmlformats.org/drawingml/2006/main">
              <a:ext uri="{FF2B5EF4-FFF2-40B4-BE49-F238E27FC236}">
                <a16:creationId xmlns:a16="http://schemas.microsoft.com/office/drawing/2014/main" id="{359E3937-669C-4271-A2C5-D623128C7B07}"/>
              </a:ext>
            </a:extLst>
          </p:cNvPr>
          <p:cNvSpPr>
            <a:spLocks xmlns:a="http://schemas.openxmlformats.org/drawingml/2006/main" noGrp="1"/>
          </p:cNvSpPr>
          <p:nvPr/>
        </p:nvSpPr>
        <p:spPr>
          <a:xfrm xmlns:a="http://schemas.openxmlformats.org/drawingml/2006/main">
            <a:off x="495300" y="685800"/>
            <a:ext cx="666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400" b="1">
                <a:solidFill>
                  <a:srgbClr val="F7FAFC"/>
                </a:solidFill>
                <a:latin typeface="Aptos"/>
                <a:ea typeface="Aptos"/>
                <a:cs typeface="Aptos"/>
              </a:defRPr>
            </a:pPr>
            <a:r>
              <a:rPr sz="2400" b="1">
                <a:solidFill>
                  <a:srgbClr val="F7FAFC"/>
                </a:solidFill>
                <a:latin typeface="Aptos"/>
                <a:ea typeface="Aptos"/>
                <a:cs typeface="Aptos"/>
              </a:rPr>
              <a:t>Subgroup performance and public value</a:t>
            </a:r>
          </a:p>
        </p:txBody>
      </p:sp>
      <p:sp>
        <p:nvSpPr>
          <p:cNvPr id="4" name="">
            <a:extLst xmlns:a="http://schemas.openxmlformats.org/drawingml/2006/main">
              <a:ext uri="{FF2B5EF4-FFF2-40B4-BE49-F238E27FC236}">
                <a16:creationId xmlns:a16="http://schemas.microsoft.com/office/drawing/2014/main" id="{0D722CCC-0E12-4617-9161-820A033F9979}"/>
              </a:ext>
            </a:extLst>
          </p:cNvPr>
          <p:cNvSpPr>
            <a:spLocks xmlns:a="http://schemas.openxmlformats.org/drawingml/2006/main" noGrp="1"/>
          </p:cNvSpPr>
          <p:nvPr/>
        </p:nvSpPr>
        <p:spPr>
          <a:xfrm xmlns:a="http://schemas.openxmlformats.org/drawingml/2006/main">
            <a:off x="495300" y="1314450"/>
            <a:ext cx="2381250" cy="28575"/>
          </a:xfrm>
          <a:prstGeom xmlns:a="http://schemas.openxmlformats.org/drawingml/2006/main" prst="rect">
            <a:avLst/>
          </a:prstGeom>
          <a:solidFill xmlns:a="http://schemas.openxmlformats.org/drawingml/2006/main">
            <a:srgbClr val="D5AF4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2AD4CA5-5626-416D-82CD-1D9541113C8E}"/>
              </a:ext>
            </a:extLst>
          </p:cNvPr>
          <p:cNvSpPr>
            <a:spLocks xmlns:a="http://schemas.openxmlformats.org/drawingml/2006/main" noGrp="1"/>
          </p:cNvSpPr>
          <p:nvPr/>
        </p:nvSpPr>
        <p:spPr>
          <a:xfrm xmlns:a="http://schemas.openxmlformats.org/drawingml/2006/main">
            <a:off x="552450" y="1695450"/>
            <a:ext cx="619125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41300" indent="-127000">
              <a:spcAft>
                <a:spcPts val="1600"/>
              </a:spcAft>
              <a:buChar char="•"/>
              <a:defRPr sz="1650">
                <a:solidFill>
                  <a:srgbClr val="F7FAFC"/>
                </a:solidFill>
                <a:latin typeface="Aptos"/>
                <a:ea typeface="Aptos"/>
                <a:cs typeface="Aptos"/>
              </a:defRPr>
            </a:pPr>
            <a:r>
              <a:rPr sz="1650">
                <a:solidFill>
                  <a:srgbClr val="F7FAFC"/>
                </a:solidFill>
                <a:latin typeface="Aptos"/>
                <a:ea typeface="Aptos"/>
                <a:cs typeface="Aptos"/>
              </a:rPr>
              <a:t>Aggregate performance can conceal failure for languages, regions or rare groups</a:t>
            </a:r>
          </a:p>
          <a:p xmlns:a="http://schemas.openxmlformats.org/drawingml/2006/main">
            <a:pPr marL="241300" indent="-127000">
              <a:spcAft>
                <a:spcPts val="1600"/>
              </a:spcAft>
              <a:buChar char="•"/>
              <a:defRPr sz="1650">
                <a:solidFill>
                  <a:srgbClr val="F7FAFC"/>
                </a:solidFill>
                <a:latin typeface="Aptos"/>
                <a:ea typeface="Aptos"/>
                <a:cs typeface="Aptos"/>
              </a:defRPr>
            </a:pPr>
            <a:r>
              <a:rPr sz="1650">
                <a:solidFill>
                  <a:srgbClr val="F7FAFC"/>
                </a:solidFill>
                <a:latin typeface="Aptos"/>
                <a:ea typeface="Aptos"/>
                <a:cs typeface="Aptos"/>
              </a:rPr>
              <a:t>Fairness metrics can conflict and subgroup estimates carry uncertainty</a:t>
            </a:r>
          </a:p>
          <a:p xmlns:a="http://schemas.openxmlformats.org/drawingml/2006/main">
            <a:pPr marL="241300" indent="-127000">
              <a:spcAft>
                <a:spcPts val="1600"/>
              </a:spcAft>
              <a:buChar char="•"/>
              <a:defRPr sz="1650">
                <a:solidFill>
                  <a:srgbClr val="F7FAFC"/>
                </a:solidFill>
                <a:latin typeface="Aptos"/>
                <a:ea typeface="Aptos"/>
                <a:cs typeface="Aptos"/>
              </a:defRPr>
            </a:pPr>
            <a:r>
              <a:rPr sz="1650">
                <a:solidFill>
                  <a:srgbClr val="F7FAFC"/>
                </a:solidFill>
                <a:latin typeface="Aptos"/>
                <a:ea typeface="Aptos"/>
                <a:cs typeface="Aptos"/>
              </a:rPr>
              <a:t>Mandate, consequence, participation and appeal guide the value choice</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fac0662a37a84a6f"/>
          <a:srcRect xmlns:a="http://schemas.openxmlformats.org/drawingml/2006/main" l="2652" t="0" r="2652" b="0"/>
          <a:stretch xmlns:a="http://schemas.openxmlformats.org/drawingml/2006/main">
            <a:fillRect l="0" t="0" r="0" b="0"/>
          </a:stretch>
        </p:blipFill>
        <p:spPr>
          <a:xfrm xmlns:a="http://schemas.openxmlformats.org/drawingml/2006/main">
            <a:off x="7486650" y="1257300"/>
            <a:ext cx="4171950" cy="4800600"/>
          </a:xfrm>
          <a:prstGeom xmlns:a="http://schemas.openxmlformats.org/drawingml/2006/main" prst="roundRect">
            <a:avLst>
              <a:gd name="adj" fmla="val 5479"/>
            </a:avLst>
          </a:prstGeom>
        </p:spPr>
      </p:pic>
      <p:sp>
        <p:nvSpPr>
          <p:cNvPr id="7" name="">
            <a:extLst xmlns:a="http://schemas.openxmlformats.org/drawingml/2006/main">
              <a:ext uri="{FF2B5EF4-FFF2-40B4-BE49-F238E27FC236}">
                <a16:creationId xmlns:a16="http://schemas.microsoft.com/office/drawing/2014/main" id="{FDF06659-508B-4422-B6C0-A6D8AF89CF87}"/>
              </a:ext>
            </a:extLst>
          </p:cNvPr>
          <p:cNvSpPr>
            <a:spLocks xmlns:a="http://schemas.openxmlformats.org/drawingml/2006/main" noGrp="1"/>
          </p:cNvSpPr>
          <p:nvPr/>
        </p:nvSpPr>
        <p:spPr>
          <a:xfrm xmlns:a="http://schemas.openxmlformats.org/drawingml/2006/main">
            <a:off x="11353800" y="6400800"/>
            <a:ext cx="4000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buNone/>
              <a:defRPr sz="750" b="1">
                <a:solidFill>
                  <a:srgbClr val="B8CDD5"/>
                </a:solidFill>
                <a:latin typeface="Aptos"/>
                <a:ea typeface="Aptos"/>
                <a:cs typeface="Aptos"/>
              </a:defRPr>
            </a:pPr>
            <a:r>
              <a:rPr sz="750" b="1">
                <a:solidFill>
                  <a:srgbClr val="B8CDD5"/>
                </a:solidFill>
                <a:latin typeface="Aptos"/>
                <a:ea typeface="Aptos"/>
                <a:cs typeface="Aptos"/>
              </a:rPr>
              <a:t>16</a:t>
            </a:r>
          </a:p>
        </p:txBody>
      </p:sp>
      <p:sp>
        <p:nvSpPr>
          <p:cNvPr id="8" name="">
            <a:extLst xmlns:a="http://schemas.openxmlformats.org/drawingml/2006/main">
              <a:ext uri="{FF2B5EF4-FFF2-40B4-BE49-F238E27FC236}">
                <a16:creationId xmlns:a16="http://schemas.microsoft.com/office/drawing/2014/main" id="{1EC36E86-C0DF-4878-B9C7-471A59BC5A7E}"/>
              </a:ext>
            </a:extLst>
          </p:cNvPr>
          <p:cNvSpPr>
            <a:spLocks xmlns:a="http://schemas.openxmlformats.org/drawingml/2006/main" noGrp="1"/>
          </p:cNvSpPr>
          <p:nvPr/>
        </p:nvSpPr>
        <p:spPr>
          <a:xfrm xmlns:a="http://schemas.openxmlformats.org/drawingml/2006/main">
            <a:off x="495300" y="6400800"/>
            <a:ext cx="1524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buNone/>
              <a:defRPr sz="750" b="0">
                <a:solidFill>
                  <a:srgbClr val="B8CDD5"/>
                </a:solidFill>
                <a:latin typeface="Aptos"/>
                <a:ea typeface="Aptos"/>
                <a:cs typeface="Aptos"/>
              </a:defRPr>
            </a:pPr>
            <a:r>
              <a:rPr sz="750" b="0">
                <a:solidFill>
                  <a:srgbClr val="B8CDD5"/>
                </a:solidFill>
                <a:latin typeface="Aptos"/>
                <a:ea typeface="Aptos"/>
                <a:cs typeface="Aptos"/>
              </a:rPr>
              <a:t>SRAI  |  OS-A02</a:t>
            </a:r>
          </a:p>
        </p:txBody>
      </p:sp>
    </p:spTree>
    <p:extLst>
      <p:ext uri="{BB962C8B-B14F-4D97-AF65-F5344CB8AC3E}">
        <p14:creationId xmlns:p14="http://schemas.microsoft.com/office/powerpoint/2010/main" val="172405503"/>
      </p:ext>
    </p:extLst>
  </p:cSld>
</p:sld>
</file>

<file path=ppt/slides/slide18.xml><?xml version="1.0" encoding="utf-8"?>
<p:sld xmlns:p="http://schemas.openxmlformats.org/presentationml/2006/main">
  <p:cSld>
    <p:bg>
      <p:bgPr>
        <a:solidFill xmlns:a="http://schemas.openxmlformats.org/drawingml/2006/main">
          <a:srgbClr val="07182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CCCE3AE-6042-4DF5-9672-E1C6C4A1D276}"/>
              </a:ext>
            </a:extLst>
          </p:cNvPr>
          <p:cNvSpPr>
            <a:spLocks xmlns:a="http://schemas.openxmlformats.org/drawingml/2006/main" noGrp="1"/>
          </p:cNvSpPr>
          <p:nvPr/>
        </p:nvSpPr>
        <p:spPr>
          <a:xfrm xmlns:a="http://schemas.openxmlformats.org/drawingml/2006/main">
            <a:off x="7239000" y="0"/>
            <a:ext cx="4953000" cy="6858000"/>
          </a:xfrm>
          <a:prstGeom xmlns:a="http://schemas.openxmlformats.org/drawingml/2006/main" prst="rect">
            <a:avLst/>
          </a:prstGeom>
          <a:solidFill xmlns:a="http://schemas.openxmlformats.org/drawingml/2006/main">
            <a:srgbClr val="0B263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48F4FD1-B734-446C-813E-92BE00BE14B6}"/>
              </a:ext>
            </a:extLst>
          </p:cNvPr>
          <p:cNvSpPr>
            <a:spLocks xmlns:a="http://schemas.openxmlformats.org/drawingml/2006/main" noGrp="1"/>
          </p:cNvSpPr>
          <p:nvPr/>
        </p:nvSpPr>
        <p:spPr>
          <a:xfrm xmlns:a="http://schemas.openxmlformats.org/drawingml/2006/main">
            <a:off x="495300" y="323850"/>
            <a:ext cx="647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900" b="1">
                <a:solidFill>
                  <a:srgbClr val="23C6C8"/>
                </a:solidFill>
                <a:latin typeface="Aptos"/>
                <a:ea typeface="Aptos"/>
                <a:cs typeface="Aptos"/>
              </a:defRPr>
            </a:pPr>
            <a:r>
              <a:rPr sz="900" b="1">
                <a:solidFill>
                  <a:srgbClr val="23C6C8"/>
                </a:solidFill>
                <a:latin typeface="Aptos"/>
                <a:ea typeface="Aptos"/>
                <a:cs typeface="Aptos"/>
              </a:rPr>
              <a:t>CHAPTER 15</a:t>
            </a:r>
          </a:p>
        </p:txBody>
      </p:sp>
      <p:sp>
        <p:nvSpPr>
          <p:cNvPr id="3" name="">
            <a:extLst xmlns:a="http://schemas.openxmlformats.org/drawingml/2006/main">
              <a:ext uri="{FF2B5EF4-FFF2-40B4-BE49-F238E27FC236}">
                <a16:creationId xmlns:a16="http://schemas.microsoft.com/office/drawing/2014/main" id="{71802F43-F668-4E92-AA17-46907AB4FB94}"/>
              </a:ext>
            </a:extLst>
          </p:cNvPr>
          <p:cNvSpPr>
            <a:spLocks xmlns:a="http://schemas.openxmlformats.org/drawingml/2006/main" noGrp="1"/>
          </p:cNvSpPr>
          <p:nvPr/>
        </p:nvSpPr>
        <p:spPr>
          <a:xfrm xmlns:a="http://schemas.openxmlformats.org/drawingml/2006/main">
            <a:off x="495300" y="685800"/>
            <a:ext cx="666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400" b="1">
                <a:solidFill>
                  <a:srgbClr val="F7FAFC"/>
                </a:solidFill>
                <a:latin typeface="Aptos"/>
                <a:ea typeface="Aptos"/>
                <a:cs typeface="Aptos"/>
              </a:defRPr>
            </a:pPr>
            <a:r>
              <a:rPr sz="2400" b="1">
                <a:solidFill>
                  <a:srgbClr val="F7FAFC"/>
                </a:solidFill>
                <a:latin typeface="Aptos"/>
                <a:ea typeface="Aptos"/>
                <a:cs typeface="Aptos"/>
              </a:rPr>
              <a:t>Automation bias and institutional memory</a:t>
            </a:r>
          </a:p>
        </p:txBody>
      </p:sp>
      <p:sp>
        <p:nvSpPr>
          <p:cNvPr id="4" name="">
            <a:extLst xmlns:a="http://schemas.openxmlformats.org/drawingml/2006/main">
              <a:ext uri="{FF2B5EF4-FFF2-40B4-BE49-F238E27FC236}">
                <a16:creationId xmlns:a16="http://schemas.microsoft.com/office/drawing/2014/main" id="{F401835A-8D3E-4BEA-BA9C-BE89BC5C693E}"/>
              </a:ext>
            </a:extLst>
          </p:cNvPr>
          <p:cNvSpPr>
            <a:spLocks xmlns:a="http://schemas.openxmlformats.org/drawingml/2006/main" noGrp="1"/>
          </p:cNvSpPr>
          <p:nvPr/>
        </p:nvSpPr>
        <p:spPr>
          <a:xfrm xmlns:a="http://schemas.openxmlformats.org/drawingml/2006/main">
            <a:off x="495300" y="1314450"/>
            <a:ext cx="2381250" cy="28575"/>
          </a:xfrm>
          <a:prstGeom xmlns:a="http://schemas.openxmlformats.org/drawingml/2006/main" prst="rect">
            <a:avLst/>
          </a:prstGeom>
          <a:solidFill xmlns:a="http://schemas.openxmlformats.org/drawingml/2006/main">
            <a:srgbClr val="D5AF4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39D6D59-3AC8-45A1-9E05-43D079BF2A41}"/>
              </a:ext>
            </a:extLst>
          </p:cNvPr>
          <p:cNvSpPr>
            <a:spLocks xmlns:a="http://schemas.openxmlformats.org/drawingml/2006/main" noGrp="1"/>
          </p:cNvSpPr>
          <p:nvPr/>
        </p:nvSpPr>
        <p:spPr>
          <a:xfrm xmlns:a="http://schemas.openxmlformats.org/drawingml/2006/main">
            <a:off x="552450" y="1695450"/>
            <a:ext cx="619125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41300" indent="-127000">
              <a:spcAft>
                <a:spcPts val="1600"/>
              </a:spcAft>
              <a:buChar char="•"/>
              <a:defRPr sz="1650">
                <a:solidFill>
                  <a:srgbClr val="F7FAFC"/>
                </a:solidFill>
                <a:latin typeface="Aptos"/>
                <a:ea typeface="Aptos"/>
                <a:cs typeface="Aptos"/>
              </a:defRPr>
            </a:pPr>
            <a:r>
              <a:rPr sz="1650">
                <a:solidFill>
                  <a:srgbClr val="F7FAFC"/>
                </a:solidFill>
                <a:latin typeface="Aptos"/>
                <a:ea typeface="Aptos"/>
                <a:cs typeface="Aptos"/>
              </a:rPr>
              <a:t>Oversight fails when reviewers lack time, independence, information or authority</a:t>
            </a:r>
          </a:p>
          <a:p xmlns:a="http://schemas.openxmlformats.org/drawingml/2006/main">
            <a:pPr marL="241300" indent="-127000">
              <a:spcAft>
                <a:spcPts val="1600"/>
              </a:spcAft>
              <a:buChar char="•"/>
              <a:defRPr sz="1650">
                <a:solidFill>
                  <a:srgbClr val="F7FAFC"/>
                </a:solidFill>
                <a:latin typeface="Aptos"/>
                <a:ea typeface="Aptos"/>
                <a:cs typeface="Aptos"/>
              </a:defRPr>
            </a:pPr>
            <a:r>
              <a:rPr sz="1650">
                <a:solidFill>
                  <a:srgbClr val="F7FAFC"/>
                </a:solidFill>
                <a:latin typeface="Aptos"/>
                <a:ea typeface="Aptos"/>
                <a:cs typeface="Aptos"/>
              </a:rPr>
              <a:t>Selective review can miss confident systematic errors and amplify feedback loops</a:t>
            </a:r>
          </a:p>
          <a:p xmlns:a="http://schemas.openxmlformats.org/drawingml/2006/main">
            <a:pPr marL="241300" indent="-127000">
              <a:spcAft>
                <a:spcPts val="1600"/>
              </a:spcAft>
              <a:buChar char="•"/>
              <a:defRPr sz="1650">
                <a:solidFill>
                  <a:srgbClr val="F7FAFC"/>
                </a:solidFill>
                <a:latin typeface="Aptos"/>
                <a:ea typeface="Aptos"/>
                <a:cs typeface="Aptos"/>
              </a:defRPr>
            </a:pPr>
            <a:r>
              <a:rPr sz="1650">
                <a:solidFill>
                  <a:srgbClr val="F7FAFC"/>
                </a:solidFill>
                <a:latin typeface="Aptos"/>
                <a:ea typeface="Aptos"/>
                <a:cs typeface="Aptos"/>
              </a:rPr>
              <a:t>Fallback, blind samples and recovery exercises preserve institutional capability</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f0cee843271f4b81"/>
          <a:srcRect xmlns:a="http://schemas.openxmlformats.org/drawingml/2006/main" l="3395" t="0" r="3395" b="0"/>
          <a:stretch xmlns:a="http://schemas.openxmlformats.org/drawingml/2006/main">
            <a:fillRect l="0" t="0" r="0" b="0"/>
          </a:stretch>
        </p:blipFill>
        <p:spPr>
          <a:xfrm xmlns:a="http://schemas.openxmlformats.org/drawingml/2006/main">
            <a:off x="7486650" y="1257300"/>
            <a:ext cx="4171950" cy="4800600"/>
          </a:xfrm>
          <a:prstGeom xmlns:a="http://schemas.openxmlformats.org/drawingml/2006/main" prst="roundRect">
            <a:avLst>
              <a:gd name="adj" fmla="val 5479"/>
            </a:avLst>
          </a:prstGeom>
        </p:spPr>
      </p:pic>
      <p:sp>
        <p:nvSpPr>
          <p:cNvPr id="7" name="">
            <a:extLst xmlns:a="http://schemas.openxmlformats.org/drawingml/2006/main">
              <a:ext uri="{FF2B5EF4-FFF2-40B4-BE49-F238E27FC236}">
                <a16:creationId xmlns:a16="http://schemas.microsoft.com/office/drawing/2014/main" id="{91613E14-C4A5-453D-BFDD-34D67A315908}"/>
              </a:ext>
            </a:extLst>
          </p:cNvPr>
          <p:cNvSpPr>
            <a:spLocks xmlns:a="http://schemas.openxmlformats.org/drawingml/2006/main" noGrp="1"/>
          </p:cNvSpPr>
          <p:nvPr/>
        </p:nvSpPr>
        <p:spPr>
          <a:xfrm xmlns:a="http://schemas.openxmlformats.org/drawingml/2006/main">
            <a:off x="11353800" y="6400800"/>
            <a:ext cx="4000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buNone/>
              <a:defRPr sz="750" b="1">
                <a:solidFill>
                  <a:srgbClr val="B8CDD5"/>
                </a:solidFill>
                <a:latin typeface="Aptos"/>
                <a:ea typeface="Aptos"/>
                <a:cs typeface="Aptos"/>
              </a:defRPr>
            </a:pPr>
            <a:r>
              <a:rPr sz="750" b="1">
                <a:solidFill>
                  <a:srgbClr val="B8CDD5"/>
                </a:solidFill>
                <a:latin typeface="Aptos"/>
                <a:ea typeface="Aptos"/>
                <a:cs typeface="Aptos"/>
              </a:rPr>
              <a:t>17</a:t>
            </a:r>
          </a:p>
        </p:txBody>
      </p:sp>
      <p:sp>
        <p:nvSpPr>
          <p:cNvPr id="8" name="">
            <a:extLst xmlns:a="http://schemas.openxmlformats.org/drawingml/2006/main">
              <a:ext uri="{FF2B5EF4-FFF2-40B4-BE49-F238E27FC236}">
                <a16:creationId xmlns:a16="http://schemas.microsoft.com/office/drawing/2014/main" id="{78D09CB6-8E0D-4834-A800-16909431CAB4}"/>
              </a:ext>
            </a:extLst>
          </p:cNvPr>
          <p:cNvSpPr>
            <a:spLocks xmlns:a="http://schemas.openxmlformats.org/drawingml/2006/main" noGrp="1"/>
          </p:cNvSpPr>
          <p:nvPr/>
        </p:nvSpPr>
        <p:spPr>
          <a:xfrm xmlns:a="http://schemas.openxmlformats.org/drawingml/2006/main">
            <a:off x="495300" y="6400800"/>
            <a:ext cx="1524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buNone/>
              <a:defRPr sz="750" b="0">
                <a:solidFill>
                  <a:srgbClr val="B8CDD5"/>
                </a:solidFill>
                <a:latin typeface="Aptos"/>
                <a:ea typeface="Aptos"/>
                <a:cs typeface="Aptos"/>
              </a:defRPr>
            </a:pPr>
            <a:r>
              <a:rPr sz="750" b="0">
                <a:solidFill>
                  <a:srgbClr val="B8CDD5"/>
                </a:solidFill>
                <a:latin typeface="Aptos"/>
                <a:ea typeface="Aptos"/>
                <a:cs typeface="Aptos"/>
              </a:rPr>
              <a:t>SRAI  |  OS-A02</a:t>
            </a:r>
          </a:p>
        </p:txBody>
      </p:sp>
    </p:spTree>
    <p:extLst>
      <p:ext uri="{BB962C8B-B14F-4D97-AF65-F5344CB8AC3E}">
        <p14:creationId xmlns:p14="http://schemas.microsoft.com/office/powerpoint/2010/main" val="1248943253"/>
      </p:ext>
    </p:extLst>
  </p:cSld>
</p:sld>
</file>

<file path=ppt/slides/slide19.xml><?xml version="1.0" encoding="utf-8"?>
<p:sld xmlns:p="http://schemas.openxmlformats.org/presentationml/2006/main">
  <p:cSld>
    <p:bg>
      <p:bgPr>
        <a:solidFill xmlns:a="http://schemas.openxmlformats.org/drawingml/2006/main">
          <a:srgbClr val="07182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0D6171E-3261-415B-AE69-013ECE1D96A7}"/>
              </a:ext>
            </a:extLst>
          </p:cNvPr>
          <p:cNvSpPr>
            <a:spLocks xmlns:a="http://schemas.openxmlformats.org/drawingml/2006/main" noGrp="1"/>
          </p:cNvSpPr>
          <p:nvPr/>
        </p:nvSpPr>
        <p:spPr>
          <a:xfrm xmlns:a="http://schemas.openxmlformats.org/drawingml/2006/main">
            <a:off x="7239000" y="0"/>
            <a:ext cx="4953000" cy="6858000"/>
          </a:xfrm>
          <a:prstGeom xmlns:a="http://schemas.openxmlformats.org/drawingml/2006/main" prst="rect">
            <a:avLst/>
          </a:prstGeom>
          <a:solidFill xmlns:a="http://schemas.openxmlformats.org/drawingml/2006/main">
            <a:srgbClr val="0B263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6F794F0-2699-44C2-BE8B-B8B8FCAD95BC}"/>
              </a:ext>
            </a:extLst>
          </p:cNvPr>
          <p:cNvSpPr>
            <a:spLocks xmlns:a="http://schemas.openxmlformats.org/drawingml/2006/main" noGrp="1"/>
          </p:cNvSpPr>
          <p:nvPr/>
        </p:nvSpPr>
        <p:spPr>
          <a:xfrm xmlns:a="http://schemas.openxmlformats.org/drawingml/2006/main">
            <a:off x="495300" y="323850"/>
            <a:ext cx="647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900" b="1">
                <a:solidFill>
                  <a:srgbClr val="23C6C8"/>
                </a:solidFill>
                <a:latin typeface="Aptos"/>
                <a:ea typeface="Aptos"/>
                <a:cs typeface="Aptos"/>
              </a:defRPr>
            </a:pPr>
            <a:r>
              <a:rPr sz="900" b="1">
                <a:solidFill>
                  <a:srgbClr val="23C6C8"/>
                </a:solidFill>
                <a:latin typeface="Aptos"/>
                <a:ea typeface="Aptos"/>
                <a:cs typeface="Aptos"/>
              </a:rPr>
              <a:t>CHAPTER 16</a:t>
            </a:r>
          </a:p>
        </p:txBody>
      </p:sp>
      <p:sp>
        <p:nvSpPr>
          <p:cNvPr id="3" name="">
            <a:extLst xmlns:a="http://schemas.openxmlformats.org/drawingml/2006/main">
              <a:ext uri="{FF2B5EF4-FFF2-40B4-BE49-F238E27FC236}">
                <a16:creationId xmlns:a16="http://schemas.microsoft.com/office/drawing/2014/main" id="{9C423F1A-E1D1-4243-8800-D1D51B86E2DC}"/>
              </a:ext>
            </a:extLst>
          </p:cNvPr>
          <p:cNvSpPr>
            <a:spLocks xmlns:a="http://schemas.openxmlformats.org/drawingml/2006/main" noGrp="1"/>
          </p:cNvSpPr>
          <p:nvPr/>
        </p:nvSpPr>
        <p:spPr>
          <a:xfrm xmlns:a="http://schemas.openxmlformats.org/drawingml/2006/main">
            <a:off x="495300" y="685800"/>
            <a:ext cx="666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400" b="1">
                <a:solidFill>
                  <a:srgbClr val="F7FAFC"/>
                </a:solidFill>
                <a:latin typeface="Aptos"/>
                <a:ea typeface="Aptos"/>
                <a:cs typeface="Aptos"/>
              </a:defRPr>
            </a:pPr>
            <a:r>
              <a:rPr sz="2400" b="1">
                <a:solidFill>
                  <a:srgbClr val="F7FAFC"/>
                </a:solidFill>
                <a:latin typeface="Aptos"/>
                <a:ea typeface="Aptos"/>
                <a:cs typeface="Aptos"/>
              </a:rPr>
              <a:t>Confidentiality, cybersecurity and suppliers</a:t>
            </a:r>
          </a:p>
        </p:txBody>
      </p:sp>
      <p:sp>
        <p:nvSpPr>
          <p:cNvPr id="4" name="">
            <a:extLst xmlns:a="http://schemas.openxmlformats.org/drawingml/2006/main">
              <a:ext uri="{FF2B5EF4-FFF2-40B4-BE49-F238E27FC236}">
                <a16:creationId xmlns:a16="http://schemas.microsoft.com/office/drawing/2014/main" id="{EAD9447C-CE41-4BC2-99F4-1BA8C24DB177}"/>
              </a:ext>
            </a:extLst>
          </p:cNvPr>
          <p:cNvSpPr>
            <a:spLocks xmlns:a="http://schemas.openxmlformats.org/drawingml/2006/main" noGrp="1"/>
          </p:cNvSpPr>
          <p:nvPr/>
        </p:nvSpPr>
        <p:spPr>
          <a:xfrm xmlns:a="http://schemas.openxmlformats.org/drawingml/2006/main">
            <a:off x="495300" y="1314450"/>
            <a:ext cx="2381250" cy="28575"/>
          </a:xfrm>
          <a:prstGeom xmlns:a="http://schemas.openxmlformats.org/drawingml/2006/main" prst="rect">
            <a:avLst/>
          </a:prstGeom>
          <a:solidFill xmlns:a="http://schemas.openxmlformats.org/drawingml/2006/main">
            <a:srgbClr val="D5AF4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4B35A9A-E10B-409E-9C9E-61C79325A58E}"/>
              </a:ext>
            </a:extLst>
          </p:cNvPr>
          <p:cNvSpPr>
            <a:spLocks xmlns:a="http://schemas.openxmlformats.org/drawingml/2006/main" noGrp="1"/>
          </p:cNvSpPr>
          <p:nvPr/>
        </p:nvSpPr>
        <p:spPr>
          <a:xfrm xmlns:a="http://schemas.openxmlformats.org/drawingml/2006/main">
            <a:off x="552450" y="1695450"/>
            <a:ext cx="619125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41300" indent="-127000">
              <a:spcAft>
                <a:spcPts val="1600"/>
              </a:spcAft>
              <a:buChar char="•"/>
              <a:defRPr sz="1650">
                <a:solidFill>
                  <a:srgbClr val="F7FAFC"/>
                </a:solidFill>
                <a:latin typeface="Aptos"/>
                <a:ea typeface="Aptos"/>
                <a:cs typeface="Aptos"/>
              </a:defRPr>
            </a:pPr>
            <a:r>
              <a:rPr sz="1650">
                <a:solidFill>
                  <a:srgbClr val="F7FAFC"/>
                </a:solidFill>
                <a:latin typeface="Aptos"/>
                <a:ea typeface="Aptos"/>
                <a:cs typeface="Aptos"/>
              </a:rPr>
              <a:t>Prompts, embeddings, logs, artefacts and telemetry create new protected data flows</a:t>
            </a:r>
          </a:p>
          <a:p xmlns:a="http://schemas.openxmlformats.org/drawingml/2006/main">
            <a:pPr marL="241300" indent="-127000">
              <a:spcAft>
                <a:spcPts val="1600"/>
              </a:spcAft>
              <a:buChar char="•"/>
              <a:defRPr sz="1650">
                <a:solidFill>
                  <a:srgbClr val="F7FAFC"/>
                </a:solidFill>
                <a:latin typeface="Aptos"/>
                <a:ea typeface="Aptos"/>
                <a:cs typeface="Aptos"/>
              </a:defRPr>
            </a:pPr>
            <a:r>
              <a:rPr sz="1650">
                <a:solidFill>
                  <a:srgbClr val="F7FAFC"/>
                </a:solidFill>
                <a:latin typeface="Aptos"/>
                <a:ea typeface="Aptos"/>
                <a:cs typeface="Aptos"/>
              </a:rPr>
              <a:t>Threat models cover access, injection, extraction, poisoning and supply-chain change</a:t>
            </a:r>
          </a:p>
          <a:p xmlns:a="http://schemas.openxmlformats.org/drawingml/2006/main">
            <a:pPr marL="241300" indent="-127000">
              <a:spcAft>
                <a:spcPts val="1600"/>
              </a:spcAft>
              <a:buChar char="•"/>
              <a:defRPr sz="1650">
                <a:solidFill>
                  <a:srgbClr val="F7FAFC"/>
                </a:solidFill>
                <a:latin typeface="Aptos"/>
                <a:ea typeface="Aptos"/>
                <a:cs typeface="Aptos"/>
              </a:defRPr>
            </a:pPr>
            <a:r>
              <a:rPr sz="1650">
                <a:solidFill>
                  <a:srgbClr val="F7FAFC"/>
                </a:solidFill>
                <a:latin typeface="Aptos"/>
                <a:ea typeface="Aptos"/>
                <a:cs typeface="Aptos"/>
              </a:rPr>
              <a:t>Procurement cannot transfer the institution’s legal or professional responsibility</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c81d82539f574128"/>
          <a:srcRect xmlns:a="http://schemas.openxmlformats.org/drawingml/2006/main" l="10048" t="0" r="10048" b="0"/>
          <a:stretch xmlns:a="http://schemas.openxmlformats.org/drawingml/2006/main">
            <a:fillRect l="0" t="0" r="0" b="0"/>
          </a:stretch>
        </p:blipFill>
        <p:spPr>
          <a:xfrm xmlns:a="http://schemas.openxmlformats.org/drawingml/2006/main">
            <a:off x="7486650" y="1257300"/>
            <a:ext cx="4171950" cy="4800600"/>
          </a:xfrm>
          <a:prstGeom xmlns:a="http://schemas.openxmlformats.org/drawingml/2006/main" prst="roundRect">
            <a:avLst>
              <a:gd name="adj" fmla="val 5479"/>
            </a:avLst>
          </a:prstGeom>
        </p:spPr>
      </p:pic>
      <p:sp>
        <p:nvSpPr>
          <p:cNvPr id="7" name="">
            <a:extLst xmlns:a="http://schemas.openxmlformats.org/drawingml/2006/main">
              <a:ext uri="{FF2B5EF4-FFF2-40B4-BE49-F238E27FC236}">
                <a16:creationId xmlns:a16="http://schemas.microsoft.com/office/drawing/2014/main" id="{F40A732F-5A9C-4188-9692-C07A5B9B3B6F}"/>
              </a:ext>
            </a:extLst>
          </p:cNvPr>
          <p:cNvSpPr>
            <a:spLocks xmlns:a="http://schemas.openxmlformats.org/drawingml/2006/main" noGrp="1"/>
          </p:cNvSpPr>
          <p:nvPr/>
        </p:nvSpPr>
        <p:spPr>
          <a:xfrm xmlns:a="http://schemas.openxmlformats.org/drawingml/2006/main">
            <a:off x="11353800" y="6400800"/>
            <a:ext cx="4000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buNone/>
              <a:defRPr sz="750" b="1">
                <a:solidFill>
                  <a:srgbClr val="B8CDD5"/>
                </a:solidFill>
                <a:latin typeface="Aptos"/>
                <a:ea typeface="Aptos"/>
                <a:cs typeface="Aptos"/>
              </a:defRPr>
            </a:pPr>
            <a:r>
              <a:rPr sz="750" b="1">
                <a:solidFill>
                  <a:srgbClr val="B8CDD5"/>
                </a:solidFill>
                <a:latin typeface="Aptos"/>
                <a:ea typeface="Aptos"/>
                <a:cs typeface="Aptos"/>
              </a:rPr>
              <a:t>18</a:t>
            </a:r>
          </a:p>
        </p:txBody>
      </p:sp>
      <p:sp>
        <p:nvSpPr>
          <p:cNvPr id="8" name="">
            <a:extLst xmlns:a="http://schemas.openxmlformats.org/drawingml/2006/main">
              <a:ext uri="{FF2B5EF4-FFF2-40B4-BE49-F238E27FC236}">
                <a16:creationId xmlns:a16="http://schemas.microsoft.com/office/drawing/2014/main" id="{1346757E-A4F4-48AF-B540-308C2BDA2E0C}"/>
              </a:ext>
            </a:extLst>
          </p:cNvPr>
          <p:cNvSpPr>
            <a:spLocks xmlns:a="http://schemas.openxmlformats.org/drawingml/2006/main" noGrp="1"/>
          </p:cNvSpPr>
          <p:nvPr/>
        </p:nvSpPr>
        <p:spPr>
          <a:xfrm xmlns:a="http://schemas.openxmlformats.org/drawingml/2006/main">
            <a:off x="495300" y="6400800"/>
            <a:ext cx="1524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buNone/>
              <a:defRPr sz="750" b="0">
                <a:solidFill>
                  <a:srgbClr val="B8CDD5"/>
                </a:solidFill>
                <a:latin typeface="Aptos"/>
                <a:ea typeface="Aptos"/>
                <a:cs typeface="Aptos"/>
              </a:defRPr>
            </a:pPr>
            <a:r>
              <a:rPr sz="750" b="0">
                <a:solidFill>
                  <a:srgbClr val="B8CDD5"/>
                </a:solidFill>
                <a:latin typeface="Aptos"/>
                <a:ea typeface="Aptos"/>
                <a:cs typeface="Aptos"/>
              </a:rPr>
              <a:t>SRAI  |  OS-A02</a:t>
            </a:r>
          </a:p>
        </p:txBody>
      </p:sp>
    </p:spTree>
    <p:extLst>
      <p:ext uri="{BB962C8B-B14F-4D97-AF65-F5344CB8AC3E}">
        <p14:creationId xmlns:p14="http://schemas.microsoft.com/office/powerpoint/2010/main" val="237779100"/>
      </p:ext>
    </p:extLst>
  </p:cSld>
</p:sld>
</file>

<file path=ppt/slides/slide20.xml><?xml version="1.0" encoding="utf-8"?>
<p:sld xmlns:p="http://schemas.openxmlformats.org/presentationml/2006/main">
  <p:cSld>
    <p:bg>
      <p:bgPr>
        <a:solidFill xmlns:a="http://schemas.openxmlformats.org/drawingml/2006/main">
          <a:srgbClr val="07182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0C982B5-742B-4FD1-8B5B-70AD8102C859}"/>
              </a:ext>
            </a:extLst>
          </p:cNvPr>
          <p:cNvSpPr>
            <a:spLocks xmlns:a="http://schemas.openxmlformats.org/drawingml/2006/main" noGrp="1"/>
          </p:cNvSpPr>
          <p:nvPr/>
        </p:nvSpPr>
        <p:spPr>
          <a:xfrm xmlns:a="http://schemas.openxmlformats.org/drawingml/2006/main">
            <a:off x="7239000" y="0"/>
            <a:ext cx="4953000" cy="6858000"/>
          </a:xfrm>
          <a:prstGeom xmlns:a="http://schemas.openxmlformats.org/drawingml/2006/main" prst="rect">
            <a:avLst/>
          </a:prstGeom>
          <a:solidFill xmlns:a="http://schemas.openxmlformats.org/drawingml/2006/main">
            <a:srgbClr val="0B263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A3600B9-4D79-4234-B617-5C675C0D8F0E}"/>
              </a:ext>
            </a:extLst>
          </p:cNvPr>
          <p:cNvSpPr>
            <a:spLocks xmlns:a="http://schemas.openxmlformats.org/drawingml/2006/main" noGrp="1"/>
          </p:cNvSpPr>
          <p:nvPr/>
        </p:nvSpPr>
        <p:spPr>
          <a:xfrm xmlns:a="http://schemas.openxmlformats.org/drawingml/2006/main">
            <a:off x="495300" y="323850"/>
            <a:ext cx="647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900" b="1">
                <a:solidFill>
                  <a:srgbClr val="23C6C8"/>
                </a:solidFill>
                <a:latin typeface="Aptos"/>
                <a:ea typeface="Aptos"/>
                <a:cs typeface="Aptos"/>
              </a:defRPr>
            </a:pPr>
            <a:r>
              <a:rPr sz="900" b="1">
                <a:solidFill>
                  <a:srgbClr val="23C6C8"/>
                </a:solidFill>
                <a:latin typeface="Aptos"/>
                <a:ea typeface="Aptos"/>
                <a:cs typeface="Aptos"/>
              </a:rPr>
              <a:t>CHAPTER 17</a:t>
            </a:r>
          </a:p>
        </p:txBody>
      </p:sp>
      <p:sp>
        <p:nvSpPr>
          <p:cNvPr id="3" name="">
            <a:extLst xmlns:a="http://schemas.openxmlformats.org/drawingml/2006/main">
              <a:ext uri="{FF2B5EF4-FFF2-40B4-BE49-F238E27FC236}">
                <a16:creationId xmlns:a16="http://schemas.microsoft.com/office/drawing/2014/main" id="{F91CE76C-E4EC-4B4C-A41A-7132ACD2E224}"/>
              </a:ext>
            </a:extLst>
          </p:cNvPr>
          <p:cNvSpPr>
            <a:spLocks xmlns:a="http://schemas.openxmlformats.org/drawingml/2006/main" noGrp="1"/>
          </p:cNvSpPr>
          <p:nvPr/>
        </p:nvSpPr>
        <p:spPr>
          <a:xfrm xmlns:a="http://schemas.openxmlformats.org/drawingml/2006/main">
            <a:off x="495300" y="685800"/>
            <a:ext cx="666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400" b="1">
                <a:solidFill>
                  <a:srgbClr val="F7FAFC"/>
                </a:solidFill>
                <a:latin typeface="Aptos"/>
                <a:ea typeface="Aptos"/>
                <a:cs typeface="Aptos"/>
              </a:defRPr>
            </a:pPr>
            <a:r>
              <a:rPr sz="2400" b="1">
                <a:solidFill>
                  <a:srgbClr val="F7FAFC"/>
                </a:solidFill>
                <a:latin typeface="Aptos"/>
                <a:ea typeface="Aptos"/>
                <a:cs typeface="Aptos"/>
              </a:rPr>
              <a:t>Reproducibility and auditability</a:t>
            </a:r>
          </a:p>
        </p:txBody>
      </p:sp>
      <p:sp>
        <p:nvSpPr>
          <p:cNvPr id="4" name="">
            <a:extLst xmlns:a="http://schemas.openxmlformats.org/drawingml/2006/main">
              <a:ext uri="{FF2B5EF4-FFF2-40B4-BE49-F238E27FC236}">
                <a16:creationId xmlns:a16="http://schemas.microsoft.com/office/drawing/2014/main" id="{2815E682-60E8-4ADA-958B-E97F5DEDB0E6}"/>
              </a:ext>
            </a:extLst>
          </p:cNvPr>
          <p:cNvSpPr>
            <a:spLocks xmlns:a="http://schemas.openxmlformats.org/drawingml/2006/main" noGrp="1"/>
          </p:cNvSpPr>
          <p:nvPr/>
        </p:nvSpPr>
        <p:spPr>
          <a:xfrm xmlns:a="http://schemas.openxmlformats.org/drawingml/2006/main">
            <a:off x="495300" y="1314450"/>
            <a:ext cx="2381250" cy="28575"/>
          </a:xfrm>
          <a:prstGeom xmlns:a="http://schemas.openxmlformats.org/drawingml/2006/main" prst="rect">
            <a:avLst/>
          </a:prstGeom>
          <a:solidFill xmlns:a="http://schemas.openxmlformats.org/drawingml/2006/main">
            <a:srgbClr val="D5AF4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52EA1B7-6DEE-43D5-BBAD-06757D0975AD}"/>
              </a:ext>
            </a:extLst>
          </p:cNvPr>
          <p:cNvSpPr>
            <a:spLocks xmlns:a="http://schemas.openxmlformats.org/drawingml/2006/main" noGrp="1"/>
          </p:cNvSpPr>
          <p:nvPr/>
        </p:nvSpPr>
        <p:spPr>
          <a:xfrm xmlns:a="http://schemas.openxmlformats.org/drawingml/2006/main">
            <a:off x="552450" y="1695450"/>
            <a:ext cx="619125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41300" indent="-127000">
              <a:spcAft>
                <a:spcPts val="1600"/>
              </a:spcAft>
              <a:buChar char="•"/>
              <a:defRPr sz="1650">
                <a:solidFill>
                  <a:srgbClr val="F7FAFC"/>
                </a:solidFill>
                <a:latin typeface="Aptos"/>
                <a:ea typeface="Aptos"/>
                <a:cs typeface="Aptos"/>
              </a:defRPr>
            </a:pPr>
            <a:r>
              <a:rPr sz="1650">
                <a:solidFill>
                  <a:srgbClr val="F7FAFC"/>
                </a:solidFill>
                <a:latin typeface="Aptos"/>
                <a:ea typeface="Aptos"/>
                <a:cs typeface="Aptos"/>
              </a:rPr>
              <a:t>Controlled inputs, versions and environments must regenerate declared outputs</a:t>
            </a:r>
          </a:p>
          <a:p xmlns:a="http://schemas.openxmlformats.org/drawingml/2006/main">
            <a:pPr marL="241300" indent="-127000">
              <a:spcAft>
                <a:spcPts val="1600"/>
              </a:spcAft>
              <a:buChar char="•"/>
              <a:defRPr sz="1650">
                <a:solidFill>
                  <a:srgbClr val="F7FAFC"/>
                </a:solidFill>
                <a:latin typeface="Aptos"/>
                <a:ea typeface="Aptos"/>
                <a:cs typeface="Aptos"/>
              </a:defRPr>
            </a:pPr>
            <a:r>
              <a:rPr sz="1650">
                <a:solidFill>
                  <a:srgbClr val="F7FAFC"/>
                </a:solidFill>
                <a:latin typeface="Aptos"/>
                <a:ea typeface="Aptos"/>
                <a:cs typeface="Aptos"/>
              </a:rPr>
              <a:t>Evidence records retain lineage, configuration, results, exceptions and approvals</a:t>
            </a:r>
          </a:p>
          <a:p xmlns:a="http://schemas.openxmlformats.org/drawingml/2006/main">
            <a:pPr marL="241300" indent="-127000">
              <a:spcAft>
                <a:spcPts val="1600"/>
              </a:spcAft>
              <a:buChar char="•"/>
              <a:defRPr sz="1650">
                <a:solidFill>
                  <a:srgbClr val="F7FAFC"/>
                </a:solidFill>
                <a:latin typeface="Aptos"/>
                <a:ea typeface="Aptos"/>
                <a:cs typeface="Aptos"/>
              </a:defRPr>
            </a:pPr>
            <a:r>
              <a:rPr sz="1650">
                <a:solidFill>
                  <a:srgbClr val="F7FAFC"/>
                </a:solidFill>
                <a:latin typeface="Aptos"/>
                <a:ea typeface="Aptos"/>
                <a:cs typeface="Aptos"/>
              </a:rPr>
              <a:t>Independent reviewers must reconstruct what happened and why it was allowed</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148ffe39e19f44e8"/>
          <a:srcRect xmlns:a="http://schemas.openxmlformats.org/drawingml/2006/main" l="10126" t="0" r="10126" b="0"/>
          <a:stretch xmlns:a="http://schemas.openxmlformats.org/drawingml/2006/main">
            <a:fillRect l="0" t="0" r="0" b="0"/>
          </a:stretch>
        </p:blipFill>
        <p:spPr>
          <a:xfrm xmlns:a="http://schemas.openxmlformats.org/drawingml/2006/main">
            <a:off x="7486650" y="1257300"/>
            <a:ext cx="4171950" cy="4800600"/>
          </a:xfrm>
          <a:prstGeom xmlns:a="http://schemas.openxmlformats.org/drawingml/2006/main" prst="roundRect">
            <a:avLst>
              <a:gd name="adj" fmla="val 5479"/>
            </a:avLst>
          </a:prstGeom>
        </p:spPr>
      </p:pic>
      <p:sp>
        <p:nvSpPr>
          <p:cNvPr id="7" name="">
            <a:extLst xmlns:a="http://schemas.openxmlformats.org/drawingml/2006/main">
              <a:ext uri="{FF2B5EF4-FFF2-40B4-BE49-F238E27FC236}">
                <a16:creationId xmlns:a16="http://schemas.microsoft.com/office/drawing/2014/main" id="{401FB2FD-A189-4824-8AB7-D42403840A21}"/>
              </a:ext>
            </a:extLst>
          </p:cNvPr>
          <p:cNvSpPr>
            <a:spLocks xmlns:a="http://schemas.openxmlformats.org/drawingml/2006/main" noGrp="1"/>
          </p:cNvSpPr>
          <p:nvPr/>
        </p:nvSpPr>
        <p:spPr>
          <a:xfrm xmlns:a="http://schemas.openxmlformats.org/drawingml/2006/main">
            <a:off x="11353800" y="6400800"/>
            <a:ext cx="4000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buNone/>
              <a:defRPr sz="750" b="1">
                <a:solidFill>
                  <a:srgbClr val="B8CDD5"/>
                </a:solidFill>
                <a:latin typeface="Aptos"/>
                <a:ea typeface="Aptos"/>
                <a:cs typeface="Aptos"/>
              </a:defRPr>
            </a:pPr>
            <a:r>
              <a:rPr sz="750" b="1">
                <a:solidFill>
                  <a:srgbClr val="B8CDD5"/>
                </a:solidFill>
                <a:latin typeface="Aptos"/>
                <a:ea typeface="Aptos"/>
                <a:cs typeface="Aptos"/>
              </a:rPr>
              <a:t>19</a:t>
            </a:r>
          </a:p>
        </p:txBody>
      </p:sp>
      <p:sp>
        <p:nvSpPr>
          <p:cNvPr id="8" name="">
            <a:extLst xmlns:a="http://schemas.openxmlformats.org/drawingml/2006/main">
              <a:ext uri="{FF2B5EF4-FFF2-40B4-BE49-F238E27FC236}">
                <a16:creationId xmlns:a16="http://schemas.microsoft.com/office/drawing/2014/main" id="{786C9626-6B2B-4B45-9D04-23B5A73B4C46}"/>
              </a:ext>
            </a:extLst>
          </p:cNvPr>
          <p:cNvSpPr>
            <a:spLocks xmlns:a="http://schemas.openxmlformats.org/drawingml/2006/main" noGrp="1"/>
          </p:cNvSpPr>
          <p:nvPr/>
        </p:nvSpPr>
        <p:spPr>
          <a:xfrm xmlns:a="http://schemas.openxmlformats.org/drawingml/2006/main">
            <a:off x="495300" y="6400800"/>
            <a:ext cx="1524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buNone/>
              <a:defRPr sz="750" b="0">
                <a:solidFill>
                  <a:srgbClr val="B8CDD5"/>
                </a:solidFill>
                <a:latin typeface="Aptos"/>
                <a:ea typeface="Aptos"/>
                <a:cs typeface="Aptos"/>
              </a:defRPr>
            </a:pPr>
            <a:r>
              <a:rPr sz="750" b="0">
                <a:solidFill>
                  <a:srgbClr val="B8CDD5"/>
                </a:solidFill>
                <a:latin typeface="Aptos"/>
                <a:ea typeface="Aptos"/>
                <a:cs typeface="Aptos"/>
              </a:rPr>
              <a:t>SRAI  |  OS-A02</a:t>
            </a:r>
          </a:p>
        </p:txBody>
      </p:sp>
    </p:spTree>
    <p:extLst>
      <p:ext uri="{BB962C8B-B14F-4D97-AF65-F5344CB8AC3E}">
        <p14:creationId xmlns:p14="http://schemas.microsoft.com/office/powerpoint/2010/main" val="597392591"/>
      </p:ext>
    </p:extLst>
  </p:cSld>
</p:sld>
</file>

<file path=ppt/slides/slide21.xml><?xml version="1.0" encoding="utf-8"?>
<p:sld xmlns:p="http://schemas.openxmlformats.org/presentationml/2006/main">
  <p:cSld>
    <p:bg>
      <p:bgPr>
        <a:solidFill xmlns:a="http://schemas.openxmlformats.org/drawingml/2006/main">
          <a:srgbClr val="07182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A739FD1-923D-4725-8616-9ED63C4EB127}"/>
              </a:ext>
            </a:extLst>
          </p:cNvPr>
          <p:cNvSpPr>
            <a:spLocks xmlns:a="http://schemas.openxmlformats.org/drawingml/2006/main" noGrp="1"/>
          </p:cNvSpPr>
          <p:nvPr/>
        </p:nvSpPr>
        <p:spPr>
          <a:xfrm xmlns:a="http://schemas.openxmlformats.org/drawingml/2006/main">
            <a:off x="7239000" y="0"/>
            <a:ext cx="4953000" cy="6858000"/>
          </a:xfrm>
          <a:prstGeom xmlns:a="http://schemas.openxmlformats.org/drawingml/2006/main" prst="rect">
            <a:avLst/>
          </a:prstGeom>
          <a:solidFill xmlns:a="http://schemas.openxmlformats.org/drawingml/2006/main">
            <a:srgbClr val="0B263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684CE89-C257-45FC-BC96-3CFDE08FC414}"/>
              </a:ext>
            </a:extLst>
          </p:cNvPr>
          <p:cNvSpPr>
            <a:spLocks xmlns:a="http://schemas.openxmlformats.org/drawingml/2006/main" noGrp="1"/>
          </p:cNvSpPr>
          <p:nvPr/>
        </p:nvSpPr>
        <p:spPr>
          <a:xfrm xmlns:a="http://schemas.openxmlformats.org/drawingml/2006/main">
            <a:off x="495300" y="323850"/>
            <a:ext cx="647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900" b="1">
                <a:solidFill>
                  <a:srgbClr val="23C6C8"/>
                </a:solidFill>
                <a:latin typeface="Aptos"/>
                <a:ea typeface="Aptos"/>
                <a:cs typeface="Aptos"/>
              </a:defRPr>
            </a:pPr>
            <a:r>
              <a:rPr sz="900" b="1">
                <a:solidFill>
                  <a:srgbClr val="23C6C8"/>
                </a:solidFill>
                <a:latin typeface="Aptos"/>
                <a:ea typeface="Aptos"/>
                <a:cs typeface="Aptos"/>
              </a:rPr>
              <a:t>CHAPTER 18</a:t>
            </a:r>
          </a:p>
        </p:txBody>
      </p:sp>
      <p:sp>
        <p:nvSpPr>
          <p:cNvPr id="3" name="">
            <a:extLst xmlns:a="http://schemas.openxmlformats.org/drawingml/2006/main">
              <a:ext uri="{FF2B5EF4-FFF2-40B4-BE49-F238E27FC236}">
                <a16:creationId xmlns:a16="http://schemas.microsoft.com/office/drawing/2014/main" id="{4EA0BBD1-2B2F-4779-9134-4E61A51B75C5}"/>
              </a:ext>
            </a:extLst>
          </p:cNvPr>
          <p:cNvSpPr>
            <a:spLocks xmlns:a="http://schemas.openxmlformats.org/drawingml/2006/main" noGrp="1"/>
          </p:cNvSpPr>
          <p:nvPr/>
        </p:nvSpPr>
        <p:spPr>
          <a:xfrm xmlns:a="http://schemas.openxmlformats.org/drawingml/2006/main">
            <a:off x="495300" y="685800"/>
            <a:ext cx="666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400" b="1">
                <a:solidFill>
                  <a:srgbClr val="F7FAFC"/>
                </a:solidFill>
                <a:latin typeface="Aptos"/>
                <a:ea typeface="Aptos"/>
                <a:cs typeface="Aptos"/>
              </a:defRPr>
            </a:pPr>
            <a:r>
              <a:rPr sz="2400" b="1">
                <a:solidFill>
                  <a:srgbClr val="F7FAFC"/>
                </a:solidFill>
                <a:latin typeface="Aptos"/>
                <a:ea typeface="Aptos"/>
                <a:cs typeface="Aptos"/>
              </a:rPr>
              <a:t>Human oversight and stopping rules</a:t>
            </a:r>
          </a:p>
        </p:txBody>
      </p:sp>
      <p:sp>
        <p:nvSpPr>
          <p:cNvPr id="4" name="">
            <a:extLst xmlns:a="http://schemas.openxmlformats.org/drawingml/2006/main">
              <a:ext uri="{FF2B5EF4-FFF2-40B4-BE49-F238E27FC236}">
                <a16:creationId xmlns:a16="http://schemas.microsoft.com/office/drawing/2014/main" id="{FE2F3E3B-5BEF-43EC-9665-538A3AF90EC4}"/>
              </a:ext>
            </a:extLst>
          </p:cNvPr>
          <p:cNvSpPr>
            <a:spLocks xmlns:a="http://schemas.openxmlformats.org/drawingml/2006/main" noGrp="1"/>
          </p:cNvSpPr>
          <p:nvPr/>
        </p:nvSpPr>
        <p:spPr>
          <a:xfrm xmlns:a="http://schemas.openxmlformats.org/drawingml/2006/main">
            <a:off x="495300" y="1314450"/>
            <a:ext cx="2381250" cy="28575"/>
          </a:xfrm>
          <a:prstGeom xmlns:a="http://schemas.openxmlformats.org/drawingml/2006/main" prst="rect">
            <a:avLst/>
          </a:prstGeom>
          <a:solidFill xmlns:a="http://schemas.openxmlformats.org/drawingml/2006/main">
            <a:srgbClr val="D5AF4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B2B2EE4-D741-470C-BE7A-36CB4C2CC493}"/>
              </a:ext>
            </a:extLst>
          </p:cNvPr>
          <p:cNvSpPr>
            <a:spLocks xmlns:a="http://schemas.openxmlformats.org/drawingml/2006/main" noGrp="1"/>
          </p:cNvSpPr>
          <p:nvPr/>
        </p:nvSpPr>
        <p:spPr>
          <a:xfrm xmlns:a="http://schemas.openxmlformats.org/drawingml/2006/main">
            <a:off x="552450" y="1695450"/>
            <a:ext cx="619125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41300" indent="-127000">
              <a:spcAft>
                <a:spcPts val="1600"/>
              </a:spcAft>
              <a:buChar char="•"/>
              <a:defRPr sz="1650">
                <a:solidFill>
                  <a:srgbClr val="F7FAFC"/>
                </a:solidFill>
                <a:latin typeface="Aptos"/>
                <a:ea typeface="Aptos"/>
                <a:cs typeface="Aptos"/>
              </a:defRPr>
            </a:pPr>
            <a:r>
              <a:rPr sz="1650">
                <a:solidFill>
                  <a:srgbClr val="F7FAFC"/>
                </a:solidFill>
                <a:latin typeface="Aptos"/>
                <a:ea typeface="Aptos"/>
                <a:cs typeface="Aptos"/>
              </a:rPr>
              <a:t>Meaningful oversight requires competence, information, time and power to intervene</a:t>
            </a:r>
          </a:p>
          <a:p xmlns:a="http://schemas.openxmlformats.org/drawingml/2006/main">
            <a:pPr marL="241300" indent="-127000">
              <a:spcAft>
                <a:spcPts val="1600"/>
              </a:spcAft>
              <a:buChar char="•"/>
              <a:defRPr sz="1650">
                <a:solidFill>
                  <a:srgbClr val="F7FAFC"/>
                </a:solidFill>
                <a:latin typeface="Aptos"/>
                <a:ea typeface="Aptos"/>
                <a:cs typeface="Aptos"/>
              </a:defRPr>
            </a:pPr>
            <a:r>
              <a:rPr sz="1650">
                <a:solidFill>
                  <a:srgbClr val="F7FAFC"/>
                </a:solidFill>
                <a:latin typeface="Aptos"/>
                <a:ea typeface="Aptos"/>
                <a:cs typeface="Aptos"/>
              </a:rPr>
              <a:t>Stopping rules name the signal, threshold, owner, containment and restart conditions</a:t>
            </a:r>
          </a:p>
          <a:p xmlns:a="http://schemas.openxmlformats.org/drawingml/2006/main">
            <a:pPr marL="241300" indent="-127000">
              <a:spcAft>
                <a:spcPts val="1600"/>
              </a:spcAft>
              <a:buChar char="•"/>
              <a:defRPr sz="1650">
                <a:solidFill>
                  <a:srgbClr val="F7FAFC"/>
                </a:solidFill>
                <a:latin typeface="Aptos"/>
                <a:ea typeface="Aptos"/>
                <a:cs typeface="Aptos"/>
              </a:defRPr>
            </a:pPr>
            <a:r>
              <a:rPr sz="1650">
                <a:solidFill>
                  <a:srgbClr val="F7FAFC"/>
                </a:solidFill>
                <a:latin typeface="Aptos"/>
                <a:ea typeface="Aptos"/>
                <a:cs typeface="Aptos"/>
              </a:rPr>
              <a:t>Systems may propose or draft, but cannot acquire statistical or release authority</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fb6f0f0db6ee4eaa"/>
          <a:srcRect xmlns:a="http://schemas.openxmlformats.org/drawingml/2006/main" l="9969" t="0" r="9969" b="0"/>
          <a:stretch xmlns:a="http://schemas.openxmlformats.org/drawingml/2006/main">
            <a:fillRect l="0" t="0" r="0" b="0"/>
          </a:stretch>
        </p:blipFill>
        <p:spPr>
          <a:xfrm xmlns:a="http://schemas.openxmlformats.org/drawingml/2006/main">
            <a:off x="7486650" y="1257300"/>
            <a:ext cx="4171950" cy="4800600"/>
          </a:xfrm>
          <a:prstGeom xmlns:a="http://schemas.openxmlformats.org/drawingml/2006/main" prst="roundRect">
            <a:avLst>
              <a:gd name="adj" fmla="val 5479"/>
            </a:avLst>
          </a:prstGeom>
        </p:spPr>
      </p:pic>
      <p:sp>
        <p:nvSpPr>
          <p:cNvPr id="7" name="">
            <a:extLst xmlns:a="http://schemas.openxmlformats.org/drawingml/2006/main">
              <a:ext uri="{FF2B5EF4-FFF2-40B4-BE49-F238E27FC236}">
                <a16:creationId xmlns:a16="http://schemas.microsoft.com/office/drawing/2014/main" id="{41836343-BECB-4049-9CC4-01B87C605DBD}"/>
              </a:ext>
            </a:extLst>
          </p:cNvPr>
          <p:cNvSpPr>
            <a:spLocks xmlns:a="http://schemas.openxmlformats.org/drawingml/2006/main" noGrp="1"/>
          </p:cNvSpPr>
          <p:nvPr/>
        </p:nvSpPr>
        <p:spPr>
          <a:xfrm xmlns:a="http://schemas.openxmlformats.org/drawingml/2006/main">
            <a:off x="11353800" y="6400800"/>
            <a:ext cx="4000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buNone/>
              <a:defRPr sz="750" b="1">
                <a:solidFill>
                  <a:srgbClr val="B8CDD5"/>
                </a:solidFill>
                <a:latin typeface="Aptos"/>
                <a:ea typeface="Aptos"/>
                <a:cs typeface="Aptos"/>
              </a:defRPr>
            </a:pPr>
            <a:r>
              <a:rPr sz="750" b="1">
                <a:solidFill>
                  <a:srgbClr val="B8CDD5"/>
                </a:solidFill>
                <a:latin typeface="Aptos"/>
                <a:ea typeface="Aptos"/>
                <a:cs typeface="Aptos"/>
              </a:rPr>
              <a:t>20</a:t>
            </a:r>
          </a:p>
        </p:txBody>
      </p:sp>
      <p:sp>
        <p:nvSpPr>
          <p:cNvPr id="8" name="">
            <a:extLst xmlns:a="http://schemas.openxmlformats.org/drawingml/2006/main">
              <a:ext uri="{FF2B5EF4-FFF2-40B4-BE49-F238E27FC236}">
                <a16:creationId xmlns:a16="http://schemas.microsoft.com/office/drawing/2014/main" id="{05617477-F676-45F7-AEE3-A293C5445CA4}"/>
              </a:ext>
            </a:extLst>
          </p:cNvPr>
          <p:cNvSpPr>
            <a:spLocks xmlns:a="http://schemas.openxmlformats.org/drawingml/2006/main" noGrp="1"/>
          </p:cNvSpPr>
          <p:nvPr/>
        </p:nvSpPr>
        <p:spPr>
          <a:xfrm xmlns:a="http://schemas.openxmlformats.org/drawingml/2006/main">
            <a:off x="495300" y="6400800"/>
            <a:ext cx="1524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buNone/>
              <a:defRPr sz="750" b="0">
                <a:solidFill>
                  <a:srgbClr val="B8CDD5"/>
                </a:solidFill>
                <a:latin typeface="Aptos"/>
                <a:ea typeface="Aptos"/>
                <a:cs typeface="Aptos"/>
              </a:defRPr>
            </a:pPr>
            <a:r>
              <a:rPr sz="750" b="0">
                <a:solidFill>
                  <a:srgbClr val="B8CDD5"/>
                </a:solidFill>
                <a:latin typeface="Aptos"/>
                <a:ea typeface="Aptos"/>
                <a:cs typeface="Aptos"/>
              </a:rPr>
              <a:t>SRAI  |  OS-A02</a:t>
            </a:r>
          </a:p>
        </p:txBody>
      </p:sp>
    </p:spTree>
    <p:extLst>
      <p:ext uri="{BB962C8B-B14F-4D97-AF65-F5344CB8AC3E}">
        <p14:creationId xmlns:p14="http://schemas.microsoft.com/office/powerpoint/2010/main" val="902672688"/>
      </p:ext>
    </p:extLst>
  </p:cSld>
</p:sld>
</file>

<file path=ppt/slides/slide22.xml><?xml version="1.0" encoding="utf-8"?>
<p:sld xmlns:p="http://schemas.openxmlformats.org/presentationml/2006/main">
  <p:cSld>
    <p:bg>
      <p:bgPr>
        <a:solidFill xmlns:a="http://schemas.openxmlformats.org/drawingml/2006/main">
          <a:srgbClr val="071827"/>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0730FF6-93F5-4B46-804E-95DFE5D5096C}"/>
              </a:ext>
            </a:extLst>
          </p:cNvPr>
          <p:cNvSpPr>
            <a:spLocks xmlns:a="http://schemas.openxmlformats.org/drawingml/2006/main" noGrp="1"/>
          </p:cNvSpPr>
          <p:nvPr/>
        </p:nvSpPr>
        <p:spPr>
          <a:xfrm xmlns:a="http://schemas.openxmlformats.org/drawingml/2006/main">
            <a:off x="7239000" y="0"/>
            <a:ext cx="4953000" cy="6858000"/>
          </a:xfrm>
          <a:prstGeom xmlns:a="http://schemas.openxmlformats.org/drawingml/2006/main" prst="rect">
            <a:avLst/>
          </a:prstGeom>
          <a:solidFill xmlns:a="http://schemas.openxmlformats.org/drawingml/2006/main">
            <a:srgbClr val="0B263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6294C11-39AD-4C2C-B0B2-5C805A101E96}"/>
              </a:ext>
            </a:extLst>
          </p:cNvPr>
          <p:cNvSpPr>
            <a:spLocks xmlns:a="http://schemas.openxmlformats.org/drawingml/2006/main" noGrp="1"/>
          </p:cNvSpPr>
          <p:nvPr/>
        </p:nvSpPr>
        <p:spPr>
          <a:xfrm xmlns:a="http://schemas.openxmlformats.org/drawingml/2006/main">
            <a:off x="495300" y="323850"/>
            <a:ext cx="647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900" b="1">
                <a:solidFill>
                  <a:srgbClr val="23C6C8"/>
                </a:solidFill>
                <a:latin typeface="Aptos"/>
                <a:ea typeface="Aptos"/>
                <a:cs typeface="Aptos"/>
              </a:defRPr>
            </a:pPr>
            <a:r>
              <a:rPr sz="900" b="1">
                <a:solidFill>
                  <a:srgbClr val="23C6C8"/>
                </a:solidFill>
                <a:latin typeface="Aptos"/>
                <a:ea typeface="Aptos"/>
                <a:cs typeface="Aptos"/>
              </a:rPr>
              <a:t>CHAPTER 19</a:t>
            </a:r>
          </a:p>
        </p:txBody>
      </p:sp>
      <p:sp>
        <p:nvSpPr>
          <p:cNvPr id="3" name="">
            <a:extLst xmlns:a="http://schemas.openxmlformats.org/drawingml/2006/main">
              <a:ext uri="{FF2B5EF4-FFF2-40B4-BE49-F238E27FC236}">
                <a16:creationId xmlns:a16="http://schemas.microsoft.com/office/drawing/2014/main" id="{255C367A-46F3-4A6E-910A-96AD159FA1B2}"/>
              </a:ext>
            </a:extLst>
          </p:cNvPr>
          <p:cNvSpPr>
            <a:spLocks xmlns:a="http://schemas.openxmlformats.org/drawingml/2006/main" noGrp="1"/>
          </p:cNvSpPr>
          <p:nvPr/>
        </p:nvSpPr>
        <p:spPr>
          <a:xfrm xmlns:a="http://schemas.openxmlformats.org/drawingml/2006/main">
            <a:off x="495300" y="685800"/>
            <a:ext cx="666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400" b="1">
                <a:solidFill>
                  <a:srgbClr val="F7FAFC"/>
                </a:solidFill>
                <a:latin typeface="Aptos"/>
                <a:ea typeface="Aptos"/>
                <a:cs typeface="Aptos"/>
              </a:defRPr>
            </a:pPr>
            <a:r>
              <a:rPr sz="2400" b="1">
                <a:solidFill>
                  <a:srgbClr val="F7FAFC"/>
                </a:solidFill>
                <a:latin typeface="Aptos"/>
                <a:ea typeface="Aptos"/>
                <a:cs typeface="Aptos"/>
              </a:rPr>
              <a:t>Kintaba cases across the value chain</a:t>
            </a:r>
          </a:p>
        </p:txBody>
      </p:sp>
      <p:sp>
        <p:nvSpPr>
          <p:cNvPr id="4" name="">
            <a:extLst xmlns:a="http://schemas.openxmlformats.org/drawingml/2006/main">
              <a:ext uri="{FF2B5EF4-FFF2-40B4-BE49-F238E27FC236}">
                <a16:creationId xmlns:a16="http://schemas.microsoft.com/office/drawing/2014/main" id="{9834F179-BB20-4639-8A96-E58FABBE675A}"/>
              </a:ext>
            </a:extLst>
          </p:cNvPr>
          <p:cNvSpPr>
            <a:spLocks xmlns:a="http://schemas.openxmlformats.org/drawingml/2006/main" noGrp="1"/>
          </p:cNvSpPr>
          <p:nvPr/>
        </p:nvSpPr>
        <p:spPr>
          <a:xfrm xmlns:a="http://schemas.openxmlformats.org/drawingml/2006/main">
            <a:off x="495300" y="1314450"/>
            <a:ext cx="2381250" cy="28575"/>
          </a:xfrm>
          <a:prstGeom xmlns:a="http://schemas.openxmlformats.org/drawingml/2006/main" prst="rect">
            <a:avLst/>
          </a:prstGeom>
          <a:solidFill xmlns:a="http://schemas.openxmlformats.org/drawingml/2006/main">
            <a:srgbClr val="D5AF4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9B796D9-21A5-46EF-A16A-3E4B24648BF9}"/>
              </a:ext>
            </a:extLst>
          </p:cNvPr>
          <p:cNvSpPr>
            <a:spLocks xmlns:a="http://schemas.openxmlformats.org/drawingml/2006/main" noGrp="1"/>
          </p:cNvSpPr>
          <p:nvPr/>
        </p:nvSpPr>
        <p:spPr>
          <a:xfrm xmlns:a="http://schemas.openxmlformats.org/drawingml/2006/main">
            <a:off x="552450" y="1695450"/>
            <a:ext cx="619125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41300" indent="-127000">
              <a:spcAft>
                <a:spcPts val="1600"/>
              </a:spcAft>
              <a:buChar char="•"/>
              <a:defRPr sz="1650">
                <a:solidFill>
                  <a:srgbClr val="F7FAFC"/>
                </a:solidFill>
                <a:latin typeface="Aptos"/>
                <a:ea typeface="Aptos"/>
                <a:cs typeface="Aptos"/>
              </a:defRPr>
            </a:pPr>
            <a:r>
              <a:rPr sz="1650">
                <a:solidFill>
                  <a:srgbClr val="F7FAFC"/>
                </a:solidFill>
                <a:latin typeface="Aptos"/>
                <a:ea typeface="Aptos"/>
                <a:cs typeface="Aptos"/>
              </a:rPr>
              <a:t>Cases compare coding, linkage, crop estimation, drafting and public query support</a:t>
            </a:r>
          </a:p>
          <a:p xmlns:a="http://schemas.openxmlformats.org/drawingml/2006/main">
            <a:pPr marL="241300" indent="-127000">
              <a:spcAft>
                <a:spcPts val="1600"/>
              </a:spcAft>
              <a:buChar char="•"/>
              <a:defRPr sz="1650">
                <a:solidFill>
                  <a:srgbClr val="F7FAFC"/>
                </a:solidFill>
                <a:latin typeface="Aptos"/>
                <a:ea typeface="Aptos"/>
                <a:cs typeface="Aptos"/>
              </a:defRPr>
            </a:pPr>
            <a:r>
              <a:rPr sz="1650">
                <a:solidFill>
                  <a:srgbClr val="F7FAFC"/>
                </a:solidFill>
                <a:latin typeface="Aptos"/>
                <a:ea typeface="Aptos"/>
                <a:cs typeface="Aptos"/>
              </a:rPr>
              <a:t>Each dossier records evidence, tolerances, uncertainty, controls and owner</a:t>
            </a:r>
          </a:p>
          <a:p xmlns:a="http://schemas.openxmlformats.org/drawingml/2006/main">
            <a:pPr marL="241300" indent="-127000">
              <a:spcAft>
                <a:spcPts val="1600"/>
              </a:spcAft>
              <a:buChar char="•"/>
              <a:defRPr sz="1650">
                <a:solidFill>
                  <a:srgbClr val="F7FAFC"/>
                </a:solidFill>
                <a:latin typeface="Aptos"/>
                <a:ea typeface="Aptos"/>
                <a:cs typeface="Aptos"/>
              </a:defRPr>
            </a:pPr>
            <a:r>
              <a:rPr sz="1650">
                <a:solidFill>
                  <a:srgbClr val="F7FAFC"/>
                </a:solidFill>
                <a:latin typeface="Aptos"/>
                <a:ea typeface="Aptos"/>
                <a:cs typeface="Aptos"/>
              </a:rPr>
              <a:t>Strong aggregate results cannot compensate for a failed mandatory gate</a:t>
            </a:r>
          </a:p>
        </p:txBody>
      </p:sp>
      <p:graphicFrame>
        <p:nvGraphicFramePr>
          <p:cNvPr id="17" name="Chart"/>
          <p:cNvGraphicFramePr/>
          <p:nvPr/>
        </p:nvGraphicFramePr>
        <p:xfrm>
          <a:off xmlns:a="http://schemas.openxmlformats.org/drawingml/2006/main" x="7524750" y="1524000"/>
          <a:ext xmlns:a="http://schemas.openxmlformats.org/drawingml/2006/main" cx="4000500" cy="4095750"/>
        </p:xfrm>
        <a:graphic xmlns:a="http://schemas.openxmlformats.org/drawingml/2006/main">
          <a:graphicData uri="http://schemas.openxmlformats.org/drawingml/2006/chart">
            <c:chart xmlns:r="http://schemas.openxmlformats.org/officeDocument/2006/relationships" xmlns:c="http://schemas.openxmlformats.org/drawingml/2006/chart" r:id="R55ed09fb67274560"/>
          </a:graphicData>
        </a:graphic>
      </p:graphicFrame>
      <p:sp>
        <p:nvSpPr>
          <p:cNvPr id="7" name="">
            <a:extLst xmlns:a="http://schemas.openxmlformats.org/drawingml/2006/main">
              <a:ext uri="{FF2B5EF4-FFF2-40B4-BE49-F238E27FC236}">
                <a16:creationId xmlns:a16="http://schemas.microsoft.com/office/drawing/2014/main" id="{79BE652B-D701-4B6B-9D18-2B9B58C95C2F}"/>
              </a:ext>
            </a:extLst>
          </p:cNvPr>
          <p:cNvSpPr>
            <a:spLocks xmlns:a="http://schemas.openxmlformats.org/drawingml/2006/main" noGrp="1"/>
          </p:cNvSpPr>
          <p:nvPr/>
        </p:nvSpPr>
        <p:spPr>
          <a:xfrm xmlns:a="http://schemas.openxmlformats.org/drawingml/2006/main">
            <a:off x="7810500" y="5715000"/>
            <a:ext cx="342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buNone/>
              <a:defRPr sz="1050" b="1">
                <a:solidFill>
                  <a:srgbClr val="D5AF4F"/>
                </a:solidFill>
                <a:latin typeface="Aptos"/>
                <a:ea typeface="Aptos"/>
                <a:cs typeface="Aptos"/>
              </a:defRPr>
            </a:pPr>
            <a:r>
              <a:rPr sz="1050" b="1">
                <a:solidFill>
                  <a:srgbClr val="D5AF4F"/>
                </a:solidFill>
                <a:latin typeface="Aptos"/>
                <a:ea typeface="Aptos"/>
                <a:cs typeface="Aptos"/>
              </a:rPr>
              <a:t>Selected Kintaba evidence (%)</a:t>
            </a:r>
          </a:p>
        </p:txBody>
      </p:sp>
      <p:sp>
        <p:nvSpPr>
          <p:cNvPr id="8" name="">
            <a:extLst xmlns:a="http://schemas.openxmlformats.org/drawingml/2006/main">
              <a:ext uri="{FF2B5EF4-FFF2-40B4-BE49-F238E27FC236}">
                <a16:creationId xmlns:a16="http://schemas.microsoft.com/office/drawing/2014/main" id="{FF472E59-39A0-4586-81B4-45DFA79876D5}"/>
              </a:ext>
            </a:extLst>
          </p:cNvPr>
          <p:cNvSpPr>
            <a:spLocks xmlns:a="http://schemas.openxmlformats.org/drawingml/2006/main" noGrp="1"/>
          </p:cNvSpPr>
          <p:nvPr/>
        </p:nvSpPr>
        <p:spPr>
          <a:xfrm xmlns:a="http://schemas.openxmlformats.org/drawingml/2006/main">
            <a:off x="11353800" y="6400800"/>
            <a:ext cx="4000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buNone/>
              <a:defRPr sz="750" b="1">
                <a:solidFill>
                  <a:srgbClr val="B8CDD5"/>
                </a:solidFill>
                <a:latin typeface="Aptos"/>
                <a:ea typeface="Aptos"/>
                <a:cs typeface="Aptos"/>
              </a:defRPr>
            </a:pPr>
            <a:r>
              <a:rPr sz="750" b="1">
                <a:solidFill>
                  <a:srgbClr val="B8CDD5"/>
                </a:solidFill>
                <a:latin typeface="Aptos"/>
                <a:ea typeface="Aptos"/>
                <a:cs typeface="Aptos"/>
              </a:rPr>
              <a:t>21</a:t>
            </a:r>
          </a:p>
        </p:txBody>
      </p:sp>
      <p:sp>
        <p:nvSpPr>
          <p:cNvPr id="9" name="">
            <a:extLst xmlns:a="http://schemas.openxmlformats.org/drawingml/2006/main">
              <a:ext uri="{FF2B5EF4-FFF2-40B4-BE49-F238E27FC236}">
                <a16:creationId xmlns:a16="http://schemas.microsoft.com/office/drawing/2014/main" id="{130D01AC-219D-43E7-9DCE-40729DA7B568}"/>
              </a:ext>
            </a:extLst>
          </p:cNvPr>
          <p:cNvSpPr>
            <a:spLocks xmlns:a="http://schemas.openxmlformats.org/drawingml/2006/main" noGrp="1"/>
          </p:cNvSpPr>
          <p:nvPr/>
        </p:nvSpPr>
        <p:spPr>
          <a:xfrm xmlns:a="http://schemas.openxmlformats.org/drawingml/2006/main">
            <a:off x="495300" y="6400800"/>
            <a:ext cx="1524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buNone/>
              <a:defRPr sz="750" b="0">
                <a:solidFill>
                  <a:srgbClr val="B8CDD5"/>
                </a:solidFill>
                <a:latin typeface="Aptos"/>
                <a:ea typeface="Aptos"/>
                <a:cs typeface="Aptos"/>
              </a:defRPr>
            </a:pPr>
            <a:r>
              <a:rPr sz="750" b="0">
                <a:solidFill>
                  <a:srgbClr val="B8CDD5"/>
                </a:solidFill>
                <a:latin typeface="Aptos"/>
                <a:ea typeface="Aptos"/>
                <a:cs typeface="Aptos"/>
              </a:rPr>
              <a:t>SRAI  |  OS-A02</a:t>
            </a:r>
          </a:p>
        </p:txBody>
      </p:sp>
    </p:spTree>
    <p:extLst>
      <p:ext uri="{BB962C8B-B14F-4D97-AF65-F5344CB8AC3E}">
        <p14:creationId xmlns:p14="http://schemas.microsoft.com/office/powerpoint/2010/main" val="1756233725"/>
      </p:ext>
    </p:extLst>
  </p:cSld>
</p:sld>
</file>

<file path=ppt/slides/slide23.xml><?xml version="1.0" encoding="utf-8"?>
<p:sld xmlns:p="http://schemas.openxmlformats.org/presentationml/2006/main">
  <p:cSld>
    <p:bg>
      <p:bgPr>
        <a:solidFill xmlns:a="http://schemas.openxmlformats.org/drawingml/2006/main">
          <a:srgbClr val="07182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D414E8D-2379-4FDD-9E5F-7F3AF14AD045}"/>
              </a:ext>
            </a:extLst>
          </p:cNvPr>
          <p:cNvSpPr>
            <a:spLocks xmlns:a="http://schemas.openxmlformats.org/drawingml/2006/main" noGrp="1"/>
          </p:cNvSpPr>
          <p:nvPr/>
        </p:nvSpPr>
        <p:spPr>
          <a:xfrm xmlns:a="http://schemas.openxmlformats.org/drawingml/2006/main">
            <a:off x="7239000" y="0"/>
            <a:ext cx="4953000" cy="6858000"/>
          </a:xfrm>
          <a:prstGeom xmlns:a="http://schemas.openxmlformats.org/drawingml/2006/main" prst="rect">
            <a:avLst/>
          </a:prstGeom>
          <a:solidFill xmlns:a="http://schemas.openxmlformats.org/drawingml/2006/main">
            <a:srgbClr val="0B263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9AD5752-02E6-4091-AF6C-6A14778D3D1C}"/>
              </a:ext>
            </a:extLst>
          </p:cNvPr>
          <p:cNvSpPr>
            <a:spLocks xmlns:a="http://schemas.openxmlformats.org/drawingml/2006/main" noGrp="1"/>
          </p:cNvSpPr>
          <p:nvPr/>
        </p:nvSpPr>
        <p:spPr>
          <a:xfrm xmlns:a="http://schemas.openxmlformats.org/drawingml/2006/main">
            <a:off x="495300" y="323850"/>
            <a:ext cx="647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900" b="1">
                <a:solidFill>
                  <a:srgbClr val="23C6C8"/>
                </a:solidFill>
                <a:latin typeface="Aptos"/>
                <a:ea typeface="Aptos"/>
                <a:cs typeface="Aptos"/>
              </a:defRPr>
            </a:pPr>
            <a:r>
              <a:rPr sz="900" b="1">
                <a:solidFill>
                  <a:srgbClr val="23C6C8"/>
                </a:solidFill>
                <a:latin typeface="Aptos"/>
                <a:ea typeface="Aptos"/>
                <a:cs typeface="Aptos"/>
              </a:rPr>
              <a:t>CHAPTER 20</a:t>
            </a:r>
          </a:p>
        </p:txBody>
      </p:sp>
      <p:sp>
        <p:nvSpPr>
          <p:cNvPr id="3" name="">
            <a:extLst xmlns:a="http://schemas.openxmlformats.org/drawingml/2006/main">
              <a:ext uri="{FF2B5EF4-FFF2-40B4-BE49-F238E27FC236}">
                <a16:creationId xmlns:a16="http://schemas.microsoft.com/office/drawing/2014/main" id="{00722925-3603-4F8F-948E-09CFADA502DD}"/>
              </a:ext>
            </a:extLst>
          </p:cNvPr>
          <p:cNvSpPr>
            <a:spLocks xmlns:a="http://schemas.openxmlformats.org/drawingml/2006/main" noGrp="1"/>
          </p:cNvSpPr>
          <p:nvPr/>
        </p:nvSpPr>
        <p:spPr>
          <a:xfrm xmlns:a="http://schemas.openxmlformats.org/drawingml/2006/main">
            <a:off x="495300" y="685800"/>
            <a:ext cx="666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9939"/>
          </a:bodyPr>
          <a:lstStyle xmlns:a="http://schemas.openxmlformats.org/drawingml/2006/main"/>
          <a:p xmlns:a="http://schemas.openxmlformats.org/drawingml/2006/main">
            <a:pPr>
              <a:buNone/>
              <a:defRPr sz="2400" b="1">
                <a:solidFill>
                  <a:srgbClr val="F7FAFC"/>
                </a:solidFill>
                <a:latin typeface="Aptos"/>
                <a:ea typeface="Aptos"/>
                <a:cs typeface="Aptos"/>
              </a:defRPr>
            </a:pPr>
            <a:r>
              <a:rPr sz="2400" b="1">
                <a:solidFill>
                  <a:srgbClr val="F7FAFC"/>
                </a:solidFill>
                <a:latin typeface="Aptos"/>
                <a:ea typeface="Aptos"/>
                <a:cs typeface="Aptos"/>
              </a:rPr>
              <a:t>Technology selection and proportional assurance</a:t>
            </a:r>
          </a:p>
        </p:txBody>
      </p:sp>
      <p:sp>
        <p:nvSpPr>
          <p:cNvPr id="4" name="">
            <a:extLst xmlns:a="http://schemas.openxmlformats.org/drawingml/2006/main">
              <a:ext uri="{FF2B5EF4-FFF2-40B4-BE49-F238E27FC236}">
                <a16:creationId xmlns:a16="http://schemas.microsoft.com/office/drawing/2014/main" id="{BDD5CDEA-9B2D-42D3-A068-8A70D37BE008}"/>
              </a:ext>
            </a:extLst>
          </p:cNvPr>
          <p:cNvSpPr>
            <a:spLocks xmlns:a="http://schemas.openxmlformats.org/drawingml/2006/main" noGrp="1"/>
          </p:cNvSpPr>
          <p:nvPr/>
        </p:nvSpPr>
        <p:spPr>
          <a:xfrm xmlns:a="http://schemas.openxmlformats.org/drawingml/2006/main">
            <a:off x="495300" y="1314450"/>
            <a:ext cx="2381250" cy="28575"/>
          </a:xfrm>
          <a:prstGeom xmlns:a="http://schemas.openxmlformats.org/drawingml/2006/main" prst="rect">
            <a:avLst/>
          </a:prstGeom>
          <a:solidFill xmlns:a="http://schemas.openxmlformats.org/drawingml/2006/main">
            <a:srgbClr val="D5AF4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C03003D-E621-47DC-875E-62D9C3732E3C}"/>
              </a:ext>
            </a:extLst>
          </p:cNvPr>
          <p:cNvSpPr>
            <a:spLocks xmlns:a="http://schemas.openxmlformats.org/drawingml/2006/main" noGrp="1"/>
          </p:cNvSpPr>
          <p:nvPr/>
        </p:nvSpPr>
        <p:spPr>
          <a:xfrm xmlns:a="http://schemas.openxmlformats.org/drawingml/2006/main">
            <a:off x="552450" y="1695450"/>
            <a:ext cx="619125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41300" indent="-127000">
              <a:spcAft>
                <a:spcPts val="1600"/>
              </a:spcAft>
              <a:buChar char="•"/>
              <a:defRPr sz="1650">
                <a:solidFill>
                  <a:srgbClr val="F7FAFC"/>
                </a:solidFill>
                <a:latin typeface="Aptos"/>
                <a:ea typeface="Aptos"/>
                <a:cs typeface="Aptos"/>
              </a:defRPr>
            </a:pPr>
            <a:r>
              <a:rPr sz="1650">
                <a:solidFill>
                  <a:srgbClr val="F7FAFC"/>
                </a:solidFill>
                <a:latin typeface="Aptos"/>
                <a:ea typeface="Aptos"/>
                <a:cs typeface="Aptos"/>
              </a:rPr>
              <a:t>Compare manual, rule-based, statistical, machine-learning and hybrid alternatives</a:t>
            </a:r>
          </a:p>
          <a:p xmlns:a="http://schemas.openxmlformats.org/drawingml/2006/main">
            <a:pPr marL="241300" indent="-127000">
              <a:spcAft>
                <a:spcPts val="1600"/>
              </a:spcAft>
              <a:buChar char="•"/>
              <a:defRPr sz="1650">
                <a:solidFill>
                  <a:srgbClr val="F7FAFC"/>
                </a:solidFill>
                <a:latin typeface="Aptos"/>
                <a:ea typeface="Aptos"/>
                <a:cs typeface="Aptos"/>
              </a:defRPr>
            </a:pPr>
            <a:r>
              <a:rPr sz="1650">
                <a:solidFill>
                  <a:srgbClr val="F7FAFC"/>
                </a:solidFill>
                <a:latin typeface="Aptos"/>
                <a:ea typeface="Aptos"/>
                <a:cs typeface="Aptos"/>
              </a:rPr>
              <a:t>Assess validity, total effort, subgroup results, reversibility and supplier dependence</a:t>
            </a:r>
          </a:p>
          <a:p xmlns:a="http://schemas.openxmlformats.org/drawingml/2006/main">
            <a:pPr marL="241300" indent="-127000">
              <a:spcAft>
                <a:spcPts val="1600"/>
              </a:spcAft>
              <a:buChar char="•"/>
              <a:defRPr sz="1650">
                <a:solidFill>
                  <a:srgbClr val="F7FAFC"/>
                </a:solidFill>
                <a:latin typeface="Aptos"/>
                <a:ea typeface="Aptos"/>
                <a:cs typeface="Aptos"/>
              </a:defRPr>
            </a:pPr>
            <a:r>
              <a:rPr sz="1650">
                <a:solidFill>
                  <a:srgbClr val="F7FAFC"/>
                </a:solidFill>
                <a:latin typeface="Aptos"/>
                <a:ea typeface="Aptos"/>
                <a:cs typeface="Aptos"/>
              </a:rPr>
              <a:t>Increase assurance with consequence, uncertainty, irreversibility and scale</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06ea852e002747d2"/>
          <a:srcRect xmlns:a="http://schemas.openxmlformats.org/drawingml/2006/main" l="3054" t="0" r="3054" b="0"/>
          <a:stretch xmlns:a="http://schemas.openxmlformats.org/drawingml/2006/main">
            <a:fillRect l="0" t="0" r="0" b="0"/>
          </a:stretch>
        </p:blipFill>
        <p:spPr>
          <a:xfrm xmlns:a="http://schemas.openxmlformats.org/drawingml/2006/main">
            <a:off x="7486650" y="1257300"/>
            <a:ext cx="4171950" cy="4800600"/>
          </a:xfrm>
          <a:prstGeom xmlns:a="http://schemas.openxmlformats.org/drawingml/2006/main" prst="roundRect">
            <a:avLst>
              <a:gd name="adj" fmla="val 5479"/>
            </a:avLst>
          </a:prstGeom>
        </p:spPr>
      </p:pic>
      <p:sp>
        <p:nvSpPr>
          <p:cNvPr id="7" name="">
            <a:extLst xmlns:a="http://schemas.openxmlformats.org/drawingml/2006/main">
              <a:ext uri="{FF2B5EF4-FFF2-40B4-BE49-F238E27FC236}">
                <a16:creationId xmlns:a16="http://schemas.microsoft.com/office/drawing/2014/main" id="{307573C9-1CC4-4463-923B-07691E12758B}"/>
              </a:ext>
            </a:extLst>
          </p:cNvPr>
          <p:cNvSpPr>
            <a:spLocks xmlns:a="http://schemas.openxmlformats.org/drawingml/2006/main" noGrp="1"/>
          </p:cNvSpPr>
          <p:nvPr/>
        </p:nvSpPr>
        <p:spPr>
          <a:xfrm xmlns:a="http://schemas.openxmlformats.org/drawingml/2006/main">
            <a:off x="11353800" y="6400800"/>
            <a:ext cx="4000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buNone/>
              <a:defRPr sz="750" b="1">
                <a:solidFill>
                  <a:srgbClr val="B8CDD5"/>
                </a:solidFill>
                <a:latin typeface="Aptos"/>
                <a:ea typeface="Aptos"/>
                <a:cs typeface="Aptos"/>
              </a:defRPr>
            </a:pPr>
            <a:r>
              <a:rPr sz="750" b="1">
                <a:solidFill>
                  <a:srgbClr val="B8CDD5"/>
                </a:solidFill>
                <a:latin typeface="Aptos"/>
                <a:ea typeface="Aptos"/>
                <a:cs typeface="Aptos"/>
              </a:rPr>
              <a:t>22</a:t>
            </a:r>
          </a:p>
        </p:txBody>
      </p:sp>
      <p:sp>
        <p:nvSpPr>
          <p:cNvPr id="8" name="">
            <a:extLst xmlns:a="http://schemas.openxmlformats.org/drawingml/2006/main">
              <a:ext uri="{FF2B5EF4-FFF2-40B4-BE49-F238E27FC236}">
                <a16:creationId xmlns:a16="http://schemas.microsoft.com/office/drawing/2014/main" id="{5C001B0C-CCF9-443B-87A5-73AF01723847}"/>
              </a:ext>
            </a:extLst>
          </p:cNvPr>
          <p:cNvSpPr>
            <a:spLocks xmlns:a="http://schemas.openxmlformats.org/drawingml/2006/main" noGrp="1"/>
          </p:cNvSpPr>
          <p:nvPr/>
        </p:nvSpPr>
        <p:spPr>
          <a:xfrm xmlns:a="http://schemas.openxmlformats.org/drawingml/2006/main">
            <a:off x="495300" y="6400800"/>
            <a:ext cx="1524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buNone/>
              <a:defRPr sz="750" b="0">
                <a:solidFill>
                  <a:srgbClr val="B8CDD5"/>
                </a:solidFill>
                <a:latin typeface="Aptos"/>
                <a:ea typeface="Aptos"/>
                <a:cs typeface="Aptos"/>
              </a:defRPr>
            </a:pPr>
            <a:r>
              <a:rPr sz="750" b="0">
                <a:solidFill>
                  <a:srgbClr val="B8CDD5"/>
                </a:solidFill>
                <a:latin typeface="Aptos"/>
                <a:ea typeface="Aptos"/>
                <a:cs typeface="Aptos"/>
              </a:rPr>
              <a:t>SRAI  |  OS-A02</a:t>
            </a:r>
          </a:p>
        </p:txBody>
      </p:sp>
    </p:spTree>
    <p:extLst>
      <p:ext uri="{BB962C8B-B14F-4D97-AF65-F5344CB8AC3E}">
        <p14:creationId xmlns:p14="http://schemas.microsoft.com/office/powerpoint/2010/main" val="946035913"/>
      </p:ext>
    </p:extLst>
  </p:cSld>
</p:sld>
</file>

<file path=ppt/slides/slide24.xml><?xml version="1.0" encoding="utf-8"?>
<p:sld xmlns:p="http://schemas.openxmlformats.org/presentationml/2006/main">
  <p:cSld>
    <p:bg>
      <p:bgPr>
        <a:solidFill xmlns:a="http://schemas.openxmlformats.org/drawingml/2006/main">
          <a:srgbClr val="07182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F387339-784A-483D-8DF4-120B8601A30A}"/>
              </a:ext>
            </a:extLst>
          </p:cNvPr>
          <p:cNvSpPr>
            <a:spLocks xmlns:a="http://schemas.openxmlformats.org/drawingml/2006/main" noGrp="1"/>
          </p:cNvSpPr>
          <p:nvPr/>
        </p:nvSpPr>
        <p:spPr>
          <a:xfrm xmlns:a="http://schemas.openxmlformats.org/drawingml/2006/main">
            <a:off x="7239000" y="0"/>
            <a:ext cx="4953000" cy="6858000"/>
          </a:xfrm>
          <a:prstGeom xmlns:a="http://schemas.openxmlformats.org/drawingml/2006/main" prst="rect">
            <a:avLst/>
          </a:prstGeom>
          <a:solidFill xmlns:a="http://schemas.openxmlformats.org/drawingml/2006/main">
            <a:srgbClr val="0B263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718C245-8783-4B56-8676-4702B4345321}"/>
              </a:ext>
            </a:extLst>
          </p:cNvPr>
          <p:cNvSpPr>
            <a:spLocks xmlns:a="http://schemas.openxmlformats.org/drawingml/2006/main" noGrp="1"/>
          </p:cNvSpPr>
          <p:nvPr/>
        </p:nvSpPr>
        <p:spPr>
          <a:xfrm xmlns:a="http://schemas.openxmlformats.org/drawingml/2006/main">
            <a:off x="495300" y="323850"/>
            <a:ext cx="647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900" b="1">
                <a:solidFill>
                  <a:srgbClr val="23C6C8"/>
                </a:solidFill>
                <a:latin typeface="Aptos"/>
                <a:ea typeface="Aptos"/>
                <a:cs typeface="Aptos"/>
              </a:defRPr>
            </a:pPr>
            <a:r>
              <a:rPr sz="900" b="1">
                <a:solidFill>
                  <a:srgbClr val="23C6C8"/>
                </a:solidFill>
                <a:latin typeface="Aptos"/>
                <a:ea typeface="Aptos"/>
                <a:cs typeface="Aptos"/>
              </a:rPr>
              <a:t>CHAPTER 21</a:t>
            </a:r>
          </a:p>
        </p:txBody>
      </p:sp>
      <p:sp>
        <p:nvSpPr>
          <p:cNvPr id="3" name="">
            <a:extLst xmlns:a="http://schemas.openxmlformats.org/drawingml/2006/main">
              <a:ext uri="{FF2B5EF4-FFF2-40B4-BE49-F238E27FC236}">
                <a16:creationId xmlns:a16="http://schemas.microsoft.com/office/drawing/2014/main" id="{4D430D38-8925-4B1A-9C85-C0518C963EC0}"/>
              </a:ext>
            </a:extLst>
          </p:cNvPr>
          <p:cNvSpPr>
            <a:spLocks xmlns:a="http://schemas.openxmlformats.org/drawingml/2006/main" noGrp="1"/>
          </p:cNvSpPr>
          <p:nvPr/>
        </p:nvSpPr>
        <p:spPr>
          <a:xfrm xmlns:a="http://schemas.openxmlformats.org/drawingml/2006/main">
            <a:off x="495300" y="685800"/>
            <a:ext cx="666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400" b="1">
                <a:solidFill>
                  <a:srgbClr val="F7FAFC"/>
                </a:solidFill>
                <a:latin typeface="Aptos"/>
                <a:ea typeface="Aptos"/>
                <a:cs typeface="Aptos"/>
              </a:defRPr>
            </a:pPr>
            <a:r>
              <a:rPr sz="2400" b="1">
                <a:solidFill>
                  <a:srgbClr val="F7FAFC"/>
                </a:solidFill>
                <a:latin typeface="Aptos"/>
                <a:ea typeface="Aptos"/>
                <a:cs typeface="Aptos"/>
              </a:rPr>
              <a:t>Decision record and workplace transfer</a:t>
            </a:r>
          </a:p>
        </p:txBody>
      </p:sp>
      <p:sp>
        <p:nvSpPr>
          <p:cNvPr id="4" name="">
            <a:extLst xmlns:a="http://schemas.openxmlformats.org/drawingml/2006/main">
              <a:ext uri="{FF2B5EF4-FFF2-40B4-BE49-F238E27FC236}">
                <a16:creationId xmlns:a16="http://schemas.microsoft.com/office/drawing/2014/main" id="{2F86D2A3-BE9C-4B77-B57F-8F0E966BA146}"/>
              </a:ext>
            </a:extLst>
          </p:cNvPr>
          <p:cNvSpPr>
            <a:spLocks xmlns:a="http://schemas.openxmlformats.org/drawingml/2006/main" noGrp="1"/>
          </p:cNvSpPr>
          <p:nvPr/>
        </p:nvSpPr>
        <p:spPr>
          <a:xfrm xmlns:a="http://schemas.openxmlformats.org/drawingml/2006/main">
            <a:off x="495300" y="1314450"/>
            <a:ext cx="2381250" cy="28575"/>
          </a:xfrm>
          <a:prstGeom xmlns:a="http://schemas.openxmlformats.org/drawingml/2006/main" prst="rect">
            <a:avLst/>
          </a:prstGeom>
          <a:solidFill xmlns:a="http://schemas.openxmlformats.org/drawingml/2006/main">
            <a:srgbClr val="D5AF4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B7E26BF-FDD7-4093-96A1-ACC1B66C5AE7}"/>
              </a:ext>
            </a:extLst>
          </p:cNvPr>
          <p:cNvSpPr>
            <a:spLocks xmlns:a="http://schemas.openxmlformats.org/drawingml/2006/main" noGrp="1"/>
          </p:cNvSpPr>
          <p:nvPr/>
        </p:nvSpPr>
        <p:spPr>
          <a:xfrm xmlns:a="http://schemas.openxmlformats.org/drawingml/2006/main">
            <a:off x="552450" y="1695450"/>
            <a:ext cx="619125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41300" indent="-127000">
              <a:spcAft>
                <a:spcPts val="1600"/>
              </a:spcAft>
              <a:buChar char="•"/>
              <a:defRPr sz="1650">
                <a:solidFill>
                  <a:srgbClr val="F7FAFC"/>
                </a:solidFill>
                <a:latin typeface="Aptos"/>
                <a:ea typeface="Aptos"/>
                <a:cs typeface="Aptos"/>
              </a:defRPr>
            </a:pPr>
            <a:r>
              <a:rPr sz="1650">
                <a:solidFill>
                  <a:srgbClr val="F7FAFC"/>
                </a:solidFill>
                <a:latin typeface="Aptos"/>
                <a:ea typeface="Aptos"/>
                <a:cs typeface="Aptos"/>
              </a:rPr>
              <a:t>Record purpose, baseline, evidence, alternatives, conditions and residual uncertainty</a:t>
            </a:r>
          </a:p>
          <a:p xmlns:a="http://schemas.openxmlformats.org/drawingml/2006/main">
            <a:pPr marL="241300" indent="-127000">
              <a:spcAft>
                <a:spcPts val="1600"/>
              </a:spcAft>
              <a:buChar char="•"/>
              <a:defRPr sz="1650">
                <a:solidFill>
                  <a:srgbClr val="F7FAFC"/>
                </a:solidFill>
                <a:latin typeface="Aptos"/>
                <a:ea typeface="Aptos"/>
                <a:cs typeface="Aptos"/>
              </a:defRPr>
            </a:pPr>
            <a:r>
              <a:rPr sz="1650">
                <a:solidFill>
                  <a:srgbClr val="F7FAFC"/>
                </a:solidFill>
                <a:latin typeface="Aptos"/>
                <a:ea typeface="Aptos"/>
                <a:cs typeface="Aptos"/>
              </a:rPr>
              <a:t>Localise the decision to mandate, law, language, infrastructure and workforce</a:t>
            </a:r>
          </a:p>
          <a:p xmlns:a="http://schemas.openxmlformats.org/drawingml/2006/main">
            <a:pPr marL="241300" indent="-127000">
              <a:spcAft>
                <a:spcPts val="1600"/>
              </a:spcAft>
              <a:buChar char="•"/>
              <a:defRPr sz="1650">
                <a:solidFill>
                  <a:srgbClr val="F7FAFC"/>
                </a:solidFill>
                <a:latin typeface="Aptos"/>
                <a:ea typeface="Aptos"/>
                <a:cs typeface="Aptos"/>
              </a:defRPr>
            </a:pPr>
            <a:r>
              <a:rPr sz="1650">
                <a:solidFill>
                  <a:srgbClr val="F7FAFC"/>
                </a:solidFill>
                <a:latin typeface="Aptos"/>
                <a:ea typeface="Aptos"/>
                <a:cs typeface="Aptos"/>
              </a:rPr>
              <a:t>Begin with an authorised bounded task and preserve the record through staff change</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2d41f8fc5f2b458e"/>
          <a:srcRect xmlns:a="http://schemas.openxmlformats.org/drawingml/2006/main" l="2870" t="0" r="2870" b="0"/>
          <a:stretch xmlns:a="http://schemas.openxmlformats.org/drawingml/2006/main">
            <a:fillRect l="0" t="0" r="0" b="0"/>
          </a:stretch>
        </p:blipFill>
        <p:spPr>
          <a:xfrm xmlns:a="http://schemas.openxmlformats.org/drawingml/2006/main">
            <a:off x="7486650" y="1257300"/>
            <a:ext cx="4171950" cy="4800600"/>
          </a:xfrm>
          <a:prstGeom xmlns:a="http://schemas.openxmlformats.org/drawingml/2006/main" prst="roundRect">
            <a:avLst>
              <a:gd name="adj" fmla="val 5479"/>
            </a:avLst>
          </a:prstGeom>
        </p:spPr>
      </p:pic>
      <p:sp>
        <p:nvSpPr>
          <p:cNvPr id="7" name="">
            <a:extLst xmlns:a="http://schemas.openxmlformats.org/drawingml/2006/main">
              <a:ext uri="{FF2B5EF4-FFF2-40B4-BE49-F238E27FC236}">
                <a16:creationId xmlns:a16="http://schemas.microsoft.com/office/drawing/2014/main" id="{E2CF6B05-837A-46FD-8365-ECA1D84E8FF6}"/>
              </a:ext>
            </a:extLst>
          </p:cNvPr>
          <p:cNvSpPr>
            <a:spLocks xmlns:a="http://schemas.openxmlformats.org/drawingml/2006/main" noGrp="1"/>
          </p:cNvSpPr>
          <p:nvPr/>
        </p:nvSpPr>
        <p:spPr>
          <a:xfrm xmlns:a="http://schemas.openxmlformats.org/drawingml/2006/main">
            <a:off x="11353800" y="6400800"/>
            <a:ext cx="4000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buNone/>
              <a:defRPr sz="750" b="1">
                <a:solidFill>
                  <a:srgbClr val="B8CDD5"/>
                </a:solidFill>
                <a:latin typeface="Aptos"/>
                <a:ea typeface="Aptos"/>
                <a:cs typeface="Aptos"/>
              </a:defRPr>
            </a:pPr>
            <a:r>
              <a:rPr sz="750" b="1">
                <a:solidFill>
                  <a:srgbClr val="B8CDD5"/>
                </a:solidFill>
                <a:latin typeface="Aptos"/>
                <a:ea typeface="Aptos"/>
                <a:cs typeface="Aptos"/>
              </a:rPr>
              <a:t>23</a:t>
            </a:r>
          </a:p>
        </p:txBody>
      </p:sp>
      <p:sp>
        <p:nvSpPr>
          <p:cNvPr id="8" name="">
            <a:extLst xmlns:a="http://schemas.openxmlformats.org/drawingml/2006/main">
              <a:ext uri="{FF2B5EF4-FFF2-40B4-BE49-F238E27FC236}">
                <a16:creationId xmlns:a16="http://schemas.microsoft.com/office/drawing/2014/main" id="{96AB990A-0188-4A07-998E-C52F12854045}"/>
              </a:ext>
            </a:extLst>
          </p:cNvPr>
          <p:cNvSpPr>
            <a:spLocks xmlns:a="http://schemas.openxmlformats.org/drawingml/2006/main" noGrp="1"/>
          </p:cNvSpPr>
          <p:nvPr/>
        </p:nvSpPr>
        <p:spPr>
          <a:xfrm xmlns:a="http://schemas.openxmlformats.org/drawingml/2006/main">
            <a:off x="495300" y="6400800"/>
            <a:ext cx="1524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buNone/>
              <a:defRPr sz="750" b="0">
                <a:solidFill>
                  <a:srgbClr val="B8CDD5"/>
                </a:solidFill>
                <a:latin typeface="Aptos"/>
                <a:ea typeface="Aptos"/>
                <a:cs typeface="Aptos"/>
              </a:defRPr>
            </a:pPr>
            <a:r>
              <a:rPr sz="750" b="0">
                <a:solidFill>
                  <a:srgbClr val="B8CDD5"/>
                </a:solidFill>
                <a:latin typeface="Aptos"/>
                <a:ea typeface="Aptos"/>
                <a:cs typeface="Aptos"/>
              </a:rPr>
              <a:t>SRAI  |  OS-A02</a:t>
            </a:r>
          </a:p>
        </p:txBody>
      </p:sp>
    </p:spTree>
    <p:extLst>
      <p:ext uri="{BB962C8B-B14F-4D97-AF65-F5344CB8AC3E}">
        <p14:creationId xmlns:p14="http://schemas.microsoft.com/office/powerpoint/2010/main" val="57609904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2026-09-27T09:04:21.1300000Z</dcterms:created>
  <dcterms:modified xsi:type="dcterms:W3CDTF">2026-09-27T09:04:21.1300000Z</dcterms:modified>
</coreProperties>
</file>